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68"/>
  </p:notesMasterIdLst>
  <p:handoutMasterIdLst>
    <p:handoutMasterId r:id="rId69"/>
  </p:handoutMasterIdLst>
  <p:sldIdLst>
    <p:sldId id="256" r:id="rId2"/>
    <p:sldId id="342" r:id="rId3"/>
    <p:sldId id="382" r:id="rId4"/>
    <p:sldId id="379" r:id="rId5"/>
    <p:sldId id="381" r:id="rId6"/>
    <p:sldId id="293" r:id="rId7"/>
    <p:sldId id="378" r:id="rId8"/>
    <p:sldId id="385" r:id="rId9"/>
    <p:sldId id="384" r:id="rId10"/>
    <p:sldId id="389" r:id="rId11"/>
    <p:sldId id="451" r:id="rId12"/>
    <p:sldId id="353" r:id="rId13"/>
    <p:sldId id="354" r:id="rId14"/>
    <p:sldId id="390" r:id="rId15"/>
    <p:sldId id="356" r:id="rId16"/>
    <p:sldId id="377" r:id="rId17"/>
    <p:sldId id="449" r:id="rId18"/>
    <p:sldId id="450" r:id="rId19"/>
    <p:sldId id="394" r:id="rId20"/>
    <p:sldId id="395" r:id="rId21"/>
    <p:sldId id="397" r:id="rId22"/>
    <p:sldId id="428" r:id="rId23"/>
    <p:sldId id="427" r:id="rId24"/>
    <p:sldId id="471" r:id="rId25"/>
    <p:sldId id="472" r:id="rId26"/>
    <p:sldId id="473" r:id="rId27"/>
    <p:sldId id="474" r:id="rId28"/>
    <p:sldId id="475" r:id="rId29"/>
    <p:sldId id="476" r:id="rId30"/>
    <p:sldId id="477" r:id="rId31"/>
    <p:sldId id="478" r:id="rId32"/>
    <p:sldId id="479" r:id="rId33"/>
    <p:sldId id="480" r:id="rId34"/>
    <p:sldId id="485" r:id="rId35"/>
    <p:sldId id="486" r:id="rId36"/>
    <p:sldId id="487" r:id="rId37"/>
    <p:sldId id="488" r:id="rId38"/>
    <p:sldId id="404" r:id="rId39"/>
    <p:sldId id="419" r:id="rId40"/>
    <p:sldId id="430" r:id="rId41"/>
    <p:sldId id="405" r:id="rId42"/>
    <p:sldId id="420" r:id="rId43"/>
    <p:sldId id="406" r:id="rId44"/>
    <p:sldId id="448" r:id="rId45"/>
    <p:sldId id="436" r:id="rId46"/>
    <p:sldId id="388" r:id="rId47"/>
    <p:sldId id="407" r:id="rId48"/>
    <p:sldId id="421" r:id="rId49"/>
    <p:sldId id="443" r:id="rId50"/>
    <p:sldId id="408" r:id="rId51"/>
    <p:sldId id="434" r:id="rId52"/>
    <p:sldId id="435" r:id="rId53"/>
    <p:sldId id="409" r:id="rId54"/>
    <p:sldId id="410" r:id="rId55"/>
    <p:sldId id="413" r:id="rId56"/>
    <p:sldId id="437" r:id="rId57"/>
    <p:sldId id="399" r:id="rId58"/>
    <p:sldId id="442" r:id="rId59"/>
    <p:sldId id="438" r:id="rId60"/>
    <p:sldId id="444" r:id="rId61"/>
    <p:sldId id="440" r:id="rId62"/>
    <p:sldId id="446" r:id="rId63"/>
    <p:sldId id="439" r:id="rId64"/>
    <p:sldId id="447" r:id="rId65"/>
    <p:sldId id="396" r:id="rId66"/>
    <p:sldId id="266" r:id="rId67"/>
  </p:sldIdLst>
  <p:sldSz cx="9906000" cy="6858000" type="A4"/>
  <p:notesSz cx="6797675" cy="987425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0" hangingPunct="1">
      <a:defRPr kumimoji="1"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0" hangingPunct="1">
      <a:defRPr kumimoji="1"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0" hangingPunct="1">
      <a:defRPr kumimoji="1"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0" hangingPunct="1">
      <a:defRPr kumimoji="1"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8">
          <p15:clr>
            <a:srgbClr val="A4A3A4"/>
          </p15:clr>
        </p15:guide>
        <p15:guide id="2" orient="horz" pos="529">
          <p15:clr>
            <a:srgbClr val="A4A3A4"/>
          </p15:clr>
        </p15:guide>
        <p15:guide id="3" pos="202">
          <p15:clr>
            <a:srgbClr val="A4A3A4"/>
          </p15:clr>
        </p15:guide>
        <p15:guide id="4" pos="60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D00"/>
    <a:srgbClr val="FF3300"/>
    <a:srgbClr val="FFFF00"/>
    <a:srgbClr val="FF0000"/>
    <a:srgbClr val="0000FF"/>
    <a:srgbClr val="000032"/>
    <a:srgbClr val="CC33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58" autoAdjust="0"/>
    <p:restoredTop sz="95615" autoAdjust="0"/>
  </p:normalViewPr>
  <p:slideViewPr>
    <p:cSldViewPr snapToGrid="0">
      <p:cViewPr varScale="1">
        <p:scale>
          <a:sx n="116" d="100"/>
          <a:sy n="116" d="100"/>
        </p:scale>
        <p:origin x="1762" y="91"/>
      </p:cViewPr>
      <p:guideLst>
        <p:guide orient="horz" pos="568"/>
        <p:guide orient="horz" pos="529"/>
        <p:guide pos="202"/>
        <p:guide pos="6019"/>
      </p:guideLst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4014" y="114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1.emf"/><Relationship Id="rId1" Type="http://schemas.openxmlformats.org/officeDocument/2006/relationships/image" Target="../media/image6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28588"/>
            <a:ext cx="2971800" cy="27463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0671" tIns="45336" rIns="90671" bIns="45336" numCol="1" anchor="ctr" anchorCtr="0" compatLnSpc="1">
            <a:prstTxWarp prst="textNoShape">
              <a:avLst/>
            </a:prstTxWarp>
            <a:spAutoFit/>
          </a:bodyPr>
          <a:lstStyle>
            <a:lvl1pPr algn="l" defTabSz="906463" eaLnBrk="1" latinLnBrk="1" hangingPunct="1">
              <a:spcBef>
                <a:spcPct val="50000"/>
              </a:spcBef>
              <a:defRPr sz="1200" b="0">
                <a:latin typeface="Book Antiqua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6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128588"/>
            <a:ext cx="2895600" cy="27463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0671" tIns="45336" rIns="90671" bIns="45336" numCol="1" anchor="ctr" anchorCtr="0" compatLnSpc="1">
            <a:prstTxWarp prst="textNoShape">
              <a:avLst/>
            </a:prstTxWarp>
            <a:spAutoFit/>
          </a:bodyPr>
          <a:lstStyle>
            <a:lvl1pPr algn="r" defTabSz="906463" eaLnBrk="1" latinLnBrk="1" hangingPunct="1">
              <a:spcBef>
                <a:spcPct val="50000"/>
              </a:spcBef>
              <a:defRPr sz="1200" b="0">
                <a:latin typeface="Book Antiqua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6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78975"/>
            <a:ext cx="2971800" cy="2746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0671" tIns="45336" rIns="90671" bIns="45336" numCol="1" anchor="b" anchorCtr="0" compatLnSpc="1">
            <a:prstTxWarp prst="textNoShape">
              <a:avLst/>
            </a:prstTxWarp>
            <a:spAutoFit/>
          </a:bodyPr>
          <a:lstStyle>
            <a:lvl1pPr algn="l" defTabSz="906463" eaLnBrk="1" latinLnBrk="1" hangingPunct="1">
              <a:spcBef>
                <a:spcPct val="50000"/>
              </a:spcBef>
              <a:defRPr sz="1200" b="0">
                <a:latin typeface="Book Antiqua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6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578975"/>
            <a:ext cx="2895600" cy="2746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0671" tIns="45336" rIns="90671" bIns="45336" numCol="1" anchor="b" anchorCtr="0" compatLnSpc="1">
            <a:prstTxWarp prst="textNoShape">
              <a:avLst/>
            </a:prstTxWarp>
            <a:spAutoFit/>
          </a:bodyPr>
          <a:lstStyle>
            <a:lvl1pPr algn="r" defTabSz="906463" eaLnBrk="1" latinLnBrk="1" hangingPunct="1">
              <a:spcBef>
                <a:spcPct val="50000"/>
              </a:spcBef>
              <a:defRPr sz="1200" b="0" smtClean="0">
                <a:latin typeface="Book Antiqua" panose="02040602050305030304" pitchFamily="18" charset="0"/>
              </a:defRPr>
            </a:lvl1pPr>
          </a:lstStyle>
          <a:p>
            <a:pPr>
              <a:defRPr/>
            </a:pPr>
            <a:fld id="{774BD0B0-196C-4049-B71B-92C30D7D8D7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71" tIns="45336" rIns="90671" bIns="45336" numCol="1" anchor="t" anchorCtr="0" compatLnSpc="1">
            <a:prstTxWarp prst="textNoShape">
              <a:avLst/>
            </a:prstTxWarp>
          </a:bodyPr>
          <a:lstStyle>
            <a:lvl1pPr algn="l" defTabSz="906463" eaLnBrk="1" latinLnBrk="1" hangingPunct="1">
              <a:spcBef>
                <a:spcPct val="0"/>
              </a:spcBef>
              <a:defRPr sz="1200" b="0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71" tIns="45336" rIns="90671" bIns="45336" numCol="1" anchor="t" anchorCtr="0" compatLnSpc="1">
            <a:prstTxWarp prst="textNoShape">
              <a:avLst/>
            </a:prstTxWarp>
          </a:bodyPr>
          <a:lstStyle>
            <a:lvl1pPr algn="r" defTabSz="906463" eaLnBrk="1" latinLnBrk="1" hangingPunct="1">
              <a:spcBef>
                <a:spcPct val="0"/>
              </a:spcBef>
              <a:defRPr sz="1200" b="0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6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723900" y="739775"/>
            <a:ext cx="5353050" cy="37052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689475"/>
            <a:ext cx="4984750" cy="444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71" tIns="45336" rIns="90671" bIns="453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문자열 유형을 편집하려면 누르십시오</a:t>
            </a:r>
            <a:r>
              <a:rPr lang="en-US" altLang="ko-KR" noProof="0" smtClean="0"/>
              <a:t>.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세째 수준</a:t>
            </a:r>
          </a:p>
          <a:p>
            <a:pPr lvl="3"/>
            <a:r>
              <a:rPr lang="ko-KR" altLang="en-US" noProof="0" smtClean="0"/>
              <a:t>네째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71" tIns="45336" rIns="90671" bIns="45336" numCol="1" anchor="b" anchorCtr="0" compatLnSpc="1">
            <a:prstTxWarp prst="textNoShape">
              <a:avLst/>
            </a:prstTxWarp>
          </a:bodyPr>
          <a:lstStyle>
            <a:lvl1pPr algn="l" defTabSz="906463" eaLnBrk="1" latinLnBrk="1" hangingPunct="1">
              <a:spcBef>
                <a:spcPct val="0"/>
              </a:spcBef>
              <a:defRPr sz="1200" b="0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71" tIns="45336" rIns="90671" bIns="45336" numCol="1" anchor="b" anchorCtr="0" compatLnSpc="1">
            <a:prstTxWarp prst="textNoShape">
              <a:avLst/>
            </a:prstTxWarp>
          </a:bodyPr>
          <a:lstStyle>
            <a:lvl1pPr algn="r" defTabSz="906463" eaLnBrk="1" latinLnBrk="1" hangingPunct="1">
              <a:spcBef>
                <a:spcPct val="0"/>
              </a:spcBef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6CF6B75-CA76-451B-873B-63D8F72230D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B089C6F-3F34-4890-9F52-7D4C99E1A153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D8259EF-922F-4144-9251-C671D150E8FB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55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04EF466-CFE6-496B-96E6-A74930921A53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560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7E89BE9-AC39-4D44-89CD-9462669D5CAF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51F3CC-1116-4BF6-9BBC-C9397FE88E9A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9700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F31A234-360B-42DB-ACDC-120D3E5FDA19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t>액터 도출은 </a:t>
            </a:r>
          </a:p>
        </p:txBody>
      </p:sp>
      <p:sp>
        <p:nvSpPr>
          <p:cNvPr id="4710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5D29DA9-AE5D-43E7-9041-9478DEC29214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24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t>액터 도출은 </a:t>
            </a:r>
          </a:p>
        </p:txBody>
      </p:sp>
      <p:sp>
        <p:nvSpPr>
          <p:cNvPr id="4915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DB2DD1E-3F98-466C-A9F2-6F9BC3B3408C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25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t>액터 도출은 </a:t>
            </a:r>
          </a:p>
        </p:txBody>
      </p:sp>
      <p:sp>
        <p:nvSpPr>
          <p:cNvPr id="5120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D0FCF33-32D1-427C-8508-C9FC8A20DA0A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26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325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180DDBF-0957-422B-B0E1-9DB594962A0C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27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t>액터 도출은 </a:t>
            </a:r>
          </a:p>
        </p:txBody>
      </p:sp>
      <p:sp>
        <p:nvSpPr>
          <p:cNvPr id="5632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F2F0624-2797-418A-B751-BF9B281278A8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29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t>액터 도출은 </a:t>
            </a:r>
          </a:p>
        </p:txBody>
      </p:sp>
      <p:sp>
        <p:nvSpPr>
          <p:cNvPr id="5837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1836666-04C9-47ED-AB9F-9EE0AD205A3A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30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0420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7429E1E-3551-486A-91FB-D92A29A92AC7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31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246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269F821-5D2D-43B9-8D4E-3796B2DC3A09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32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t>액터 도출은 </a:t>
            </a:r>
          </a:p>
        </p:txBody>
      </p:sp>
      <p:sp>
        <p:nvSpPr>
          <p:cNvPr id="65540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F0FEC24-AB6F-4753-BFFE-02F4D0C9E858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34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t>액터 도출은 </a:t>
            </a:r>
          </a:p>
        </p:txBody>
      </p:sp>
      <p:sp>
        <p:nvSpPr>
          <p:cNvPr id="675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D0BE162-5B64-4FE8-8D6D-0EC99F072327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35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t>액터 도출은 </a:t>
            </a:r>
          </a:p>
        </p:txBody>
      </p:sp>
      <p:sp>
        <p:nvSpPr>
          <p:cNvPr id="6963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C189DA0-0F87-4469-B135-C101D226D8A5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36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01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A4A54F3-F562-4FC7-B157-4D44D1CC0DCB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55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1380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0646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06463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001BC06-4E71-4ACF-A142-18D06117F4B6}" type="slidenum">
              <a:rPr lang="en-US" altLang="ko-KR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65</a:t>
            </a:fld>
            <a:endParaRPr lang="en-US" altLang="ko-K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6611938"/>
            <a:ext cx="9906000" cy="246062"/>
          </a:xfrm>
          <a:prstGeom prst="rect">
            <a:avLst/>
          </a:prstGeom>
          <a:solidFill>
            <a:srgbClr val="FF7D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6608763"/>
            <a:ext cx="9906000" cy="15557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296863" y="2949575"/>
            <a:ext cx="9269412" cy="12700"/>
          </a:xfrm>
          <a:prstGeom prst="line">
            <a:avLst/>
          </a:prstGeom>
          <a:noFill/>
          <a:ln w="50800">
            <a:solidFill>
              <a:srgbClr val="FF7D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026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8300" y="2130433"/>
            <a:ext cx="8420100" cy="722313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250266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2444750" y="3054350"/>
            <a:ext cx="6934200" cy="350838"/>
          </a:xfrm>
          <a:prstGeom prst="rect">
            <a:avLst/>
          </a:prstGeom>
        </p:spPr>
        <p:txBody>
          <a:bodyPr lIns="92075" tIns="46038" rIns="92075" bIns="46038"/>
          <a:lstStyle>
            <a:lvl1pPr marL="0" indent="0" algn="r">
              <a:spcBef>
                <a:spcPct val="0"/>
              </a:spcBef>
              <a:buFontTx/>
              <a:buNone/>
              <a:defRPr sz="1700" i="1">
                <a:solidFill>
                  <a:schemeClr val="bg2"/>
                </a:solidFill>
                <a:latin typeface="휴먼모음T" pitchFamily="18" charset="-127"/>
                <a:ea typeface="휴먼모음T" pitchFamily="18" charset="-127"/>
              </a:defRPr>
            </a:lvl1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701227"/>
      </p:ext>
    </p:extLst>
  </p:cSld>
  <p:clrMapOvr>
    <a:masterClrMapping/>
  </p:clrMapOvr>
  <p:transition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ltGray">
          <a:xfrm>
            <a:off x="4686300" y="6546850"/>
            <a:ext cx="5429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54081" tIns="54081" rIns="54081" bIns="54081" anchor="ctr"/>
          <a:lstStyle>
            <a:lvl1pPr defTabSz="915988" eaLnBrk="0" hangingPunct="0"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15988" eaLnBrk="0" hangingPunct="0"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15988" eaLnBrk="0" hangingPunct="0"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15988" eaLnBrk="0" hangingPunct="0"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15988" eaLnBrk="0" hangingPunct="0"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15988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15988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15988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15988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kumimoji="0" lang="en-US" altLang="ko-KR" sz="1200" smtClean="0">
                <a:solidFill>
                  <a:schemeClr val="accent2"/>
                </a:solidFill>
                <a:latin typeface="Tahoma" panose="020B0604030504040204" pitchFamily="34" charset="0"/>
                <a:ea typeface="가는각진제목체" pitchFamily="18" charset="-127"/>
              </a:rPr>
              <a:t>- </a:t>
            </a:r>
            <a:fld id="{6AEF99D0-32D8-40F1-B767-2995AE87DBDB}" type="slidenum">
              <a:rPr kumimoji="0" lang="ko-KR" altLang="en-GB" sz="1200" smtClean="0">
                <a:solidFill>
                  <a:schemeClr val="accent2"/>
                </a:solidFill>
                <a:latin typeface="Tahoma" panose="020B0604030504040204" pitchFamily="34" charset="0"/>
                <a:ea typeface="가는각진제목체" pitchFamily="18" charset="-127"/>
              </a:rPr>
              <a:pPr algn="ctr">
                <a:spcBef>
                  <a:spcPct val="50000"/>
                </a:spcBef>
                <a:defRPr/>
              </a:pPr>
              <a:t>‹#›</a:t>
            </a:fld>
            <a:r>
              <a:rPr kumimoji="0" lang="ko-KR" altLang="en-GB" sz="1200" smtClean="0">
                <a:solidFill>
                  <a:schemeClr val="accent2"/>
                </a:solidFill>
                <a:latin typeface="Tahoma" panose="020B0604030504040204" pitchFamily="34" charset="0"/>
                <a:ea typeface="가는각진제목체" pitchFamily="18" charset="-127"/>
              </a:rPr>
              <a:t> </a:t>
            </a:r>
            <a:r>
              <a:rPr kumimoji="0" lang="en-US" altLang="ko-KR" sz="1200" smtClean="0">
                <a:solidFill>
                  <a:schemeClr val="accent2"/>
                </a:solidFill>
                <a:latin typeface="Tahoma" panose="020B0604030504040204" pitchFamily="34" charset="0"/>
                <a:ea typeface="가는각진제목체" pitchFamily="18" charset="-127"/>
              </a:rPr>
              <a:t>-</a:t>
            </a:r>
            <a:endParaRPr kumimoji="0" lang="en-GB" altLang="ko-KR" sz="1200" smtClean="0">
              <a:solidFill>
                <a:schemeClr val="accent2"/>
              </a:solidFill>
              <a:latin typeface="Tahoma" panose="020B0604030504040204" pitchFamily="34" charset="0"/>
              <a:ea typeface="가는각진제목체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0876" y="765175"/>
            <a:ext cx="9186531" cy="1159318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600" u="none"/>
            </a:lvl1pPr>
            <a:lvl2pPr marL="345150" indent="-342900">
              <a:buClr>
                <a:schemeClr val="accent2"/>
              </a:buClr>
              <a:buFont typeface="+mj-ea"/>
              <a:buAutoNum type="circleNumDbPlain"/>
              <a:defRPr sz="1500"/>
            </a:lvl2pPr>
            <a:lvl3pPr marL="540000" indent="-216000">
              <a:spcBef>
                <a:spcPts val="0"/>
              </a:spcBef>
              <a:buClr>
                <a:srgbClr val="CC3300"/>
              </a:buClr>
              <a:buFont typeface="Wingdings" pitchFamily="2" charset="2"/>
              <a:buChar char="§"/>
              <a:defRPr/>
            </a:lvl3pPr>
            <a:lvl4pPr marL="828000">
              <a:defRPr sz="1300"/>
            </a:lvl4pPr>
            <a:lvl5pPr marL="1080000">
              <a:defRPr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4250900639"/>
      </p:ext>
    </p:extLst>
  </p:cSld>
  <p:clrMapOvr>
    <a:masterClrMapping/>
  </p:clrMapOvr>
  <p:transition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8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778375" y="6599238"/>
            <a:ext cx="341313" cy="2460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mtClean="0"/>
            </a:lvl1pPr>
          </a:lstStyle>
          <a:p>
            <a:pPr>
              <a:defRPr/>
            </a:pPr>
            <a:fld id="{A9A266E4-BCFB-4676-93E3-97460905E7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7397855"/>
      </p:ext>
    </p:extLst>
  </p:cSld>
  <p:clrMapOvr>
    <a:masterClrMapping/>
  </p:clrMapOvr>
  <p:transition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3" y="765175"/>
            <a:ext cx="4381501" cy="13541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199" y="765175"/>
            <a:ext cx="4381501" cy="13541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778375" y="6599238"/>
            <a:ext cx="341313" cy="2460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mtClean="0"/>
            </a:lvl1pPr>
          </a:lstStyle>
          <a:p>
            <a:pPr>
              <a:defRPr/>
            </a:pPr>
            <a:fld id="{841D1D70-2DF5-4CE5-9687-7E30827889E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3991795"/>
      </p:ext>
    </p:extLst>
  </p:cSld>
  <p:clrMapOvr>
    <a:masterClrMapping/>
  </p:clrMapOvr>
  <p:transition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80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80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778375" y="6599238"/>
            <a:ext cx="341313" cy="2460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mtClean="0"/>
            </a:lvl1pPr>
          </a:lstStyle>
          <a:p>
            <a:pPr>
              <a:defRPr/>
            </a:pPr>
            <a:fld id="{0137F92A-8739-4CE7-AC55-6F2D40CE7D6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2157113"/>
      </p:ext>
    </p:extLst>
  </p:cSld>
  <p:clrMapOvr>
    <a:masterClrMapping/>
  </p:clrMapOvr>
  <p:transition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778375" y="6599238"/>
            <a:ext cx="341313" cy="2460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mtClean="0"/>
            </a:lvl1pPr>
          </a:lstStyle>
          <a:p>
            <a:pPr>
              <a:defRPr/>
            </a:pPr>
            <a:fld id="{6BC00975-2144-4E0F-B1C3-D9702F9442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1721297"/>
      </p:ext>
    </p:extLst>
  </p:cSld>
  <p:clrMapOvr>
    <a:masterClrMapping/>
  </p:clrMapOvr>
  <p:transition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778375" y="6599238"/>
            <a:ext cx="341313" cy="2460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mtClean="0"/>
            </a:lvl1pPr>
          </a:lstStyle>
          <a:p>
            <a:pPr>
              <a:defRPr/>
            </a:pPr>
            <a:fld id="{DD5BBF4E-F70D-44D8-B1A7-4FC30DE2F7C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4773139"/>
      </p:ext>
    </p:extLst>
  </p:cSld>
  <p:clrMapOvr>
    <a:masterClrMapping/>
  </p:clrMapOvr>
  <p:transition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4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499" y="273058"/>
            <a:ext cx="5537201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4" y="1435103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778375" y="6599238"/>
            <a:ext cx="341313" cy="2460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mtClean="0"/>
            </a:lvl1pPr>
          </a:lstStyle>
          <a:p>
            <a:pPr>
              <a:defRPr/>
            </a:pPr>
            <a:fld id="{861B7A0F-FA6F-4DD7-9759-AF2314B1A5B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5801801"/>
      </p:ext>
    </p:extLst>
  </p:cSld>
  <p:clrMapOvr>
    <a:masterClrMapping/>
  </p:clrMapOvr>
  <p:transition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 smtClean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778375" y="6599238"/>
            <a:ext cx="341313" cy="2460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mtClean="0"/>
            </a:lvl1pPr>
          </a:lstStyle>
          <a:p>
            <a:pPr>
              <a:defRPr/>
            </a:pPr>
            <a:fld id="{03B7C6E0-18FC-4349-9747-B38E357817D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8855815"/>
      </p:ext>
    </p:extLst>
  </p:cSld>
  <p:clrMapOvr>
    <a:masterClrMapping/>
  </p:clrMapOvr>
  <p:transition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765175"/>
            <a:ext cx="8915400" cy="15819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778375" y="6599238"/>
            <a:ext cx="341313" cy="2460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mtClean="0"/>
            </a:lvl1pPr>
          </a:lstStyle>
          <a:p>
            <a:pPr>
              <a:defRPr/>
            </a:pPr>
            <a:fld id="{0ABFA53A-CA37-4862-B800-979E765FBCE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42397377"/>
      </p:ext>
    </p:extLst>
  </p:cSld>
  <p:clrMapOvr>
    <a:masterClrMapping/>
  </p:clrMapOvr>
  <p:transition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43754" y="206375"/>
            <a:ext cx="2266950" cy="19129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1313" y="206375"/>
            <a:ext cx="6650037" cy="19129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778375" y="6599238"/>
            <a:ext cx="341313" cy="2460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mtClean="0"/>
            </a:lvl1pPr>
          </a:lstStyle>
          <a:p>
            <a:pPr>
              <a:defRPr/>
            </a:pPr>
            <a:fld id="{EE2F6725-9346-4C36-A829-A65897AE83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7877427"/>
      </p:ext>
    </p:extLst>
  </p:cSld>
  <p:clrMapOvr>
    <a:masterClrMapping/>
  </p:clrMapOvr>
  <p:transition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341313" y="206375"/>
            <a:ext cx="737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유형 편집</a:t>
            </a:r>
          </a:p>
        </p:txBody>
      </p:sp>
      <p:sp>
        <p:nvSpPr>
          <p:cNvPr id="1027" name="Line 12"/>
          <p:cNvSpPr>
            <a:spLocks noChangeShapeType="1"/>
          </p:cNvSpPr>
          <p:nvPr/>
        </p:nvSpPr>
        <p:spPr bwMode="auto">
          <a:xfrm>
            <a:off x="304800" y="682625"/>
            <a:ext cx="92202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" name="Rectangle 26"/>
          <p:cNvSpPr>
            <a:spLocks noChangeArrowheads="1"/>
          </p:cNvSpPr>
          <p:nvPr/>
        </p:nvSpPr>
        <p:spPr bwMode="auto">
          <a:xfrm>
            <a:off x="0" y="6708775"/>
            <a:ext cx="9906000" cy="147638"/>
          </a:xfrm>
          <a:prstGeom prst="rect">
            <a:avLst/>
          </a:prstGeom>
          <a:solidFill>
            <a:srgbClr val="FF7D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pic>
        <p:nvPicPr>
          <p:cNvPr id="1029" name="Picture 37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38" y="3424238"/>
            <a:ext cx="9525" cy="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38" descr="C&amp;C_E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28" t="30371" r="54887" b="39194"/>
          <a:stretch>
            <a:fillRect/>
          </a:stretch>
        </p:blipFill>
        <p:spPr bwMode="auto">
          <a:xfrm>
            <a:off x="8442325" y="0"/>
            <a:ext cx="1077913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5"/>
          <p:cNvSpPr>
            <a:spLocks noChangeArrowheads="1"/>
          </p:cNvSpPr>
          <p:nvPr userDrawn="1"/>
        </p:nvSpPr>
        <p:spPr bwMode="auto">
          <a:xfrm>
            <a:off x="0" y="6619875"/>
            <a:ext cx="9906000" cy="153988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25" r:id="rId1"/>
    <p:sldLayoutId id="2147485026" r:id="rId2"/>
    <p:sldLayoutId id="2147485027" r:id="rId3"/>
    <p:sldLayoutId id="2147485028" r:id="rId4"/>
    <p:sldLayoutId id="2147485029" r:id="rId5"/>
    <p:sldLayoutId id="2147485030" r:id="rId6"/>
    <p:sldLayoutId id="2147485031" r:id="rId7"/>
    <p:sldLayoutId id="2147485032" r:id="rId8"/>
    <p:sldLayoutId id="2147485033" r:id="rId9"/>
    <p:sldLayoutId id="2147485034" r:id="rId10"/>
    <p:sldLayoutId id="2147485035" r:id="rId11"/>
  </p:sldLayoutIdLst>
  <p:transition>
    <p:pull dir="rd"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휴먼모음T" pitchFamily="18" charset="-127"/>
          <a:ea typeface="휴먼모음T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휴먼모음T" pitchFamily="18" charset="-127"/>
          <a:ea typeface="휴먼모음T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휴먼모음T" pitchFamily="18" charset="-127"/>
          <a:ea typeface="휴먼모음T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휴먼모음T" pitchFamily="18" charset="-127"/>
          <a:ea typeface="휴먼모음T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50000"/>
        </a:spcBef>
        <a:spcAft>
          <a:spcPct val="0"/>
        </a:spcAft>
        <a:buFont typeface="돋움" panose="020B0600000101010101" pitchFamily="50" charset="-127"/>
        <a:buBlip>
          <a:blip r:embed="rId15"/>
        </a:buBlip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16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10" Type="http://schemas.openxmlformats.org/officeDocument/2006/relationships/oleObject" Target="../embeddings/oleObject2.bin"/><Relationship Id="rId4" Type="http://schemas.openxmlformats.org/officeDocument/2006/relationships/image" Target="../media/image7.wmf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jpe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5" Type="http://schemas.openxmlformats.org/officeDocument/2006/relationships/image" Target="../media/image44.emf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21.png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7" Type="http://schemas.openxmlformats.org/officeDocument/2006/relationships/image" Target="../media/image57.png"/><Relationship Id="rId2" Type="http://schemas.openxmlformats.org/officeDocument/2006/relationships/image" Target="../media/image5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emf"/><Relationship Id="rId4" Type="http://schemas.openxmlformats.org/officeDocument/2006/relationships/image" Target="../media/image53.e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6.png"/><Relationship Id="rId11" Type="http://schemas.openxmlformats.org/officeDocument/2006/relationships/image" Target="../media/image62.wmf"/><Relationship Id="rId5" Type="http://schemas.openxmlformats.org/officeDocument/2006/relationships/image" Target="../media/image65.emf"/><Relationship Id="rId10" Type="http://schemas.openxmlformats.org/officeDocument/2006/relationships/oleObject" Target="file:///G:\2024-02-01%20%5b&#50500;&#53412;&#53581;&#52376;%5d%20&#51312;&#51649;&#50669;&#47049;%20&#44288;&#47532;\Temp\temp.mdl\100%250,0x3146,2550%23ACTDGRM:\49A651BA0212\49AB6E3F038A\49AB6E3F0399" TargetMode="External"/><Relationship Id="rId4" Type="http://schemas.openxmlformats.org/officeDocument/2006/relationships/image" Target="../media/image64.emf"/><Relationship Id="rId9" Type="http://schemas.openxmlformats.org/officeDocument/2006/relationships/image" Target="../media/image61.e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image" Target="../media/image70.emf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1.png"/><Relationship Id="rId11" Type="http://schemas.openxmlformats.org/officeDocument/2006/relationships/image" Target="../media/image69.wmf"/><Relationship Id="rId5" Type="http://schemas.openxmlformats.org/officeDocument/2006/relationships/image" Target="../media/image68.emf"/><Relationship Id="rId10" Type="http://schemas.openxmlformats.org/officeDocument/2006/relationships/oleObject" Target="file:///D:\&#50629;&#47924;\&#49324;&#51060;&#53944;%20&#51648;&#50896;\01.&#50756;&#47308;&#46108;%20Project&#46308;\China%20TSP\&#51088;&#46041;&#54868;%20Script\&#50728;&#46972;&#51064;\Behind\Guide\Modeling%20Guide%20for%20Nexcore%20Behind%20Type%20(Design%20Model)%200.01.mdl\68%250,0x4626,3750%23INTDGRM:\44A9EC030227\47954A780160\47954A78021D\47954A7A0056\47954A7A0058\47954A7A00D6" TargetMode="External"/><Relationship Id="rId4" Type="http://schemas.openxmlformats.org/officeDocument/2006/relationships/oleObject" Target="../embeddings/oleObject4.bin"/><Relationship Id="rId9" Type="http://schemas.openxmlformats.org/officeDocument/2006/relationships/image" Target="../media/image7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ctrTitle"/>
          </p:nvPr>
        </p:nvSpPr>
        <p:spPr>
          <a:xfrm>
            <a:off x="368300" y="2130425"/>
            <a:ext cx="8420100" cy="722313"/>
          </a:xfrm>
        </p:spPr>
        <p:txBody>
          <a:bodyPr/>
          <a:lstStyle/>
          <a:p>
            <a:pPr eaLnBrk="1" hangingPunct="1"/>
            <a:r>
              <a:rPr lang="ko-KR" altLang="en-US" sz="2000" smtClean="0"/>
              <a:t>시스템 구축 프로젝트에서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AA(</a:t>
            </a:r>
            <a:r>
              <a:rPr lang="ko-KR" altLang="en-US" smtClean="0"/>
              <a:t>응용시스템 아키텍트</a:t>
            </a:r>
            <a:r>
              <a:rPr lang="en-US" altLang="ko-KR" smtClean="0"/>
              <a:t>) </a:t>
            </a:r>
            <a:r>
              <a:rPr lang="ko-KR" altLang="en-US" smtClean="0"/>
              <a:t>업무 수행 방안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Contents</a:t>
            </a:r>
            <a:endParaRPr lang="ko-KR" altLang="en-US" smtClean="0"/>
          </a:p>
        </p:txBody>
      </p:sp>
      <p:sp>
        <p:nvSpPr>
          <p:cNvPr id="14339" name="내용 개체 틀 2"/>
          <p:cNvSpPr>
            <a:spLocks noGrp="1"/>
          </p:cNvSpPr>
          <p:nvPr>
            <p:ph idx="1"/>
          </p:nvPr>
        </p:nvSpPr>
        <p:spPr bwMode="auto">
          <a:xfrm>
            <a:off x="1376363" y="1089025"/>
            <a:ext cx="7424737" cy="534035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71500" indent="-571500">
              <a:spcBef>
                <a:spcPct val="0"/>
              </a:spcBef>
              <a:buFont typeface="Arial" charset="0"/>
              <a:buAutoNum type="romanUcPeriod"/>
              <a:defRPr/>
            </a:pPr>
            <a:r>
              <a:rPr lang="ko-KR" altLang="en-US" dirty="0" smtClean="0"/>
              <a:t>개요</a:t>
            </a:r>
            <a:endParaRPr lang="en-US" altLang="ko-KR" dirty="0" smtClean="0"/>
          </a:p>
          <a:p>
            <a:pPr marL="916650" lvl="1" indent="-571500">
              <a:spcBef>
                <a:spcPct val="0"/>
              </a:spcBef>
              <a:buFont typeface="+mj-lt"/>
              <a:buAutoNum type="arabicPeriod"/>
              <a:defRPr/>
            </a:pPr>
            <a:r>
              <a:rPr lang="ko-KR" altLang="en-US" sz="1400" dirty="0" smtClean="0"/>
              <a:t>추진배경 </a:t>
            </a:r>
            <a:endParaRPr lang="en-US" altLang="ko-KR" sz="1400" dirty="0" smtClean="0"/>
          </a:p>
          <a:p>
            <a:pPr marL="916650" lvl="1" indent="-571500"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ko-KR" dirty="0" smtClean="0"/>
              <a:t>AA </a:t>
            </a:r>
            <a:r>
              <a:rPr lang="ko-KR" altLang="en-US" dirty="0" smtClean="0"/>
              <a:t>수행 업무</a:t>
            </a:r>
            <a:endParaRPr lang="en-US" altLang="ko-KR" dirty="0" smtClean="0"/>
          </a:p>
          <a:p>
            <a:pPr marL="916650" lvl="1" indent="-571500">
              <a:spcBef>
                <a:spcPct val="0"/>
              </a:spcBef>
              <a:buFont typeface="+mj-lt"/>
              <a:buAutoNum type="arabicPeriod"/>
              <a:defRPr/>
            </a:pPr>
            <a:r>
              <a:rPr lang="ko-KR" altLang="en-US" dirty="0" smtClean="0"/>
              <a:t>전체 산출물 연관도</a:t>
            </a:r>
            <a:endParaRPr lang="en-US" altLang="ko-KR" dirty="0" smtClean="0"/>
          </a:p>
          <a:p>
            <a:pPr marL="916650" lvl="1" indent="-571500"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ko-KR" dirty="0" smtClean="0"/>
              <a:t>AA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Stakeholder</a:t>
            </a:r>
            <a:r>
              <a:rPr lang="ko-KR" altLang="en-US" dirty="0" smtClean="0"/>
              <a:t>와의 관계</a:t>
            </a:r>
            <a:endParaRPr lang="en-US" altLang="ko-KR" dirty="0" smtClean="0"/>
          </a:p>
          <a:p>
            <a:pPr marL="916650" lvl="1" indent="-571500">
              <a:spcBef>
                <a:spcPct val="0"/>
              </a:spcBef>
              <a:buFont typeface="+mj-lt"/>
              <a:buAutoNum type="arabicPeriod"/>
              <a:defRPr/>
            </a:pPr>
            <a:endParaRPr lang="en-US" altLang="ko-KR" dirty="0" smtClean="0"/>
          </a:p>
          <a:p>
            <a:pPr marL="571500" indent="-571500">
              <a:spcBef>
                <a:spcPct val="0"/>
              </a:spcBef>
              <a:buFont typeface="Arial" charset="0"/>
              <a:buAutoNum type="romanUcPeriod"/>
              <a:defRPr/>
            </a:pPr>
            <a:r>
              <a:rPr lang="ko-KR" altLang="en-US" dirty="0" smtClean="0"/>
              <a:t>수행 방안</a:t>
            </a:r>
            <a:endParaRPr lang="en-US" altLang="ko-KR" dirty="0" smtClean="0"/>
          </a:p>
          <a:p>
            <a:pPr marL="916650" lvl="1" indent="-571500">
              <a:spcBef>
                <a:spcPct val="0"/>
              </a:spcBef>
              <a:buFont typeface="+mj-lt"/>
              <a:buAutoNum type="arabicPeriod"/>
              <a:defRPr/>
            </a:pPr>
            <a:r>
              <a:rPr lang="ko-KR" altLang="en-US" sz="1400" dirty="0" smtClean="0"/>
              <a:t>응용시스템 기능체계 수립</a:t>
            </a:r>
            <a:endParaRPr lang="en-US" altLang="ko-KR" sz="1400" dirty="0" smtClean="0"/>
          </a:p>
          <a:p>
            <a:pPr marL="916650" lvl="1" indent="-571500">
              <a:spcBef>
                <a:spcPct val="0"/>
              </a:spcBef>
              <a:buFont typeface="+mj-lt"/>
              <a:buAutoNum type="arabicPeriod"/>
              <a:defRPr/>
            </a:pPr>
            <a:r>
              <a:rPr lang="ko-KR" altLang="en-US" sz="1400" dirty="0" smtClean="0"/>
              <a:t>개발시스템 요구사항 이해</a:t>
            </a:r>
            <a:endParaRPr lang="en-US" altLang="ko-KR" sz="1400" dirty="0" smtClean="0"/>
          </a:p>
          <a:p>
            <a:pPr marL="916650" lvl="1" indent="-571500">
              <a:spcBef>
                <a:spcPct val="0"/>
              </a:spcBef>
              <a:buFont typeface="+mj-lt"/>
              <a:buAutoNum type="arabicPeriod"/>
              <a:defRPr/>
            </a:pPr>
            <a:r>
              <a:rPr lang="ko-KR" altLang="en-US" sz="1400" dirty="0" smtClean="0"/>
              <a:t>응용시스템 대내외 연계 정의</a:t>
            </a:r>
            <a:endParaRPr lang="en-US" altLang="ko-KR" sz="1400" dirty="0" smtClean="0"/>
          </a:p>
          <a:p>
            <a:pPr marL="916650" lvl="1" indent="-571500">
              <a:spcBef>
                <a:spcPct val="0"/>
              </a:spcBef>
              <a:buFont typeface="+mj-lt"/>
              <a:buAutoNum type="arabicPeriod"/>
              <a:defRPr/>
            </a:pPr>
            <a:r>
              <a:rPr lang="ko-KR" altLang="en-US" sz="1400" dirty="0" smtClean="0"/>
              <a:t>요구사항 분석 모델 </a:t>
            </a:r>
            <a:r>
              <a:rPr lang="ko-KR" altLang="en-US" sz="1400" dirty="0" err="1" smtClean="0"/>
              <a:t>리딩</a:t>
            </a:r>
            <a:endParaRPr lang="en-US" altLang="ko-KR" sz="1400" dirty="0" smtClean="0"/>
          </a:p>
          <a:p>
            <a:pPr marL="916650" lvl="1" indent="-571500">
              <a:spcBef>
                <a:spcPct val="0"/>
              </a:spcBef>
              <a:buFont typeface="+mj-lt"/>
              <a:buAutoNum type="arabicPeriod"/>
              <a:defRPr/>
            </a:pPr>
            <a:r>
              <a:rPr lang="ko-KR" altLang="en-US" sz="1400" dirty="0" smtClean="0"/>
              <a:t>비즈니스 컴포넌트 정의</a:t>
            </a:r>
            <a:endParaRPr lang="en-US" altLang="ko-KR" sz="1400" dirty="0" smtClean="0"/>
          </a:p>
          <a:p>
            <a:pPr marL="916650" lvl="1" indent="-571500">
              <a:spcBef>
                <a:spcPct val="0"/>
              </a:spcBef>
              <a:buFont typeface="+mj-lt"/>
              <a:buAutoNum type="arabicPeriod"/>
              <a:defRPr/>
            </a:pPr>
            <a:r>
              <a:rPr lang="ko-KR" altLang="en-US" sz="1400" dirty="0" smtClean="0"/>
              <a:t>설계 모델 </a:t>
            </a:r>
            <a:r>
              <a:rPr lang="ko-KR" altLang="en-US" sz="1400" dirty="0" err="1" smtClean="0"/>
              <a:t>리딩</a:t>
            </a:r>
            <a:endParaRPr lang="en-US" altLang="ko-KR" sz="1400" dirty="0" smtClean="0"/>
          </a:p>
          <a:p>
            <a:pPr marL="916650" lvl="1" indent="-571500">
              <a:spcBef>
                <a:spcPct val="0"/>
              </a:spcBef>
              <a:buFont typeface="+mj-lt"/>
              <a:buAutoNum type="arabicPeriod"/>
              <a:defRPr/>
            </a:pPr>
            <a:r>
              <a:rPr lang="ko-KR" altLang="en-US" sz="1400" dirty="0" err="1" smtClean="0"/>
              <a:t>프로토타입</a:t>
            </a:r>
            <a:r>
              <a:rPr lang="ko-KR" altLang="en-US" sz="1400" dirty="0" smtClean="0"/>
              <a:t> 진행</a:t>
            </a:r>
            <a:endParaRPr lang="en-US" altLang="ko-KR" sz="1400" dirty="0" smtClean="0"/>
          </a:p>
          <a:p>
            <a:pPr marL="915988" lvl="1" indent="-571500">
              <a:spcBef>
                <a:spcPct val="0"/>
              </a:spcBef>
              <a:buFont typeface="휴먼모음T" pitchFamily="18" charset="-127"/>
              <a:buAutoNum type="arabicPeriod"/>
              <a:defRPr/>
            </a:pPr>
            <a:endParaRPr lang="ko-KR" altLang="en-US" sz="1400" kern="100" dirty="0" smtClean="0">
              <a:latin typeface="맑은 고딕"/>
              <a:ea typeface="맑은 고딕"/>
              <a:cs typeface="Times New Roman"/>
            </a:endParaRPr>
          </a:p>
          <a:p>
            <a:pPr marL="571500" indent="-571500">
              <a:spcBef>
                <a:spcPct val="0"/>
              </a:spcBef>
              <a:buFont typeface="Arial" charset="0"/>
              <a:buAutoNum type="romanUcPeriod"/>
              <a:defRPr/>
            </a:pPr>
            <a:r>
              <a:rPr lang="ko-KR" altLang="en-US" dirty="0" smtClean="0"/>
              <a:t>소프트웨어 아키텍처로의 적용</a:t>
            </a:r>
            <a:endParaRPr lang="en-US" altLang="ko-KR" sz="1400" dirty="0" smtClean="0"/>
          </a:p>
          <a:p>
            <a:pPr marL="915988" lvl="1" indent="-571500">
              <a:spcBef>
                <a:spcPct val="0"/>
              </a:spcBef>
              <a:buFont typeface="휴먼모음T" pitchFamily="18" charset="-127"/>
              <a:buAutoNum type="arabicPeriod"/>
              <a:defRPr/>
            </a:pPr>
            <a:r>
              <a:rPr lang="ko-KR" altLang="en-US" sz="1400" dirty="0" smtClean="0"/>
              <a:t>개요 </a:t>
            </a:r>
            <a:endParaRPr lang="en-US" altLang="ko-KR" sz="1400" dirty="0" smtClean="0"/>
          </a:p>
          <a:p>
            <a:pPr marL="915988" lvl="1" indent="-571500">
              <a:spcBef>
                <a:spcPct val="0"/>
              </a:spcBef>
              <a:buFont typeface="휴먼모음T" pitchFamily="18" charset="-127"/>
              <a:buAutoNum type="arabicPeriod"/>
              <a:defRPr/>
            </a:pPr>
            <a:r>
              <a:rPr lang="ko-KR" altLang="en-US" sz="1400" dirty="0" smtClean="0"/>
              <a:t>수행 업무</a:t>
            </a:r>
            <a:endParaRPr lang="en-US" altLang="ko-KR" sz="1400" dirty="0" smtClean="0"/>
          </a:p>
          <a:p>
            <a:pPr marL="915988" lvl="1" indent="-571500">
              <a:spcBef>
                <a:spcPct val="0"/>
              </a:spcBef>
              <a:buFont typeface="휴먼모음T" pitchFamily="18" charset="-127"/>
              <a:buAutoNum type="arabicPeriod"/>
              <a:defRPr/>
            </a:pPr>
            <a:endParaRPr lang="en-US" altLang="ko-KR" sz="1100" dirty="0" smtClean="0"/>
          </a:p>
          <a:p>
            <a:pPr marL="571500" indent="-571500">
              <a:spcBef>
                <a:spcPct val="0"/>
              </a:spcBef>
              <a:buFont typeface="Arial" charset="0"/>
              <a:buAutoNum type="romanUcPeriod"/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기타</a:t>
            </a:r>
            <a:endParaRPr lang="en-US" altLang="ko-KR" sz="1400" dirty="0" smtClean="0">
              <a:solidFill>
                <a:srgbClr val="000000"/>
              </a:solidFill>
            </a:endParaRPr>
          </a:p>
          <a:p>
            <a:pPr marL="915988" lvl="1" indent="-571500">
              <a:spcBef>
                <a:spcPct val="0"/>
              </a:spcBef>
              <a:buFont typeface="+mj-ea"/>
              <a:buNone/>
              <a:defRPr/>
            </a:pPr>
            <a:r>
              <a:rPr lang="en-US" altLang="ko-KR" sz="1400" dirty="0" smtClean="0"/>
              <a:t>AA</a:t>
            </a:r>
            <a:r>
              <a:rPr lang="ko-KR" altLang="en-US" sz="1400" dirty="0" smtClean="0"/>
              <a:t>의 자세</a:t>
            </a:r>
            <a:endParaRPr lang="en-US" altLang="ko-KR" sz="1400" dirty="0" smtClean="0"/>
          </a:p>
          <a:p>
            <a:pPr marL="915988" lvl="1" indent="-571500">
              <a:spcBef>
                <a:spcPct val="0"/>
              </a:spcBef>
              <a:buFont typeface="휴먼모음T" pitchFamily="18" charset="-127"/>
              <a:buAutoNum type="arabicPeriod"/>
              <a:defRPr/>
            </a:pPr>
            <a:endParaRPr lang="en-US" altLang="ko-KR" sz="1600" dirty="0" smtClean="0"/>
          </a:p>
        </p:txBody>
      </p:sp>
      <p:sp>
        <p:nvSpPr>
          <p:cNvPr id="5" name="직사각형 4"/>
          <p:cNvSpPr/>
          <p:nvPr/>
        </p:nvSpPr>
        <p:spPr>
          <a:xfrm>
            <a:off x="4602163" y="2827338"/>
            <a:ext cx="4953000" cy="16017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6650" lvl="1" indent="-571500" latinLnBrk="1">
              <a:buClr>
                <a:srgbClr val="3333CC"/>
              </a:buClr>
              <a:buFont typeface="+mj-lt"/>
              <a:buAutoNum type="arabicPeriod" startAt="8"/>
              <a:defRPr/>
            </a:pPr>
            <a:r>
              <a:rPr lang="ko-KR" altLang="en-US" sz="14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구현 이슈 </a:t>
            </a:r>
            <a:r>
              <a:rPr lang="en-US" altLang="ko-KR" sz="14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F/U</a:t>
            </a:r>
          </a:p>
          <a:p>
            <a:pPr marL="916650" lvl="1" indent="-571500" latinLnBrk="1">
              <a:buClr>
                <a:srgbClr val="3333CC"/>
              </a:buClr>
              <a:buFont typeface="+mj-lt"/>
              <a:buAutoNum type="arabicPeriod" startAt="8"/>
              <a:defRPr/>
            </a:pPr>
            <a:r>
              <a:rPr lang="ko-KR" altLang="en-US" sz="14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인스펙션</a:t>
            </a:r>
            <a:endParaRPr lang="en-US" altLang="ko-KR" sz="14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916650" lvl="1" indent="-571500" latinLnBrk="1">
              <a:buClr>
                <a:srgbClr val="3333CC"/>
              </a:buClr>
              <a:buFont typeface="+mj-lt"/>
              <a:buAutoNum type="arabicPeriod" startAt="8"/>
              <a:defRPr/>
            </a:pPr>
            <a:r>
              <a:rPr lang="ko-KR" altLang="en-US" sz="14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컴포넌트 취합 및 </a:t>
            </a:r>
            <a:r>
              <a:rPr lang="ko-KR" altLang="en-US" sz="14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패키징</a:t>
            </a:r>
            <a:endParaRPr lang="en-US" altLang="ko-KR" sz="14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916650" lvl="1" indent="-571500" latinLnBrk="1">
              <a:buClr>
                <a:srgbClr val="3333CC"/>
              </a:buClr>
              <a:buFont typeface="+mj-lt"/>
              <a:buAutoNum type="arabicPeriod" startAt="8"/>
              <a:defRPr/>
            </a:pPr>
            <a:r>
              <a:rPr lang="ko-KR" altLang="en-US" sz="14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통합 테스트</a:t>
            </a:r>
            <a:endParaRPr lang="en-US" altLang="ko-KR" sz="14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916650" lvl="1" indent="-571500" latinLnBrk="1">
              <a:buClr>
                <a:srgbClr val="3333CC"/>
              </a:buClr>
              <a:buFont typeface="+mj-lt"/>
              <a:buAutoNum type="arabicPeriod" startAt="8"/>
              <a:defRPr/>
            </a:pPr>
            <a:r>
              <a:rPr lang="ko-KR" altLang="en-US" sz="14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매뉴얼 작성</a:t>
            </a:r>
            <a:endParaRPr lang="en-US" altLang="ko-KR" sz="14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916650" lvl="1" indent="-571500" latinLnBrk="1">
              <a:buClr>
                <a:srgbClr val="3333CC"/>
              </a:buClr>
              <a:buFont typeface="+mj-lt"/>
              <a:buAutoNum type="arabicPeriod" startAt="8"/>
              <a:defRPr/>
            </a:pPr>
            <a:r>
              <a:rPr lang="ko-KR" altLang="en-US" sz="14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응용시스템 이행</a:t>
            </a:r>
            <a:endParaRPr lang="en-US" altLang="ko-KR" sz="14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916650" lvl="1" indent="-571500" latinLnBrk="1">
              <a:buClr>
                <a:srgbClr val="3333CC"/>
              </a:buClr>
              <a:buFont typeface="+mj-lt"/>
              <a:buAutoNum type="arabicPeriod" startAt="8"/>
              <a:defRPr/>
            </a:pPr>
            <a:r>
              <a:rPr lang="en-US" altLang="ko-KR" sz="14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EAMS </a:t>
            </a:r>
            <a:r>
              <a:rPr lang="ko-KR" altLang="en-US" sz="14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반영 지원</a:t>
            </a:r>
            <a:endParaRPr lang="en-US" altLang="ko-KR" sz="14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29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I. </a:t>
            </a:r>
            <a:r>
              <a:rPr lang="ko-KR" altLang="en-US" sz="1800" smtClean="0"/>
              <a:t>개요</a:t>
            </a:r>
            <a:br>
              <a:rPr lang="ko-KR" altLang="en-US" sz="1800" smtClean="0"/>
            </a:br>
            <a:r>
              <a:rPr lang="en-US" altLang="ko-KR" sz="1800" smtClean="0"/>
              <a:t>1. </a:t>
            </a:r>
            <a:r>
              <a:rPr lang="ko-KR" altLang="en-US" sz="1800" smtClean="0"/>
              <a:t>추진 배경 </a:t>
            </a:r>
            <a:r>
              <a:rPr lang="en-US" altLang="ko-KR" sz="1800" smtClean="0"/>
              <a:t>&gt; </a:t>
            </a:r>
            <a:r>
              <a:rPr lang="ko-KR" altLang="en-US" sz="1800" smtClean="0"/>
              <a:t>현황 및 개선방향</a:t>
            </a:r>
          </a:p>
        </p:txBody>
      </p:sp>
      <p:sp>
        <p:nvSpPr>
          <p:cNvPr id="18435" name="AutoShape 47"/>
          <p:cNvSpPr>
            <a:spLocks noChangeArrowheads="1"/>
          </p:cNvSpPr>
          <p:nvPr/>
        </p:nvSpPr>
        <p:spPr bwMode="auto">
          <a:xfrm>
            <a:off x="4794250" y="3863975"/>
            <a:ext cx="296863" cy="1323975"/>
          </a:xfrm>
          <a:prstGeom prst="rightArrow">
            <a:avLst>
              <a:gd name="adj1" fmla="val 67389"/>
              <a:gd name="adj2" fmla="val 70588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ea typeface="산돌고딕 M" pitchFamily="50" charset="-127"/>
            </a:endParaRPr>
          </a:p>
        </p:txBody>
      </p:sp>
      <p:pic>
        <p:nvPicPr>
          <p:cNvPr id="18436" name="Picture 37" descr="BD07165_"/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4079875"/>
            <a:ext cx="625475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38" descr="PE02032_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088" y="3336925"/>
            <a:ext cx="625475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438" name="AutoShape 40"/>
          <p:cNvCxnSpPr>
            <a:cxnSpLocks noChangeShapeType="1"/>
          </p:cNvCxnSpPr>
          <p:nvPr/>
        </p:nvCxnSpPr>
        <p:spPr bwMode="auto">
          <a:xfrm flipV="1">
            <a:off x="-261938" y="5929313"/>
            <a:ext cx="0" cy="819150"/>
          </a:xfrm>
          <a:prstGeom prst="straightConnector1">
            <a:avLst/>
          </a:prstGeom>
          <a:noFill/>
          <a:ln w="38100">
            <a:solidFill>
              <a:srgbClr val="66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39" name="AutoShape 41"/>
          <p:cNvCxnSpPr>
            <a:cxnSpLocks noChangeShapeType="1"/>
          </p:cNvCxnSpPr>
          <p:nvPr/>
        </p:nvCxnSpPr>
        <p:spPr bwMode="auto">
          <a:xfrm>
            <a:off x="2049463" y="4837113"/>
            <a:ext cx="642937" cy="357187"/>
          </a:xfrm>
          <a:prstGeom prst="straightConnector1">
            <a:avLst/>
          </a:prstGeom>
          <a:noFill/>
          <a:ln w="38100">
            <a:solidFill>
              <a:srgbClr val="66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0" name="AutoShape 60"/>
          <p:cNvCxnSpPr>
            <a:cxnSpLocks noChangeShapeType="1"/>
          </p:cNvCxnSpPr>
          <p:nvPr/>
        </p:nvCxnSpPr>
        <p:spPr bwMode="auto">
          <a:xfrm flipV="1">
            <a:off x="2049463" y="3836988"/>
            <a:ext cx="714375" cy="428625"/>
          </a:xfrm>
          <a:prstGeom prst="straightConnector1">
            <a:avLst/>
          </a:prstGeom>
          <a:noFill/>
          <a:ln w="38100">
            <a:solidFill>
              <a:srgbClr val="66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1" name="AutoShape 61"/>
          <p:cNvCxnSpPr>
            <a:cxnSpLocks noChangeShapeType="1"/>
          </p:cNvCxnSpPr>
          <p:nvPr/>
        </p:nvCxnSpPr>
        <p:spPr bwMode="auto">
          <a:xfrm rot="10800000">
            <a:off x="1763713" y="4908550"/>
            <a:ext cx="785812" cy="428625"/>
          </a:xfrm>
          <a:prstGeom prst="straightConnector1">
            <a:avLst/>
          </a:prstGeom>
          <a:noFill/>
          <a:ln w="38100">
            <a:solidFill>
              <a:srgbClr val="66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2" name="AutoShape 62"/>
          <p:cNvCxnSpPr>
            <a:cxnSpLocks noChangeShapeType="1"/>
          </p:cNvCxnSpPr>
          <p:nvPr/>
        </p:nvCxnSpPr>
        <p:spPr bwMode="auto">
          <a:xfrm rot="5400000">
            <a:off x="2891632" y="4663281"/>
            <a:ext cx="571500" cy="61913"/>
          </a:xfrm>
          <a:prstGeom prst="straightConnector1">
            <a:avLst/>
          </a:prstGeom>
          <a:noFill/>
          <a:ln w="38100">
            <a:solidFill>
              <a:srgbClr val="66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43" name="AutoShape 74"/>
          <p:cNvSpPr>
            <a:spLocks noChangeArrowheads="1"/>
          </p:cNvSpPr>
          <p:nvPr/>
        </p:nvSpPr>
        <p:spPr bwMode="gray">
          <a:xfrm>
            <a:off x="3192463" y="4194175"/>
            <a:ext cx="974725" cy="679450"/>
          </a:xfrm>
          <a:prstGeom prst="irregularSeal2">
            <a:avLst/>
          </a:prstGeom>
          <a:solidFill>
            <a:srgbClr val="FFCC66">
              <a:alpha val="79999"/>
            </a:srgbClr>
          </a:solidFill>
          <a:ln w="9525" algn="ctr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ko-KR" altLang="en-US" b="0">
                <a:ea typeface="산돌고딕 M" pitchFamily="50" charset="-127"/>
              </a:rPr>
              <a:t>커뮤니케이션</a:t>
            </a:r>
            <a:endParaRPr lang="en-US" altLang="ko-KR" b="0">
              <a:ea typeface="산돌고딕 M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b="0">
                <a:ea typeface="산돌고딕 M" pitchFamily="50" charset="-127"/>
              </a:rPr>
              <a:t>미흡</a:t>
            </a:r>
          </a:p>
        </p:txBody>
      </p:sp>
      <p:sp>
        <p:nvSpPr>
          <p:cNvPr id="18444" name="AutoShape 44"/>
          <p:cNvSpPr>
            <a:spLocks noChangeArrowheads="1"/>
          </p:cNvSpPr>
          <p:nvPr/>
        </p:nvSpPr>
        <p:spPr bwMode="auto">
          <a:xfrm>
            <a:off x="2901950" y="5435600"/>
            <a:ext cx="669925" cy="3302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333399"/>
              </a:gs>
              <a:gs pos="50000">
                <a:srgbClr val="6666FF"/>
              </a:gs>
              <a:gs pos="100000">
                <a:srgbClr val="333399"/>
              </a:gs>
            </a:gsLst>
            <a:lin ang="0" scaled="1"/>
          </a:gradFill>
          <a:ln w="9525">
            <a:solidFill>
              <a:srgbClr val="CCCCFF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en-US" altLang="ko-KR" b="0">
              <a:solidFill>
                <a:schemeClr val="bg1"/>
              </a:solidFill>
              <a:ea typeface="산돌고딕 M" pitchFamily="50" charset="-127"/>
            </a:endParaRPr>
          </a:p>
        </p:txBody>
      </p:sp>
      <p:grpSp>
        <p:nvGrpSpPr>
          <p:cNvPr id="18445" name="Group 45"/>
          <p:cNvGrpSpPr>
            <a:grpSpLocks/>
          </p:cNvGrpSpPr>
          <p:nvPr/>
        </p:nvGrpSpPr>
        <p:grpSpPr bwMode="auto">
          <a:xfrm>
            <a:off x="2901950" y="5051425"/>
            <a:ext cx="673100" cy="447675"/>
            <a:chOff x="1503" y="1861"/>
            <a:chExt cx="785" cy="473"/>
          </a:xfrm>
        </p:grpSpPr>
        <p:graphicFrame>
          <p:nvGraphicFramePr>
            <p:cNvPr id="18533" name="Object 275"/>
            <p:cNvGraphicFramePr>
              <a:graphicFrameLocks/>
            </p:cNvGraphicFramePr>
            <p:nvPr/>
          </p:nvGraphicFramePr>
          <p:xfrm>
            <a:off x="1584" y="2021"/>
            <a:ext cx="617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41" name="클립" r:id="rId5" imgW="2523744" imgH="1297534" progId="MS_ClipArt_Gallery.2">
                    <p:embed/>
                  </p:oleObj>
                </mc:Choice>
                <mc:Fallback>
                  <p:oleObj name="클립" r:id="rId5" imgW="2523744" imgH="1297534" progId="MS_ClipArt_Gallery.2">
                    <p:embed/>
                    <p:pic>
                      <p:nvPicPr>
                        <p:cNvPr id="0" name="Object 27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021"/>
                          <a:ext cx="617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34" name="Text Box 47"/>
            <p:cNvSpPr txBox="1">
              <a:spLocks noChangeArrowheads="1"/>
            </p:cNvSpPr>
            <p:nvPr/>
          </p:nvSpPr>
          <p:spPr bwMode="auto">
            <a:xfrm>
              <a:off x="1503" y="1861"/>
              <a:ext cx="785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b="0">
                  <a:ea typeface="산돌고딕 M" pitchFamily="50" charset="-127"/>
                </a:rPr>
                <a:t>응용시스템</a:t>
              </a:r>
              <a:endParaRPr lang="en-US" altLang="ko-KR" b="0">
                <a:ea typeface="산돌고딕 M" pitchFamily="50" charset="-127"/>
              </a:endParaRPr>
            </a:p>
          </p:txBody>
        </p:sp>
      </p:grpSp>
      <p:sp>
        <p:nvSpPr>
          <p:cNvPr id="18446" name="AutoShape 63"/>
          <p:cNvSpPr>
            <a:spLocks noChangeArrowheads="1"/>
          </p:cNvSpPr>
          <p:nvPr/>
        </p:nvSpPr>
        <p:spPr bwMode="gray">
          <a:xfrm>
            <a:off x="2049463" y="5265738"/>
            <a:ext cx="974725" cy="679450"/>
          </a:xfrm>
          <a:prstGeom prst="irregularSeal2">
            <a:avLst/>
          </a:prstGeom>
          <a:solidFill>
            <a:srgbClr val="FFCC66">
              <a:alpha val="79999"/>
            </a:srgbClr>
          </a:solidFill>
          <a:ln w="9525" algn="ctr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ko-KR" altLang="en-US" b="0">
                <a:ea typeface="산돌고딕 M" pitchFamily="50" charset="-127"/>
              </a:rPr>
              <a:t>구축후</a:t>
            </a:r>
            <a:endParaRPr lang="en-US" altLang="ko-KR" b="0">
              <a:ea typeface="산돌고딕 M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b="0">
                <a:ea typeface="산돌고딕 M" pitchFamily="50" charset="-127"/>
              </a:rPr>
              <a:t>AS-IS</a:t>
            </a:r>
            <a:r>
              <a:rPr lang="ko-KR" altLang="en-US" b="0">
                <a:ea typeface="산돌고딕 M" pitchFamily="50" charset="-127"/>
              </a:rPr>
              <a:t>로의</a:t>
            </a:r>
            <a:endParaRPr lang="en-US" altLang="ko-KR" b="0">
              <a:ea typeface="산돌고딕 M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b="0">
                <a:ea typeface="산돌고딕 M" pitchFamily="50" charset="-127"/>
              </a:rPr>
              <a:t>반영미흡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976313" y="3789363"/>
            <a:ext cx="1143000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1050" b="0" dirty="0">
                <a:latin typeface="Arial" charset="0"/>
                <a:ea typeface="산돌고딕 M" pitchFamily="18" charset="-127"/>
              </a:rPr>
              <a:t>전사 아키텍처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320675" y="3865563"/>
            <a:ext cx="928688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050" b="0" dirty="0">
                <a:latin typeface="Arial" charset="0"/>
                <a:ea typeface="산돌고딕 M" pitchFamily="18" charset="-127"/>
              </a:rPr>
              <a:t>EA </a:t>
            </a:r>
            <a:r>
              <a:rPr lang="ko-KR" altLang="en-US" sz="1050" b="0" dirty="0">
                <a:latin typeface="Arial" charset="0"/>
                <a:ea typeface="산돌고딕 M" pitchFamily="18" charset="-127"/>
              </a:rPr>
              <a:t>담당자</a:t>
            </a:r>
          </a:p>
        </p:txBody>
      </p:sp>
      <p:pic>
        <p:nvPicPr>
          <p:cNvPr id="18449" name="Picture 95" descr="BD05504_"/>
          <p:cNvPicPr preferRelativeResize="0"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275" y="5122863"/>
            <a:ext cx="7080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50" name="Text Box 96"/>
          <p:cNvSpPr txBox="1">
            <a:spLocks noChangeArrowheads="1"/>
          </p:cNvSpPr>
          <p:nvPr/>
        </p:nvSpPr>
        <p:spPr bwMode="auto">
          <a:xfrm>
            <a:off x="3606800" y="3908425"/>
            <a:ext cx="10858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ko-KR" sz="1100" b="0">
                <a:ea typeface="산돌고딕 M" pitchFamily="50" charset="-127"/>
              </a:rPr>
              <a:t>IT </a:t>
            </a:r>
            <a:r>
              <a:rPr lang="ko-KR" altLang="en-US" sz="1100" b="0">
                <a:ea typeface="산돌고딕 M" pitchFamily="50" charset="-127"/>
              </a:rPr>
              <a:t>공학센터</a:t>
            </a:r>
            <a:endParaRPr lang="en-US" altLang="ko-KR" sz="1100" b="0">
              <a:ea typeface="산돌고딕 M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sz="1100" b="0">
                <a:ea typeface="산돌고딕 M" pitchFamily="50" charset="-127"/>
              </a:rPr>
              <a:t>S/W </a:t>
            </a:r>
            <a:r>
              <a:rPr lang="ko-KR" altLang="en-US" sz="1100" b="0">
                <a:ea typeface="산돌고딕 M" pitchFamily="50" charset="-127"/>
              </a:rPr>
              <a:t>아키텍트</a:t>
            </a:r>
          </a:p>
        </p:txBody>
      </p:sp>
      <p:grpSp>
        <p:nvGrpSpPr>
          <p:cNvPr id="18451" name="그룹 108"/>
          <p:cNvGrpSpPr>
            <a:grpSpLocks/>
          </p:cNvGrpSpPr>
          <p:nvPr/>
        </p:nvGrpSpPr>
        <p:grpSpPr bwMode="auto">
          <a:xfrm>
            <a:off x="1028700" y="4051300"/>
            <a:ext cx="963613" cy="785813"/>
            <a:chOff x="3942265" y="1844675"/>
            <a:chExt cx="5474785" cy="2815689"/>
          </a:xfrm>
        </p:grpSpPr>
        <p:sp>
          <p:nvSpPr>
            <p:cNvPr id="18507" name="Rectangle 19"/>
            <p:cNvSpPr>
              <a:spLocks noChangeArrowheads="1"/>
            </p:cNvSpPr>
            <p:nvPr/>
          </p:nvSpPr>
          <p:spPr bwMode="auto">
            <a:xfrm>
              <a:off x="3942265" y="1844675"/>
              <a:ext cx="5474785" cy="2815689"/>
            </a:xfrm>
            <a:prstGeom prst="rect">
              <a:avLst/>
            </a:prstGeom>
            <a:solidFill>
              <a:srgbClr val="C3CDDB"/>
            </a:solidFill>
            <a:ln w="317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sz="200" b="0"/>
            </a:p>
          </p:txBody>
        </p:sp>
        <p:sp>
          <p:nvSpPr>
            <p:cNvPr id="18508" name="Rectangle 20"/>
            <p:cNvSpPr>
              <a:spLocks noChangeArrowheads="1"/>
            </p:cNvSpPr>
            <p:nvPr/>
          </p:nvSpPr>
          <p:spPr bwMode="auto">
            <a:xfrm>
              <a:off x="5268121" y="2362308"/>
              <a:ext cx="856841" cy="39248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 anchor="ctr"/>
            <a:lstStyle>
              <a:lvl1pPr marL="6350" indent="-63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10000"/>
                </a:spcBef>
                <a:buClr>
                  <a:srgbClr val="000000"/>
                </a:buClr>
              </a:pPr>
              <a:r>
                <a:rPr lang="ko-KR" altLang="en-US" sz="300" b="0">
                  <a:sym typeface="Wingdings" panose="05000000000000000000" pitchFamily="2" charset="2"/>
                </a:rPr>
                <a:t>업무</a:t>
              </a:r>
            </a:p>
          </p:txBody>
        </p:sp>
        <p:sp>
          <p:nvSpPr>
            <p:cNvPr id="18509" name="Rectangle 21"/>
            <p:cNvSpPr>
              <a:spLocks noChangeArrowheads="1"/>
            </p:cNvSpPr>
            <p:nvPr/>
          </p:nvSpPr>
          <p:spPr bwMode="auto">
            <a:xfrm>
              <a:off x="6323389" y="2362308"/>
              <a:ext cx="865863" cy="39248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 anchor="ctr"/>
            <a:lstStyle>
              <a:lvl1pPr marL="6350" indent="-63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10000"/>
                </a:spcBef>
                <a:buClr>
                  <a:srgbClr val="000000"/>
                </a:buClr>
              </a:pPr>
              <a:r>
                <a:rPr lang="ko-KR" altLang="en-US" sz="300" b="0">
                  <a:sym typeface="Wingdings" panose="05000000000000000000" pitchFamily="2" charset="2"/>
                </a:rPr>
                <a:t>응용</a:t>
              </a:r>
            </a:p>
          </p:txBody>
        </p:sp>
        <p:sp>
          <p:nvSpPr>
            <p:cNvPr id="18510" name="Rectangle 22"/>
            <p:cNvSpPr>
              <a:spLocks noChangeArrowheads="1"/>
            </p:cNvSpPr>
            <p:nvPr/>
          </p:nvSpPr>
          <p:spPr bwMode="auto">
            <a:xfrm>
              <a:off x="7387680" y="2362308"/>
              <a:ext cx="865863" cy="39248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 anchor="ctr"/>
            <a:lstStyle>
              <a:lvl1pPr marL="6350" indent="-63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10000"/>
                </a:spcBef>
                <a:buClr>
                  <a:srgbClr val="000000"/>
                </a:buClr>
              </a:pPr>
              <a:r>
                <a:rPr lang="ko-KR" altLang="en-US" sz="300" b="0">
                  <a:sym typeface="Wingdings" panose="05000000000000000000" pitchFamily="2" charset="2"/>
                </a:rPr>
                <a:t>데이터</a:t>
              </a:r>
            </a:p>
          </p:txBody>
        </p:sp>
        <p:sp>
          <p:nvSpPr>
            <p:cNvPr id="18511" name="Rectangle 23"/>
            <p:cNvSpPr>
              <a:spLocks noChangeArrowheads="1"/>
            </p:cNvSpPr>
            <p:nvPr/>
          </p:nvSpPr>
          <p:spPr bwMode="auto">
            <a:xfrm>
              <a:off x="8424915" y="2362308"/>
              <a:ext cx="865863" cy="39248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 anchor="ctr"/>
            <a:lstStyle>
              <a:lvl1pPr marL="6350" indent="-63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10000"/>
                </a:spcBef>
                <a:buClr>
                  <a:srgbClr val="000000"/>
                </a:buClr>
              </a:pPr>
              <a:r>
                <a:rPr lang="ko-KR" altLang="en-US" sz="300" b="0">
                  <a:sym typeface="Wingdings" panose="05000000000000000000" pitchFamily="2" charset="2"/>
                </a:rPr>
                <a:t>기술</a:t>
              </a:r>
            </a:p>
          </p:txBody>
        </p:sp>
        <p:sp>
          <p:nvSpPr>
            <p:cNvPr id="18512" name="Rectangle 24"/>
            <p:cNvSpPr>
              <a:spLocks noChangeArrowheads="1"/>
            </p:cNvSpPr>
            <p:nvPr/>
          </p:nvSpPr>
          <p:spPr bwMode="auto">
            <a:xfrm>
              <a:off x="4140692" y="2823055"/>
              <a:ext cx="1028213" cy="39249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 anchor="ctr"/>
            <a:lstStyle>
              <a:lvl1pPr marL="6350" indent="-63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10000"/>
                </a:spcBef>
                <a:buClr>
                  <a:srgbClr val="000000"/>
                </a:buClr>
              </a:pPr>
              <a:r>
                <a:rPr lang="en-US" altLang="ko-KR" sz="300" b="0">
                  <a:sym typeface="Wingdings" panose="05000000000000000000" pitchFamily="2" charset="2"/>
                </a:rPr>
                <a:t>CEO/CIO</a:t>
              </a:r>
            </a:p>
          </p:txBody>
        </p:sp>
        <p:sp>
          <p:nvSpPr>
            <p:cNvPr id="18513" name="Rectangle 25"/>
            <p:cNvSpPr>
              <a:spLocks noChangeArrowheads="1"/>
            </p:cNvSpPr>
            <p:nvPr/>
          </p:nvSpPr>
          <p:spPr bwMode="auto">
            <a:xfrm>
              <a:off x="4140692" y="3272429"/>
              <a:ext cx="1028213" cy="39248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 anchor="ctr"/>
            <a:lstStyle>
              <a:lvl1pPr marL="6350" indent="-63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10000"/>
                </a:spcBef>
                <a:buClr>
                  <a:srgbClr val="000000"/>
                </a:buClr>
              </a:pPr>
              <a:r>
                <a:rPr lang="ko-KR" altLang="en-US" sz="300" b="0">
                  <a:sym typeface="Wingdings" panose="05000000000000000000" pitchFamily="2" charset="2"/>
                </a:rPr>
                <a:t>관리자</a:t>
              </a:r>
            </a:p>
          </p:txBody>
        </p:sp>
        <p:sp>
          <p:nvSpPr>
            <p:cNvPr id="18514" name="Rectangle 26"/>
            <p:cNvSpPr>
              <a:spLocks noChangeArrowheads="1"/>
            </p:cNvSpPr>
            <p:nvPr/>
          </p:nvSpPr>
          <p:spPr bwMode="auto">
            <a:xfrm>
              <a:off x="4140692" y="3721800"/>
              <a:ext cx="1028213" cy="39249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 anchor="ctr"/>
            <a:lstStyle>
              <a:lvl1pPr marL="6350" indent="-63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10000"/>
                </a:spcBef>
                <a:buClr>
                  <a:srgbClr val="000000"/>
                </a:buClr>
              </a:pPr>
              <a:r>
                <a:rPr lang="ko-KR" altLang="en-US" sz="300" b="0">
                  <a:sym typeface="Wingdings" panose="05000000000000000000" pitchFamily="2" charset="2"/>
                </a:rPr>
                <a:t>설계자</a:t>
              </a:r>
            </a:p>
          </p:txBody>
        </p:sp>
        <p:sp>
          <p:nvSpPr>
            <p:cNvPr id="18515" name="Rectangle 27"/>
            <p:cNvSpPr>
              <a:spLocks noChangeArrowheads="1"/>
            </p:cNvSpPr>
            <p:nvPr/>
          </p:nvSpPr>
          <p:spPr bwMode="auto">
            <a:xfrm>
              <a:off x="4140692" y="4165484"/>
              <a:ext cx="1028213" cy="39249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 anchor="ctr"/>
            <a:lstStyle>
              <a:lvl1pPr marL="6350" indent="-63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10000"/>
                </a:spcBef>
                <a:buClr>
                  <a:srgbClr val="000000"/>
                </a:buClr>
              </a:pPr>
              <a:r>
                <a:rPr lang="ko-KR" altLang="en-US" sz="300" b="0">
                  <a:sym typeface="Wingdings" panose="05000000000000000000" pitchFamily="2" charset="2"/>
                </a:rPr>
                <a:t>개발자</a:t>
              </a:r>
            </a:p>
          </p:txBody>
        </p:sp>
        <p:sp>
          <p:nvSpPr>
            <p:cNvPr id="18516" name="AutoShape 28"/>
            <p:cNvSpPr>
              <a:spLocks noChangeArrowheads="1"/>
            </p:cNvSpPr>
            <p:nvPr/>
          </p:nvSpPr>
          <p:spPr bwMode="auto">
            <a:xfrm>
              <a:off x="5277876" y="2821083"/>
              <a:ext cx="853081" cy="392834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17" name="AutoShape 29"/>
            <p:cNvSpPr>
              <a:spLocks noChangeArrowheads="1"/>
            </p:cNvSpPr>
            <p:nvPr/>
          </p:nvSpPr>
          <p:spPr bwMode="auto">
            <a:xfrm>
              <a:off x="5273804" y="3275227"/>
              <a:ext cx="853081" cy="390563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18" name="AutoShape 30"/>
            <p:cNvSpPr>
              <a:spLocks noChangeArrowheads="1"/>
            </p:cNvSpPr>
            <p:nvPr/>
          </p:nvSpPr>
          <p:spPr bwMode="auto">
            <a:xfrm>
              <a:off x="5275840" y="3720287"/>
              <a:ext cx="853081" cy="392834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19" name="AutoShape 31"/>
            <p:cNvSpPr>
              <a:spLocks noChangeArrowheads="1"/>
            </p:cNvSpPr>
            <p:nvPr/>
          </p:nvSpPr>
          <p:spPr bwMode="auto">
            <a:xfrm>
              <a:off x="5267696" y="4165348"/>
              <a:ext cx="855117" cy="390563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20" name="AutoShape 32"/>
            <p:cNvSpPr>
              <a:spLocks noChangeArrowheads="1"/>
            </p:cNvSpPr>
            <p:nvPr/>
          </p:nvSpPr>
          <p:spPr bwMode="auto">
            <a:xfrm>
              <a:off x="6340665" y="2821083"/>
              <a:ext cx="853081" cy="392834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21" name="AutoShape 33"/>
            <p:cNvSpPr>
              <a:spLocks noChangeArrowheads="1"/>
            </p:cNvSpPr>
            <p:nvPr/>
          </p:nvSpPr>
          <p:spPr bwMode="auto">
            <a:xfrm>
              <a:off x="6336593" y="3275227"/>
              <a:ext cx="853081" cy="390563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22" name="AutoShape 34"/>
            <p:cNvSpPr>
              <a:spLocks noChangeArrowheads="1"/>
            </p:cNvSpPr>
            <p:nvPr/>
          </p:nvSpPr>
          <p:spPr bwMode="auto">
            <a:xfrm>
              <a:off x="6338629" y="3720287"/>
              <a:ext cx="853081" cy="392834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23" name="AutoShape 35"/>
            <p:cNvSpPr>
              <a:spLocks noChangeArrowheads="1"/>
            </p:cNvSpPr>
            <p:nvPr/>
          </p:nvSpPr>
          <p:spPr bwMode="auto">
            <a:xfrm>
              <a:off x="6332521" y="4165348"/>
              <a:ext cx="853081" cy="390563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24" name="AutoShape 36"/>
            <p:cNvSpPr>
              <a:spLocks noChangeArrowheads="1"/>
            </p:cNvSpPr>
            <p:nvPr/>
          </p:nvSpPr>
          <p:spPr bwMode="auto">
            <a:xfrm>
              <a:off x="7391237" y="2821083"/>
              <a:ext cx="853081" cy="392834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25" name="AutoShape 37"/>
            <p:cNvSpPr>
              <a:spLocks noChangeArrowheads="1"/>
            </p:cNvSpPr>
            <p:nvPr/>
          </p:nvSpPr>
          <p:spPr bwMode="auto">
            <a:xfrm>
              <a:off x="7385129" y="3275227"/>
              <a:ext cx="855117" cy="390563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26" name="AutoShape 38"/>
            <p:cNvSpPr>
              <a:spLocks noChangeArrowheads="1"/>
            </p:cNvSpPr>
            <p:nvPr/>
          </p:nvSpPr>
          <p:spPr bwMode="auto">
            <a:xfrm>
              <a:off x="7389201" y="3720287"/>
              <a:ext cx="853081" cy="392834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27" name="AutoShape 39"/>
            <p:cNvSpPr>
              <a:spLocks noChangeArrowheads="1"/>
            </p:cNvSpPr>
            <p:nvPr/>
          </p:nvSpPr>
          <p:spPr bwMode="auto">
            <a:xfrm>
              <a:off x="7381057" y="4165348"/>
              <a:ext cx="855117" cy="390563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28" name="AutoShape 40"/>
            <p:cNvSpPr>
              <a:spLocks noChangeArrowheads="1"/>
            </p:cNvSpPr>
            <p:nvPr/>
          </p:nvSpPr>
          <p:spPr bwMode="auto">
            <a:xfrm>
              <a:off x="8451989" y="2821083"/>
              <a:ext cx="853081" cy="392834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29" name="AutoShape 41"/>
            <p:cNvSpPr>
              <a:spLocks noChangeArrowheads="1"/>
            </p:cNvSpPr>
            <p:nvPr/>
          </p:nvSpPr>
          <p:spPr bwMode="auto">
            <a:xfrm>
              <a:off x="8447917" y="3275227"/>
              <a:ext cx="853081" cy="390563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30" name="AutoShape 42"/>
            <p:cNvSpPr>
              <a:spLocks noChangeArrowheads="1"/>
            </p:cNvSpPr>
            <p:nvPr/>
          </p:nvSpPr>
          <p:spPr bwMode="auto">
            <a:xfrm>
              <a:off x="8449953" y="3720287"/>
              <a:ext cx="853081" cy="392834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31" name="AutoShape 43"/>
            <p:cNvSpPr>
              <a:spLocks noChangeArrowheads="1"/>
            </p:cNvSpPr>
            <p:nvPr/>
          </p:nvSpPr>
          <p:spPr bwMode="auto">
            <a:xfrm>
              <a:off x="8441809" y="4165348"/>
              <a:ext cx="855117" cy="390563"/>
            </a:xfrm>
            <a:prstGeom prst="roundRect">
              <a:avLst>
                <a:gd name="adj" fmla="val 16667"/>
              </a:avLst>
            </a:prstGeom>
            <a:solidFill>
              <a:srgbClr val="2E4A74"/>
            </a:solidFill>
            <a:ln w="12700" algn="ctr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buClr>
                  <a:srgbClr val="000000"/>
                </a:buClr>
                <a:buFont typeface="Wingdings" panose="05000000000000000000" pitchFamily="2" charset="2"/>
                <a:buNone/>
              </a:pPr>
              <a:endParaRPr lang="ko-KR" altLang="en-US" sz="300" b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18532" name="Text Box 54"/>
            <p:cNvSpPr txBox="1">
              <a:spLocks noChangeArrowheads="1"/>
            </p:cNvSpPr>
            <p:nvPr/>
          </p:nvSpPr>
          <p:spPr bwMode="auto">
            <a:xfrm>
              <a:off x="5664714" y="1912794"/>
              <a:ext cx="1970839" cy="110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200" b="0" u="sng"/>
                <a:t>각 부처 및 기관별 </a:t>
              </a:r>
              <a:r>
                <a:rPr lang="en-US" altLang="ko-KR" sz="200" b="0" u="sng"/>
                <a:t>EA</a:t>
              </a:r>
            </a:p>
          </p:txBody>
        </p:sp>
      </p:grpSp>
      <p:sp>
        <p:nvSpPr>
          <p:cNvPr id="136" name="TextBox 135"/>
          <p:cNvSpPr txBox="1"/>
          <p:nvPr/>
        </p:nvSpPr>
        <p:spPr>
          <a:xfrm>
            <a:off x="3406775" y="5765800"/>
            <a:ext cx="1071563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1050" b="0" dirty="0" err="1">
                <a:latin typeface="Arial" charset="0"/>
                <a:ea typeface="산돌고딕 M" pitchFamily="18" charset="-127"/>
              </a:rPr>
              <a:t>프로젝트팀</a:t>
            </a:r>
            <a:r>
              <a:rPr lang="ko-KR" altLang="en-US" sz="1050" b="0" dirty="0">
                <a:latin typeface="Arial" charset="0"/>
                <a:ea typeface="산돌고딕 M" pitchFamily="18" charset="-127"/>
              </a:rPr>
              <a:t> </a:t>
            </a:r>
            <a:r>
              <a:rPr lang="en-US" altLang="ko-KR" sz="1050" b="0" dirty="0">
                <a:latin typeface="Arial" charset="0"/>
                <a:ea typeface="산돌고딕 M" pitchFamily="18" charset="-127"/>
              </a:rPr>
              <a:t>AA</a:t>
            </a:r>
            <a:endParaRPr lang="ko-KR" altLang="en-US" sz="1050" b="0" dirty="0">
              <a:latin typeface="Arial" charset="0"/>
              <a:ea typeface="산돌고딕 M" pitchFamily="18" charset="-127"/>
            </a:endParaRPr>
          </a:p>
        </p:txBody>
      </p:sp>
      <p:pic>
        <p:nvPicPr>
          <p:cNvPr id="18453" name="Picture 8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25" y="3532188"/>
            <a:ext cx="73342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4" name="Picture 113" descr="C:\Documents and Settings\Administrator\Local Settings\Temporary Internet Files\Content.IE5\HQQDFAZM\MCj04326050000[1]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100" y="2827338"/>
            <a:ext cx="5524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55" name="AutoShape 76"/>
          <p:cNvSpPr>
            <a:spLocks noChangeArrowheads="1"/>
          </p:cNvSpPr>
          <p:nvPr/>
        </p:nvSpPr>
        <p:spPr bwMode="gray">
          <a:xfrm>
            <a:off x="1620838" y="3051175"/>
            <a:ext cx="974725" cy="679450"/>
          </a:xfrm>
          <a:prstGeom prst="irregularSeal2">
            <a:avLst/>
          </a:prstGeom>
          <a:solidFill>
            <a:srgbClr val="FFCC66">
              <a:alpha val="79999"/>
            </a:srgbClr>
          </a:solidFill>
          <a:ln w="9525" algn="ctr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ko-KR" altLang="en-US" b="0">
                <a:ea typeface="산돌고딕 M" pitchFamily="50" charset="-127"/>
              </a:rPr>
              <a:t>정보자산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b="0">
                <a:ea typeface="산돌고딕 M" pitchFamily="50" charset="-127"/>
              </a:rPr>
              <a:t>공동활용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b="0">
                <a:ea typeface="산돌고딕 M" pitchFamily="50" charset="-127"/>
              </a:rPr>
              <a:t>미흡</a:t>
            </a:r>
          </a:p>
        </p:txBody>
      </p:sp>
      <p:sp>
        <p:nvSpPr>
          <p:cNvPr id="148" name="곱셈 기호 147"/>
          <p:cNvSpPr/>
          <p:nvPr/>
        </p:nvSpPr>
        <p:spPr>
          <a:xfrm>
            <a:off x="2192338" y="3836988"/>
            <a:ext cx="357187" cy="428625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b="0"/>
          </a:p>
        </p:txBody>
      </p:sp>
      <p:sp>
        <p:nvSpPr>
          <p:cNvPr id="152" name="곱셈 기호 151"/>
          <p:cNvSpPr/>
          <p:nvPr/>
        </p:nvSpPr>
        <p:spPr>
          <a:xfrm>
            <a:off x="1978025" y="4908550"/>
            <a:ext cx="357188" cy="428625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b="0"/>
          </a:p>
        </p:txBody>
      </p:sp>
      <p:cxnSp>
        <p:nvCxnSpPr>
          <p:cNvPr id="18458" name="AutoShape 62"/>
          <p:cNvCxnSpPr>
            <a:cxnSpLocks noChangeShapeType="1"/>
          </p:cNvCxnSpPr>
          <p:nvPr/>
        </p:nvCxnSpPr>
        <p:spPr bwMode="auto">
          <a:xfrm rot="5400000">
            <a:off x="3145632" y="3442494"/>
            <a:ext cx="152400" cy="26987"/>
          </a:xfrm>
          <a:prstGeom prst="straightConnector1">
            <a:avLst/>
          </a:prstGeom>
          <a:noFill/>
          <a:ln w="38100">
            <a:solidFill>
              <a:srgbClr val="66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0" name="TextBox 209"/>
          <p:cNvSpPr txBox="1"/>
          <p:nvPr/>
        </p:nvSpPr>
        <p:spPr>
          <a:xfrm>
            <a:off x="3425825" y="2989263"/>
            <a:ext cx="1071563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050" b="0" dirty="0">
                <a:latin typeface="Arial" charset="0"/>
                <a:ea typeface="산돌고딕 M" pitchFamily="18" charset="-127"/>
              </a:rPr>
              <a:t>SA</a:t>
            </a:r>
            <a:r>
              <a:rPr lang="ko-KR" altLang="en-US" sz="1050" b="0" dirty="0">
                <a:latin typeface="Arial" charset="0"/>
                <a:ea typeface="산돌고딕 M" pitchFamily="18" charset="-127"/>
              </a:rPr>
              <a:t>방법론</a:t>
            </a:r>
          </a:p>
        </p:txBody>
      </p:sp>
      <p:grpSp>
        <p:nvGrpSpPr>
          <p:cNvPr id="18460" name="그룹 101"/>
          <p:cNvGrpSpPr>
            <a:grpSpLocks/>
          </p:cNvGrpSpPr>
          <p:nvPr/>
        </p:nvGrpSpPr>
        <p:grpSpPr bwMode="auto">
          <a:xfrm>
            <a:off x="5362575" y="2862263"/>
            <a:ext cx="3786188" cy="3071812"/>
            <a:chOff x="5362575" y="2862263"/>
            <a:chExt cx="3786188" cy="3071812"/>
          </a:xfrm>
        </p:grpSpPr>
        <p:sp>
          <p:nvSpPr>
            <p:cNvPr id="199" name="타원 198"/>
            <p:cNvSpPr/>
            <p:nvPr/>
          </p:nvSpPr>
          <p:spPr>
            <a:xfrm>
              <a:off x="6005513" y="3719513"/>
              <a:ext cx="2428875" cy="1928812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b="0"/>
            </a:p>
          </p:txBody>
        </p:sp>
        <p:grpSp>
          <p:nvGrpSpPr>
            <p:cNvPr id="18463" name="그룹 154"/>
            <p:cNvGrpSpPr>
              <a:grpSpLocks/>
            </p:cNvGrpSpPr>
            <p:nvPr/>
          </p:nvGrpSpPr>
          <p:grpSpPr bwMode="auto">
            <a:xfrm>
              <a:off x="6648450" y="3148013"/>
              <a:ext cx="963613" cy="785812"/>
              <a:chOff x="3942265" y="1844675"/>
              <a:chExt cx="5474785" cy="2815689"/>
            </a:xfrm>
          </p:grpSpPr>
          <p:sp>
            <p:nvSpPr>
              <p:cNvPr id="18481" name="Rectangle 19"/>
              <p:cNvSpPr>
                <a:spLocks noChangeArrowheads="1"/>
              </p:cNvSpPr>
              <p:nvPr/>
            </p:nvSpPr>
            <p:spPr bwMode="auto">
              <a:xfrm>
                <a:off x="3942265" y="1844675"/>
                <a:ext cx="5474785" cy="2815689"/>
              </a:xfrm>
              <a:prstGeom prst="rect">
                <a:avLst/>
              </a:prstGeom>
              <a:solidFill>
                <a:srgbClr val="C3CDDB"/>
              </a:solidFill>
              <a:ln w="3175" algn="ctr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 sz="200" b="0"/>
              </a:p>
            </p:txBody>
          </p:sp>
          <p:sp>
            <p:nvSpPr>
              <p:cNvPr id="18482" name="Rectangle 20"/>
              <p:cNvSpPr>
                <a:spLocks noChangeArrowheads="1"/>
              </p:cNvSpPr>
              <p:nvPr/>
            </p:nvSpPr>
            <p:spPr bwMode="auto">
              <a:xfrm>
                <a:off x="5268121" y="2362305"/>
                <a:ext cx="856841" cy="39249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0" tIns="0" rIns="0" bIns="0" anchor="ctr"/>
              <a:lstStyle>
                <a:lvl1pPr marL="6350" indent="-63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rgbClr val="000000"/>
                  </a:buClr>
                </a:pPr>
                <a:r>
                  <a:rPr lang="ko-KR" altLang="en-US" sz="300" b="0">
                    <a:sym typeface="Wingdings" panose="05000000000000000000" pitchFamily="2" charset="2"/>
                  </a:rPr>
                  <a:t>업무</a:t>
                </a:r>
              </a:p>
            </p:txBody>
          </p:sp>
          <p:sp>
            <p:nvSpPr>
              <p:cNvPr id="18483" name="Rectangle 21"/>
              <p:cNvSpPr>
                <a:spLocks noChangeArrowheads="1"/>
              </p:cNvSpPr>
              <p:nvPr/>
            </p:nvSpPr>
            <p:spPr bwMode="auto">
              <a:xfrm>
                <a:off x="6323389" y="2362305"/>
                <a:ext cx="865863" cy="39249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0" tIns="0" rIns="0" bIns="0" anchor="ctr"/>
              <a:lstStyle>
                <a:lvl1pPr marL="6350" indent="-63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rgbClr val="000000"/>
                  </a:buClr>
                </a:pPr>
                <a:r>
                  <a:rPr lang="ko-KR" altLang="en-US" sz="300" b="0">
                    <a:sym typeface="Wingdings" panose="05000000000000000000" pitchFamily="2" charset="2"/>
                  </a:rPr>
                  <a:t>응용</a:t>
                </a:r>
              </a:p>
            </p:txBody>
          </p:sp>
          <p:sp>
            <p:nvSpPr>
              <p:cNvPr id="18484" name="Rectangle 22"/>
              <p:cNvSpPr>
                <a:spLocks noChangeArrowheads="1"/>
              </p:cNvSpPr>
              <p:nvPr/>
            </p:nvSpPr>
            <p:spPr bwMode="auto">
              <a:xfrm>
                <a:off x="7387680" y="2362305"/>
                <a:ext cx="865863" cy="39249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0" tIns="0" rIns="0" bIns="0" anchor="ctr"/>
              <a:lstStyle>
                <a:lvl1pPr marL="6350" indent="-63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rgbClr val="000000"/>
                  </a:buClr>
                </a:pPr>
                <a:r>
                  <a:rPr lang="ko-KR" altLang="en-US" sz="300" b="0">
                    <a:sym typeface="Wingdings" panose="05000000000000000000" pitchFamily="2" charset="2"/>
                  </a:rPr>
                  <a:t>데이터</a:t>
                </a:r>
              </a:p>
            </p:txBody>
          </p:sp>
          <p:sp>
            <p:nvSpPr>
              <p:cNvPr id="18485" name="Rectangle 23"/>
              <p:cNvSpPr>
                <a:spLocks noChangeArrowheads="1"/>
              </p:cNvSpPr>
              <p:nvPr/>
            </p:nvSpPr>
            <p:spPr bwMode="auto">
              <a:xfrm>
                <a:off x="8424915" y="2362305"/>
                <a:ext cx="865863" cy="39249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0" tIns="0" rIns="0" bIns="0" anchor="ctr"/>
              <a:lstStyle>
                <a:lvl1pPr marL="6350" indent="-63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rgbClr val="000000"/>
                  </a:buClr>
                </a:pPr>
                <a:r>
                  <a:rPr lang="ko-KR" altLang="en-US" sz="300" b="0">
                    <a:sym typeface="Wingdings" panose="05000000000000000000" pitchFamily="2" charset="2"/>
                  </a:rPr>
                  <a:t>기술</a:t>
                </a:r>
              </a:p>
            </p:txBody>
          </p:sp>
          <p:sp>
            <p:nvSpPr>
              <p:cNvPr id="18486" name="Rectangle 24"/>
              <p:cNvSpPr>
                <a:spLocks noChangeArrowheads="1"/>
              </p:cNvSpPr>
              <p:nvPr/>
            </p:nvSpPr>
            <p:spPr bwMode="auto">
              <a:xfrm>
                <a:off x="4140692" y="2823056"/>
                <a:ext cx="1028213" cy="392488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0" tIns="0" rIns="0" bIns="0" anchor="ctr"/>
              <a:lstStyle>
                <a:lvl1pPr marL="6350" indent="-63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rgbClr val="000000"/>
                  </a:buClr>
                </a:pPr>
                <a:r>
                  <a:rPr lang="en-US" altLang="ko-KR" sz="300" b="0">
                    <a:sym typeface="Wingdings" panose="05000000000000000000" pitchFamily="2" charset="2"/>
                  </a:rPr>
                  <a:t>CEO/CIO</a:t>
                </a:r>
              </a:p>
            </p:txBody>
          </p:sp>
          <p:sp>
            <p:nvSpPr>
              <p:cNvPr id="18487" name="Rectangle 25"/>
              <p:cNvSpPr>
                <a:spLocks noChangeArrowheads="1"/>
              </p:cNvSpPr>
              <p:nvPr/>
            </p:nvSpPr>
            <p:spPr bwMode="auto">
              <a:xfrm>
                <a:off x="4140692" y="3272428"/>
                <a:ext cx="1028213" cy="39249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0" tIns="0" rIns="0" bIns="0" anchor="ctr"/>
              <a:lstStyle>
                <a:lvl1pPr marL="6350" indent="-63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rgbClr val="000000"/>
                  </a:buClr>
                </a:pPr>
                <a:r>
                  <a:rPr lang="ko-KR" altLang="en-US" sz="300" b="0">
                    <a:sym typeface="Wingdings" panose="05000000000000000000" pitchFamily="2" charset="2"/>
                  </a:rPr>
                  <a:t>관리자</a:t>
                </a:r>
              </a:p>
            </p:txBody>
          </p:sp>
          <p:sp>
            <p:nvSpPr>
              <p:cNvPr id="18488" name="Rectangle 26"/>
              <p:cNvSpPr>
                <a:spLocks noChangeArrowheads="1"/>
              </p:cNvSpPr>
              <p:nvPr/>
            </p:nvSpPr>
            <p:spPr bwMode="auto">
              <a:xfrm>
                <a:off x="4140692" y="3721802"/>
                <a:ext cx="1028213" cy="392488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0" tIns="0" rIns="0" bIns="0" anchor="ctr"/>
              <a:lstStyle>
                <a:lvl1pPr marL="6350" indent="-63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rgbClr val="000000"/>
                  </a:buClr>
                </a:pPr>
                <a:r>
                  <a:rPr lang="ko-KR" altLang="en-US" sz="300" b="0">
                    <a:sym typeface="Wingdings" panose="05000000000000000000" pitchFamily="2" charset="2"/>
                  </a:rPr>
                  <a:t>설계자</a:t>
                </a:r>
              </a:p>
            </p:txBody>
          </p:sp>
          <p:sp>
            <p:nvSpPr>
              <p:cNvPr id="18489" name="Rectangle 27"/>
              <p:cNvSpPr>
                <a:spLocks noChangeArrowheads="1"/>
              </p:cNvSpPr>
              <p:nvPr/>
            </p:nvSpPr>
            <p:spPr bwMode="auto">
              <a:xfrm>
                <a:off x="4140692" y="4165487"/>
                <a:ext cx="1028213" cy="392488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0" tIns="0" rIns="0" bIns="0" anchor="ctr"/>
              <a:lstStyle>
                <a:lvl1pPr marL="6350" indent="-63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rgbClr val="000000"/>
                  </a:buClr>
                </a:pPr>
                <a:r>
                  <a:rPr lang="ko-KR" altLang="en-US" sz="300" b="0">
                    <a:sym typeface="Wingdings" panose="05000000000000000000" pitchFamily="2" charset="2"/>
                  </a:rPr>
                  <a:t>개발자</a:t>
                </a:r>
              </a:p>
            </p:txBody>
          </p:sp>
          <p:sp>
            <p:nvSpPr>
              <p:cNvPr id="18490" name="AutoShape 28"/>
              <p:cNvSpPr>
                <a:spLocks noChangeArrowheads="1"/>
              </p:cNvSpPr>
              <p:nvPr/>
            </p:nvSpPr>
            <p:spPr bwMode="auto">
              <a:xfrm>
                <a:off x="5277876" y="2821083"/>
                <a:ext cx="853081" cy="392834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491" name="AutoShape 29"/>
              <p:cNvSpPr>
                <a:spLocks noChangeArrowheads="1"/>
              </p:cNvSpPr>
              <p:nvPr/>
            </p:nvSpPr>
            <p:spPr bwMode="auto">
              <a:xfrm>
                <a:off x="5273804" y="3275227"/>
                <a:ext cx="853081" cy="390563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492" name="AutoShape 30"/>
              <p:cNvSpPr>
                <a:spLocks noChangeArrowheads="1"/>
              </p:cNvSpPr>
              <p:nvPr/>
            </p:nvSpPr>
            <p:spPr bwMode="auto">
              <a:xfrm>
                <a:off x="5275840" y="3720287"/>
                <a:ext cx="853081" cy="392834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493" name="AutoShape 31"/>
              <p:cNvSpPr>
                <a:spLocks noChangeArrowheads="1"/>
              </p:cNvSpPr>
              <p:nvPr/>
            </p:nvSpPr>
            <p:spPr bwMode="auto">
              <a:xfrm>
                <a:off x="5267696" y="4165348"/>
                <a:ext cx="855117" cy="390563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494" name="AutoShape 32"/>
              <p:cNvSpPr>
                <a:spLocks noChangeArrowheads="1"/>
              </p:cNvSpPr>
              <p:nvPr/>
            </p:nvSpPr>
            <p:spPr bwMode="auto">
              <a:xfrm>
                <a:off x="6340665" y="2821083"/>
                <a:ext cx="853081" cy="392834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495" name="AutoShape 33"/>
              <p:cNvSpPr>
                <a:spLocks noChangeArrowheads="1"/>
              </p:cNvSpPr>
              <p:nvPr/>
            </p:nvSpPr>
            <p:spPr bwMode="auto">
              <a:xfrm>
                <a:off x="6336593" y="3275227"/>
                <a:ext cx="853081" cy="390563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496" name="AutoShape 34"/>
              <p:cNvSpPr>
                <a:spLocks noChangeArrowheads="1"/>
              </p:cNvSpPr>
              <p:nvPr/>
            </p:nvSpPr>
            <p:spPr bwMode="auto">
              <a:xfrm>
                <a:off x="6338629" y="3720287"/>
                <a:ext cx="853081" cy="392834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497" name="AutoShape 35"/>
              <p:cNvSpPr>
                <a:spLocks noChangeArrowheads="1"/>
              </p:cNvSpPr>
              <p:nvPr/>
            </p:nvSpPr>
            <p:spPr bwMode="auto">
              <a:xfrm>
                <a:off x="6332521" y="4165348"/>
                <a:ext cx="853081" cy="390563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498" name="AutoShape 36"/>
              <p:cNvSpPr>
                <a:spLocks noChangeArrowheads="1"/>
              </p:cNvSpPr>
              <p:nvPr/>
            </p:nvSpPr>
            <p:spPr bwMode="auto">
              <a:xfrm>
                <a:off x="7391237" y="2821083"/>
                <a:ext cx="853081" cy="392834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499" name="AutoShape 37"/>
              <p:cNvSpPr>
                <a:spLocks noChangeArrowheads="1"/>
              </p:cNvSpPr>
              <p:nvPr/>
            </p:nvSpPr>
            <p:spPr bwMode="auto">
              <a:xfrm>
                <a:off x="7385129" y="3275227"/>
                <a:ext cx="855117" cy="390563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500" name="AutoShape 38"/>
              <p:cNvSpPr>
                <a:spLocks noChangeArrowheads="1"/>
              </p:cNvSpPr>
              <p:nvPr/>
            </p:nvSpPr>
            <p:spPr bwMode="auto">
              <a:xfrm>
                <a:off x="7389201" y="3720287"/>
                <a:ext cx="853081" cy="392834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501" name="AutoShape 39"/>
              <p:cNvSpPr>
                <a:spLocks noChangeArrowheads="1"/>
              </p:cNvSpPr>
              <p:nvPr/>
            </p:nvSpPr>
            <p:spPr bwMode="auto">
              <a:xfrm>
                <a:off x="7381057" y="4165348"/>
                <a:ext cx="855117" cy="390563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502" name="AutoShape 40"/>
              <p:cNvSpPr>
                <a:spLocks noChangeArrowheads="1"/>
              </p:cNvSpPr>
              <p:nvPr/>
            </p:nvSpPr>
            <p:spPr bwMode="auto">
              <a:xfrm>
                <a:off x="8451989" y="2821083"/>
                <a:ext cx="853081" cy="392834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503" name="AutoShape 41"/>
              <p:cNvSpPr>
                <a:spLocks noChangeArrowheads="1"/>
              </p:cNvSpPr>
              <p:nvPr/>
            </p:nvSpPr>
            <p:spPr bwMode="auto">
              <a:xfrm>
                <a:off x="8447917" y="3275227"/>
                <a:ext cx="853081" cy="390563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504" name="AutoShape 42"/>
              <p:cNvSpPr>
                <a:spLocks noChangeArrowheads="1"/>
              </p:cNvSpPr>
              <p:nvPr/>
            </p:nvSpPr>
            <p:spPr bwMode="auto">
              <a:xfrm>
                <a:off x="8449953" y="3720287"/>
                <a:ext cx="853081" cy="392834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505" name="AutoShape 43"/>
              <p:cNvSpPr>
                <a:spLocks noChangeArrowheads="1"/>
              </p:cNvSpPr>
              <p:nvPr/>
            </p:nvSpPr>
            <p:spPr bwMode="auto">
              <a:xfrm>
                <a:off x="8441809" y="4165348"/>
                <a:ext cx="855117" cy="390563"/>
              </a:xfrm>
              <a:prstGeom prst="roundRect">
                <a:avLst>
                  <a:gd name="adj" fmla="val 16667"/>
                </a:avLst>
              </a:prstGeom>
              <a:solidFill>
                <a:srgbClr val="2E4A74"/>
              </a:solidFill>
              <a:ln w="12700" algn="ctr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00"/>
                  </a:buClr>
                  <a:buFont typeface="Wingdings" panose="05000000000000000000" pitchFamily="2" charset="2"/>
                  <a:buNone/>
                </a:pPr>
                <a:endParaRPr lang="ko-KR" altLang="en-US" sz="300" b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</p:txBody>
          </p:sp>
          <p:sp>
            <p:nvSpPr>
              <p:cNvPr id="18506" name="Text Box 54"/>
              <p:cNvSpPr txBox="1">
                <a:spLocks noChangeArrowheads="1"/>
              </p:cNvSpPr>
              <p:nvPr/>
            </p:nvSpPr>
            <p:spPr bwMode="auto">
              <a:xfrm>
                <a:off x="5664714" y="1912794"/>
                <a:ext cx="1970839" cy="110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ko-KR" altLang="en-US" sz="200" b="0" u="sng"/>
                  <a:t>각 부처 및 기관별 </a:t>
                </a:r>
                <a:r>
                  <a:rPr lang="en-US" altLang="ko-KR" sz="200" b="0" u="sng"/>
                  <a:t>EA</a:t>
                </a:r>
              </a:p>
            </p:txBody>
          </p:sp>
        </p:grpSp>
        <p:sp>
          <p:nvSpPr>
            <p:cNvPr id="18464" name="AutoShape 44"/>
            <p:cNvSpPr>
              <a:spLocks noChangeArrowheads="1"/>
            </p:cNvSpPr>
            <p:nvPr/>
          </p:nvSpPr>
          <p:spPr bwMode="auto">
            <a:xfrm>
              <a:off x="6832600" y="5603875"/>
              <a:ext cx="669925" cy="33020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333399"/>
                </a:gs>
                <a:gs pos="50000">
                  <a:srgbClr val="6666FF"/>
                </a:gs>
                <a:gs pos="100000">
                  <a:srgbClr val="333399"/>
                </a:gs>
              </a:gsLst>
              <a:lin ang="0" scaled="1"/>
            </a:gradFill>
            <a:ln w="9525">
              <a:solidFill>
                <a:srgbClr val="CCCCFF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en-US" altLang="ko-KR" b="0">
                <a:solidFill>
                  <a:schemeClr val="bg1"/>
                </a:solidFill>
                <a:ea typeface="산돌고딕 M" pitchFamily="50" charset="-127"/>
              </a:endParaRPr>
            </a:p>
          </p:txBody>
        </p:sp>
        <p:grpSp>
          <p:nvGrpSpPr>
            <p:cNvPr id="18465" name="Group 45"/>
            <p:cNvGrpSpPr>
              <a:grpSpLocks/>
            </p:cNvGrpSpPr>
            <p:nvPr/>
          </p:nvGrpSpPr>
          <p:grpSpPr bwMode="auto">
            <a:xfrm>
              <a:off x="6832600" y="5219700"/>
              <a:ext cx="673100" cy="447675"/>
              <a:chOff x="1503" y="1861"/>
              <a:chExt cx="785" cy="473"/>
            </a:xfrm>
          </p:grpSpPr>
          <p:graphicFrame>
            <p:nvGraphicFramePr>
              <p:cNvPr id="18479" name="Object 10"/>
              <p:cNvGraphicFramePr>
                <a:graphicFrameLocks/>
              </p:cNvGraphicFramePr>
              <p:nvPr/>
            </p:nvGraphicFramePr>
            <p:xfrm>
              <a:off x="1584" y="2021"/>
              <a:ext cx="617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42" name="클립" r:id="rId10" imgW="2523744" imgH="1297534" progId="MS_ClipArt_Gallery.2">
                      <p:embed/>
                    </p:oleObj>
                  </mc:Choice>
                  <mc:Fallback>
                    <p:oleObj name="클립" r:id="rId10" imgW="2523744" imgH="1297534" progId="MS_ClipArt_Gallery.2">
                      <p:embed/>
                      <p:pic>
                        <p:nvPicPr>
                          <p:cNvPr id="0" name="Object 1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84" y="2021"/>
                            <a:ext cx="617" cy="3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480" name="Text Box 47"/>
              <p:cNvSpPr txBox="1">
                <a:spLocks noChangeArrowheads="1"/>
              </p:cNvSpPr>
              <p:nvPr/>
            </p:nvSpPr>
            <p:spPr bwMode="auto">
              <a:xfrm>
                <a:off x="1503" y="1861"/>
                <a:ext cx="785" cy="2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ko-KR" altLang="en-US" b="0">
                    <a:ea typeface="산돌고딕 M" pitchFamily="50" charset="-127"/>
                  </a:rPr>
                  <a:t>응용시스템 구축</a:t>
                </a:r>
                <a:endParaRPr lang="en-US" altLang="ko-KR" b="0">
                  <a:ea typeface="산돌고딕 M" pitchFamily="50" charset="-127"/>
                </a:endParaRPr>
              </a:p>
            </p:txBody>
          </p:sp>
        </p:grpSp>
        <p:sp>
          <p:nvSpPr>
            <p:cNvPr id="188" name="TextBox 187"/>
            <p:cNvSpPr txBox="1"/>
            <p:nvPr/>
          </p:nvSpPr>
          <p:spPr>
            <a:xfrm>
              <a:off x="7720013" y="4933950"/>
              <a:ext cx="1214437" cy="41592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1050" b="0" dirty="0">
                  <a:latin typeface="Arial" charset="0"/>
                  <a:ea typeface="산돌고딕 M" pitchFamily="18" charset="-127"/>
                </a:rPr>
                <a:t>SA </a:t>
              </a:r>
              <a:r>
                <a:rPr lang="ko-KR" altLang="en-US" sz="1050" b="0" dirty="0">
                  <a:latin typeface="Arial" charset="0"/>
                  <a:ea typeface="산돌고딕 M" pitchFamily="18" charset="-127"/>
                </a:rPr>
                <a:t>및 </a:t>
              </a:r>
              <a:r>
                <a:rPr lang="en-US" altLang="ko-KR" sz="1050" b="0" dirty="0">
                  <a:latin typeface="Arial" charset="0"/>
                  <a:ea typeface="산돌고딕 M" pitchFamily="18" charset="-127"/>
                </a:rPr>
                <a:t>AA</a:t>
              </a:r>
              <a:r>
                <a:rPr lang="ko-KR" altLang="en-US" sz="1050" b="0" dirty="0">
                  <a:latin typeface="Arial" charset="0"/>
                  <a:ea typeface="산돌고딕 M" pitchFamily="18" charset="-127"/>
                </a:rPr>
                <a:t>로서의 역할 병행 수행</a:t>
              </a:r>
            </a:p>
          </p:txBody>
        </p:sp>
        <p:pic>
          <p:nvPicPr>
            <p:cNvPr id="18467" name="Picture 38" descr="PE02032_"/>
            <p:cNvPicPr preferRelativeResize="0"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6888" y="4291013"/>
              <a:ext cx="625475" cy="541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68" name="Text Box 96"/>
            <p:cNvSpPr txBox="1">
              <a:spLocks noChangeArrowheads="1"/>
            </p:cNvSpPr>
            <p:nvPr/>
          </p:nvSpPr>
          <p:spPr bwMode="auto">
            <a:xfrm>
              <a:off x="5362575" y="4862513"/>
              <a:ext cx="759823" cy="360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lang="ko-KR" altLang="en-US" sz="1100" b="0">
                  <a:ea typeface="산돌고딕 M" pitchFamily="50" charset="-127"/>
                </a:rPr>
                <a:t>어플리케이션</a:t>
              </a:r>
              <a:endParaRPr lang="en-US" altLang="ko-KR" sz="1100" b="0">
                <a:ea typeface="산돌고딕 M" pitchFamily="50" charset="-127"/>
              </a:endParaRPr>
            </a:p>
            <a:p>
              <a:pPr eaLnBrk="1" hangingPunct="1">
                <a:lnSpc>
                  <a:spcPct val="80000"/>
                </a:lnSpc>
              </a:pPr>
              <a:r>
                <a:rPr lang="ko-KR" altLang="en-US" sz="1100" b="0">
                  <a:ea typeface="산돌고딕 M" pitchFamily="50" charset="-127"/>
                </a:rPr>
                <a:t>아키텍트</a:t>
              </a:r>
            </a:p>
          </p:txBody>
        </p:sp>
        <p:sp>
          <p:nvSpPr>
            <p:cNvPr id="18469" name="AutoShape 47"/>
            <p:cNvSpPr>
              <a:spLocks noChangeArrowheads="1"/>
            </p:cNvSpPr>
            <p:nvPr/>
          </p:nvSpPr>
          <p:spPr bwMode="auto">
            <a:xfrm rot="5400000">
              <a:off x="6541294" y="4183857"/>
              <a:ext cx="1285875" cy="928687"/>
            </a:xfrm>
            <a:prstGeom prst="rightArrow">
              <a:avLst>
                <a:gd name="adj1" fmla="val 67389"/>
                <a:gd name="adj2" fmla="val 70590"/>
              </a:avLst>
            </a:prstGeom>
            <a:solidFill>
              <a:srgbClr val="DDDDDD">
                <a:alpha val="67058"/>
              </a:srgbClr>
            </a:solidFill>
            <a:ln w="3175" algn="ctr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b="0">
                <a:ea typeface="산돌고딕 M" pitchFamily="50" charset="-127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6577013" y="2862263"/>
              <a:ext cx="1143000" cy="25400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050" b="0" dirty="0">
                  <a:latin typeface="Arial" charset="0"/>
                  <a:ea typeface="산돌고딕 M" pitchFamily="18" charset="-127"/>
                </a:rPr>
                <a:t>전사 아키텍처</a:t>
              </a:r>
            </a:p>
          </p:txBody>
        </p:sp>
        <p:cxnSp>
          <p:nvCxnSpPr>
            <p:cNvPr id="18471" name="AutoShape 62"/>
            <p:cNvCxnSpPr>
              <a:cxnSpLocks noChangeShapeType="1"/>
            </p:cNvCxnSpPr>
            <p:nvPr/>
          </p:nvCxnSpPr>
          <p:spPr bwMode="auto">
            <a:xfrm rot="5400000" flipH="1" flipV="1">
              <a:off x="6076950" y="3648075"/>
              <a:ext cx="571500" cy="571500"/>
            </a:xfrm>
            <a:prstGeom prst="straightConnector1">
              <a:avLst/>
            </a:prstGeom>
            <a:noFill/>
            <a:ln w="38100">
              <a:solidFill>
                <a:srgbClr val="66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72" name="AutoShape 62"/>
            <p:cNvCxnSpPr>
              <a:cxnSpLocks noChangeShapeType="1"/>
            </p:cNvCxnSpPr>
            <p:nvPr/>
          </p:nvCxnSpPr>
          <p:spPr bwMode="auto">
            <a:xfrm rot="16200000" flipH="1">
              <a:off x="6148388" y="4933950"/>
              <a:ext cx="642937" cy="500063"/>
            </a:xfrm>
            <a:prstGeom prst="straightConnector1">
              <a:avLst/>
            </a:prstGeom>
            <a:noFill/>
            <a:ln w="38100">
              <a:solidFill>
                <a:srgbClr val="66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18473" name="Picture 85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9950" y="4076700"/>
              <a:ext cx="733425" cy="876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74" name="Picture 113" descr="C:\Documents and Settings\Administrator\Local Settings\Temporary Internet Files\Content.IE5\HQQDFAZM\MCj04326050000[1]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8638" y="4291013"/>
              <a:ext cx="552450" cy="552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2" name="TextBox 201"/>
            <p:cNvSpPr txBox="1"/>
            <p:nvPr/>
          </p:nvSpPr>
          <p:spPr>
            <a:xfrm>
              <a:off x="5719763" y="3719513"/>
              <a:ext cx="714375" cy="496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050" b="0" dirty="0">
                  <a:latin typeface="Arial" charset="0"/>
                  <a:ea typeface="산돌고딕 M" pitchFamily="18" charset="-127"/>
                </a:rPr>
                <a:t>아키텍처</a:t>
              </a:r>
              <a:endParaRPr lang="en-US" altLang="ko-KR" sz="1050" b="0" dirty="0">
                <a:latin typeface="Arial" charset="0"/>
                <a:ea typeface="산돌고딕 M" pitchFamily="18" charset="-127"/>
              </a:endParaRPr>
            </a:p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050" b="0" dirty="0">
                  <a:latin typeface="Arial" charset="0"/>
                  <a:ea typeface="산돌고딕 M" pitchFamily="18" charset="-127"/>
                </a:rPr>
                <a:t>피드백</a:t>
              </a: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5934075" y="5291138"/>
              <a:ext cx="714375" cy="496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050" b="0" dirty="0">
                  <a:latin typeface="Arial" charset="0"/>
                  <a:ea typeface="산돌고딕 M" pitchFamily="18" charset="-127"/>
                </a:rPr>
                <a:t>아키텍처</a:t>
              </a:r>
              <a:endParaRPr lang="en-US" altLang="ko-KR" sz="1050" b="0" dirty="0">
                <a:latin typeface="Arial" charset="0"/>
                <a:ea typeface="산돌고딕 M" pitchFamily="18" charset="-127"/>
              </a:endParaRPr>
            </a:p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050" b="0" dirty="0">
                  <a:latin typeface="Arial" charset="0"/>
                  <a:ea typeface="산돌고딕 M" pitchFamily="18" charset="-127"/>
                </a:rPr>
                <a:t>반영</a:t>
              </a:r>
            </a:p>
          </p:txBody>
        </p:sp>
        <p:cxnSp>
          <p:nvCxnSpPr>
            <p:cNvPr id="18477" name="AutoShape 62"/>
            <p:cNvCxnSpPr>
              <a:cxnSpLocks noChangeShapeType="1"/>
            </p:cNvCxnSpPr>
            <p:nvPr/>
          </p:nvCxnSpPr>
          <p:spPr bwMode="auto">
            <a:xfrm rot="10800000">
              <a:off x="7953375" y="4514850"/>
              <a:ext cx="195263" cy="52388"/>
            </a:xfrm>
            <a:prstGeom prst="straightConnector1">
              <a:avLst/>
            </a:prstGeom>
            <a:noFill/>
            <a:ln w="38100">
              <a:solidFill>
                <a:srgbClr val="66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" name="TextBox 215"/>
            <p:cNvSpPr txBox="1"/>
            <p:nvPr/>
          </p:nvSpPr>
          <p:spPr>
            <a:xfrm>
              <a:off x="8077200" y="4076700"/>
              <a:ext cx="1071563" cy="25400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1050" b="0" dirty="0">
                  <a:latin typeface="Arial" charset="0"/>
                  <a:ea typeface="산돌고딕 M" pitchFamily="18" charset="-127"/>
                </a:rPr>
                <a:t>SA+AA</a:t>
              </a:r>
              <a:r>
                <a:rPr lang="ko-KR" altLang="en-US" sz="1050" b="0" dirty="0">
                  <a:latin typeface="Arial" charset="0"/>
                  <a:ea typeface="산돌고딕 M" pitchFamily="18" charset="-127"/>
                </a:rPr>
                <a:t>방법론</a:t>
              </a:r>
            </a:p>
          </p:txBody>
        </p:sp>
      </p:grpSp>
      <p:sp>
        <p:nvSpPr>
          <p:cNvPr id="122" name="내용 개체 틀 13"/>
          <p:cNvSpPr txBox="1">
            <a:spLocks/>
          </p:cNvSpPr>
          <p:nvPr/>
        </p:nvSpPr>
        <p:spPr>
          <a:xfrm>
            <a:off x="320675" y="901700"/>
            <a:ext cx="9266238" cy="20129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현재 많은 기업 또는 조직의 정보시스템들은 전사아키텍처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기반에서 정보자원을 효율적으로 관리하고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그런데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도입된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또는 도입 예정인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기업에서 시스템구축 프로젝트를 수행할 때 소프트웨어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아키텍트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어플리케이션 아키텍트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관점을 고려하지 않은 역할 수행을 하게 되면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정보관리의 비효율성 및 불일치가 일어나게 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결국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도입이 무의미해 진다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기존의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역할수행만으로는 응용아키텍처에서 정의된 응용시스템 구성 및 관계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기능분할을 무시한 채 소프트웨어 아키텍처 정의가 이루어 질 수 있고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소프트웨어 아키텍처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정의서에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수립된 세부내용들은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3,4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레벨에 해당하는  설계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개발자 관점의 산출물과 큰 관련이 있음에도 불구하고 이에 대한 피드백이 이루어지지 않았다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이러한 일련의 문제점을 해결하기 위해서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응용아키텍처의 관점에서 역할 수행이 반드시 필요하다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즉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산출물을 참고하여 소프트웨어 아키텍처를 수립하고 이를 기반으로 응용아키텍처를 구현하여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 반영하는 일관된 수행절차와 방법을 수립하는 것이 중요하다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I.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1. </a:t>
            </a:r>
            <a:r>
              <a:rPr lang="ko-KR" altLang="en-US" sz="1800" smtClean="0">
                <a:solidFill>
                  <a:srgbClr val="000000"/>
                </a:solidFill>
              </a:rPr>
              <a:t>추진 배경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개선방향 및 기대효과</a:t>
            </a:r>
            <a:endParaRPr lang="en-US" altLang="ko-KR" smtClean="0"/>
          </a:p>
        </p:txBody>
      </p:sp>
      <p:sp>
        <p:nvSpPr>
          <p:cNvPr id="5" name="내용 개체 틀 13"/>
          <p:cNvSpPr txBox="1">
            <a:spLocks/>
          </p:cNvSpPr>
          <p:nvPr/>
        </p:nvSpPr>
        <p:spPr>
          <a:xfrm>
            <a:off x="4867275" y="903288"/>
            <a:ext cx="4719638" cy="62976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왼쪽 그림에서 보듯이 시스템 구축프로젝트의 조직구성은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역할을 명확히 구분하는 경우가 일반적이다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없이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만으로 프로젝트를 진행하는 경우도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.) 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구분되어 진행할 때 흔히 발생할 수 있는 문제점은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서로의 역할에 대해 긴밀히 협조해야 함에도 불구하고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영역이라 볼 수 있는 업무기능정의 및 통합관리 업무에 무관심하면서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자신의 기술기반 취약성을 알면서도 서로 의사소통이 미흡한 경우에 발생한다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없는 프로젝트인 경우는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기술분야의 중요한 이슈를 해결하고 리딩하는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역할을 병행해야 함에도 불구하고 기술기반 없이 업무기능관점에서만 접근하게 되어 결국 프로젝트의 성공 가능성이 낮아진다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또한 기존의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기술적 관점에서의 개발실무에만 집중되어 있거나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 반대로 상위 그림에만 치중함으로써 스스로 역할의 한계를 형성한 부분이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이를 해결하고자 본 문서는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역할수행 가이드를 제시함으로써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프로젝트 상황에 따라 응용아키텍처에 기반한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또는 소프트웨어 아키텍처에 기반한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로서 역할을 수행할 수 있는 방안을 확보하여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기술을 기반으로 하는 응용아키텍처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또는 응용관점의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로서 역할을 잘 수행할 수 있게 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이를 통해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프로젝트의 수행시 고객관점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즉 전사 아키텍처 운영 관점의 실효성 있는 프로젝트 산출물을 생성할 수 있게 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 단계부터 깊이 관여하여 물리적인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컴포넌트과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연계함으로써 프로젝트의 실질적 기여도를 높이는 효과를 얻게 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dirty="0">
              <a:solidFill>
                <a:srgbClr val="000000"/>
              </a:solidFill>
              <a:latin typeface="Arial" charset="0"/>
              <a:ea typeface="산돌고딕 M" pitchFamily="18" charset="-127"/>
            </a:endParaRPr>
          </a:p>
          <a:p>
            <a:pPr marL="93663" indent="-93663" algn="ctr" eaLnBrk="1" hangingPunct="1">
              <a:spcBef>
                <a:spcPct val="50000"/>
              </a:spcBef>
              <a:buFontTx/>
              <a:buChar char="•"/>
              <a:defRPr/>
            </a:pPr>
            <a:endParaRPr lang="ko-KR" altLang="en-US" dirty="0">
              <a:solidFill>
                <a:srgbClr val="000000"/>
              </a:solidFill>
              <a:latin typeface="Arial" charset="0"/>
              <a:ea typeface="산돌고딕 M" pitchFamily="18" charset="-127"/>
            </a:endParaRPr>
          </a:p>
          <a:p>
            <a:pPr marL="93663" indent="-93663" algn="ctr"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ko-KR" dirty="0">
              <a:solidFill>
                <a:srgbClr val="000000"/>
              </a:solidFill>
              <a:latin typeface="Arial" charset="0"/>
              <a:ea typeface="산돌고딕 M" pitchFamily="18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9460" name="그룹 49"/>
          <p:cNvGrpSpPr>
            <a:grpSpLocks/>
          </p:cNvGrpSpPr>
          <p:nvPr/>
        </p:nvGrpSpPr>
        <p:grpSpPr bwMode="auto">
          <a:xfrm>
            <a:off x="514350" y="1222375"/>
            <a:ext cx="4257675" cy="2062163"/>
            <a:chOff x="514350" y="1222375"/>
            <a:chExt cx="4257675" cy="2062163"/>
          </a:xfrm>
        </p:grpSpPr>
        <p:grpSp>
          <p:nvGrpSpPr>
            <p:cNvPr id="19484" name="그룹 13"/>
            <p:cNvGrpSpPr>
              <a:grpSpLocks/>
            </p:cNvGrpSpPr>
            <p:nvPr/>
          </p:nvGrpSpPr>
          <p:grpSpPr bwMode="auto">
            <a:xfrm>
              <a:off x="1419225" y="1222375"/>
              <a:ext cx="1085850" cy="1168400"/>
              <a:chOff x="2543175" y="2241061"/>
              <a:chExt cx="1085850" cy="1169321"/>
            </a:xfrm>
          </p:grpSpPr>
          <p:pic>
            <p:nvPicPr>
              <p:cNvPr id="19506" name="Picture 7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00364" y="2241061"/>
                <a:ext cx="385762" cy="784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507" name="TextBox 11"/>
              <p:cNvSpPr txBox="1">
                <a:spLocks noChangeArrowheads="1"/>
              </p:cNvSpPr>
              <p:nvPr/>
            </p:nvSpPr>
            <p:spPr bwMode="auto">
              <a:xfrm>
                <a:off x="2543175" y="2971800"/>
                <a:ext cx="1085850" cy="438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S/W</a:t>
                </a:r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아키텍트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eaLnBrk="1" hangingPunct="1"/>
                <a:r>
                  <a:rPr lang="en-US" altLang="ko-KR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(SA)</a:t>
                </a:r>
              </a:p>
            </p:txBody>
          </p:sp>
        </p:grpSp>
        <p:grpSp>
          <p:nvGrpSpPr>
            <p:cNvPr id="19485" name="그룹 14"/>
            <p:cNvGrpSpPr>
              <a:grpSpLocks/>
            </p:cNvGrpSpPr>
            <p:nvPr/>
          </p:nvGrpSpPr>
          <p:grpSpPr bwMode="auto">
            <a:xfrm>
              <a:off x="2743200" y="1222375"/>
              <a:ext cx="1085850" cy="1144588"/>
              <a:chOff x="4552950" y="2532063"/>
              <a:chExt cx="1085850" cy="1145019"/>
            </a:xfrm>
          </p:grpSpPr>
          <p:pic>
            <p:nvPicPr>
              <p:cNvPr id="19504" name="Picture 8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18075" y="2532063"/>
                <a:ext cx="349250" cy="763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505" name="TextBox 12"/>
              <p:cNvSpPr txBox="1">
                <a:spLocks noChangeArrowheads="1"/>
              </p:cNvSpPr>
              <p:nvPr/>
            </p:nvSpPr>
            <p:spPr bwMode="auto">
              <a:xfrm>
                <a:off x="4552950" y="3238500"/>
                <a:ext cx="1085850" cy="438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응용 아키텍트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eaLnBrk="1" hangingPunct="1"/>
                <a:r>
                  <a:rPr lang="en-US" altLang="ko-KR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(AA)</a:t>
                </a:r>
              </a:p>
            </p:txBody>
          </p:sp>
        </p:grpSp>
        <p:grpSp>
          <p:nvGrpSpPr>
            <p:cNvPr id="19486" name="그룹 15"/>
            <p:cNvGrpSpPr>
              <a:grpSpLocks/>
            </p:cNvGrpSpPr>
            <p:nvPr/>
          </p:nvGrpSpPr>
          <p:grpSpPr bwMode="auto">
            <a:xfrm>
              <a:off x="514350" y="2208213"/>
              <a:ext cx="1085850" cy="1076325"/>
              <a:chOff x="4552950" y="2532063"/>
              <a:chExt cx="1085850" cy="1075769"/>
            </a:xfrm>
          </p:grpSpPr>
          <p:pic>
            <p:nvPicPr>
              <p:cNvPr id="19502" name="Picture 8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18075" y="2532063"/>
                <a:ext cx="349250" cy="763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503" name="TextBox 17"/>
              <p:cNvSpPr txBox="1">
                <a:spLocks noChangeArrowheads="1"/>
              </p:cNvSpPr>
              <p:nvPr/>
            </p:nvSpPr>
            <p:spPr bwMode="auto">
              <a:xfrm>
                <a:off x="4552950" y="3238500"/>
                <a:ext cx="108585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시스템공통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설계 개발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9487" name="그룹 18"/>
            <p:cNvGrpSpPr>
              <a:grpSpLocks/>
            </p:cNvGrpSpPr>
            <p:nvPr/>
          </p:nvGrpSpPr>
          <p:grpSpPr bwMode="auto">
            <a:xfrm>
              <a:off x="2190750" y="2208213"/>
              <a:ext cx="1085850" cy="1076325"/>
              <a:chOff x="4552950" y="2532063"/>
              <a:chExt cx="1085850" cy="1075769"/>
            </a:xfrm>
          </p:grpSpPr>
          <p:pic>
            <p:nvPicPr>
              <p:cNvPr id="19500" name="Picture 8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18075" y="2532063"/>
                <a:ext cx="349250" cy="763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501" name="TextBox 20"/>
              <p:cNvSpPr txBox="1">
                <a:spLocks noChangeArrowheads="1"/>
              </p:cNvSpPr>
              <p:nvPr/>
            </p:nvSpPr>
            <p:spPr bwMode="auto">
              <a:xfrm>
                <a:off x="4552950" y="3238500"/>
                <a:ext cx="108585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업무공통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개발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9488" name="그룹 21"/>
            <p:cNvGrpSpPr>
              <a:grpSpLocks/>
            </p:cNvGrpSpPr>
            <p:nvPr/>
          </p:nvGrpSpPr>
          <p:grpSpPr bwMode="auto">
            <a:xfrm>
              <a:off x="3686175" y="2208213"/>
              <a:ext cx="1085850" cy="1076325"/>
              <a:chOff x="4552950" y="2532063"/>
              <a:chExt cx="1085850" cy="1075769"/>
            </a:xfrm>
          </p:grpSpPr>
          <p:pic>
            <p:nvPicPr>
              <p:cNvPr id="19498" name="Picture 8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18075" y="2532063"/>
                <a:ext cx="349250" cy="763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499" name="TextBox 23"/>
              <p:cNvSpPr txBox="1">
                <a:spLocks noChangeArrowheads="1"/>
              </p:cNvSpPr>
              <p:nvPr/>
            </p:nvSpPr>
            <p:spPr bwMode="auto">
              <a:xfrm>
                <a:off x="4552950" y="3238500"/>
                <a:ext cx="108585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업무공통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분석설계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9489" name="직선 연결선 25"/>
            <p:cNvCxnSpPr>
              <a:cxnSpLocks noChangeShapeType="1"/>
            </p:cNvCxnSpPr>
            <p:nvPr/>
          </p:nvCxnSpPr>
          <p:spPr bwMode="auto">
            <a:xfrm flipV="1">
              <a:off x="2162175" y="1609725"/>
              <a:ext cx="828675" cy="476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0" name="직선 연결선 30"/>
            <p:cNvCxnSpPr>
              <a:cxnSpLocks noChangeShapeType="1"/>
            </p:cNvCxnSpPr>
            <p:nvPr/>
          </p:nvCxnSpPr>
          <p:spPr bwMode="auto">
            <a:xfrm rot="5400000">
              <a:off x="1133475" y="1809750"/>
              <a:ext cx="666750" cy="47625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1" name="직선 연결선 33"/>
            <p:cNvCxnSpPr>
              <a:cxnSpLocks noChangeShapeType="1"/>
            </p:cNvCxnSpPr>
            <p:nvPr/>
          </p:nvCxnSpPr>
          <p:spPr bwMode="auto">
            <a:xfrm rot="16200000" flipH="1">
              <a:off x="2181225" y="1790700"/>
              <a:ext cx="428625" cy="42862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2" name="직선 연결선 37"/>
            <p:cNvCxnSpPr>
              <a:cxnSpLocks noChangeShapeType="1"/>
            </p:cNvCxnSpPr>
            <p:nvPr/>
          </p:nvCxnSpPr>
          <p:spPr bwMode="auto">
            <a:xfrm rot="5400000">
              <a:off x="2695575" y="1847850"/>
              <a:ext cx="457200" cy="28575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3" name="직선 연결선 40"/>
            <p:cNvCxnSpPr>
              <a:cxnSpLocks noChangeShapeType="1"/>
            </p:cNvCxnSpPr>
            <p:nvPr/>
          </p:nvCxnSpPr>
          <p:spPr bwMode="auto">
            <a:xfrm rot="16200000" flipH="1">
              <a:off x="3495675" y="1638300"/>
              <a:ext cx="619125" cy="58102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9494" name="그룹 53"/>
            <p:cNvGrpSpPr>
              <a:grpSpLocks/>
            </p:cNvGrpSpPr>
            <p:nvPr/>
          </p:nvGrpSpPr>
          <p:grpSpPr bwMode="auto">
            <a:xfrm>
              <a:off x="2495550" y="1419225"/>
              <a:ext cx="266700" cy="438150"/>
              <a:chOff x="5600700" y="3638550"/>
              <a:chExt cx="266700" cy="600075"/>
            </a:xfrm>
          </p:grpSpPr>
          <p:cxnSp>
            <p:nvCxnSpPr>
              <p:cNvPr id="19495" name="직선 연결선 47"/>
              <p:cNvCxnSpPr>
                <a:cxnSpLocks noChangeShapeType="1"/>
              </p:cNvCxnSpPr>
              <p:nvPr/>
            </p:nvCxnSpPr>
            <p:spPr bwMode="auto">
              <a:xfrm rot="5400000">
                <a:off x="5638800" y="3638550"/>
                <a:ext cx="228600" cy="22860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496" name="직선 연결선 50"/>
              <p:cNvCxnSpPr>
                <a:cxnSpLocks noChangeShapeType="1"/>
              </p:cNvCxnSpPr>
              <p:nvPr/>
            </p:nvCxnSpPr>
            <p:spPr bwMode="auto">
              <a:xfrm rot="10800000">
                <a:off x="5638800" y="3857625"/>
                <a:ext cx="190500" cy="17145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497" name="직선 연결선 52"/>
              <p:cNvCxnSpPr>
                <a:cxnSpLocks noChangeShapeType="1"/>
              </p:cNvCxnSpPr>
              <p:nvPr/>
            </p:nvCxnSpPr>
            <p:spPr bwMode="auto">
              <a:xfrm rot="5400000">
                <a:off x="5600700" y="4010025"/>
                <a:ext cx="228600" cy="22860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19461" name="TextBox 54"/>
          <p:cNvSpPr txBox="1">
            <a:spLocks noChangeArrowheads="1"/>
          </p:cNvSpPr>
          <p:nvPr/>
        </p:nvSpPr>
        <p:spPr bwMode="auto">
          <a:xfrm>
            <a:off x="514350" y="901700"/>
            <a:ext cx="1485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조직구성 사례</a:t>
            </a:r>
          </a:p>
        </p:txBody>
      </p:sp>
      <p:sp>
        <p:nvSpPr>
          <p:cNvPr id="19462" name="TextBox 55"/>
          <p:cNvSpPr txBox="1">
            <a:spLocks noChangeArrowheads="1"/>
          </p:cNvSpPr>
          <p:nvPr/>
        </p:nvSpPr>
        <p:spPr bwMode="auto">
          <a:xfrm>
            <a:off x="468313" y="3392488"/>
            <a:ext cx="1485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아키텍처 팀 개선</a:t>
            </a:r>
          </a:p>
        </p:txBody>
      </p:sp>
      <p:grpSp>
        <p:nvGrpSpPr>
          <p:cNvPr id="19463" name="그룹 50"/>
          <p:cNvGrpSpPr>
            <a:grpSpLocks/>
          </p:cNvGrpSpPr>
          <p:nvPr/>
        </p:nvGrpSpPr>
        <p:grpSpPr bwMode="auto">
          <a:xfrm>
            <a:off x="571500" y="3740150"/>
            <a:ext cx="4257675" cy="2363788"/>
            <a:chOff x="571500" y="3740150"/>
            <a:chExt cx="4257675" cy="2363788"/>
          </a:xfrm>
        </p:grpSpPr>
        <p:sp>
          <p:nvSpPr>
            <p:cNvPr id="81" name="타원 80"/>
            <p:cNvSpPr/>
            <p:nvPr/>
          </p:nvSpPr>
          <p:spPr bwMode="auto">
            <a:xfrm>
              <a:off x="1781175" y="3857625"/>
              <a:ext cx="1771650" cy="6858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flat" cmpd="sng" algn="ctr">
              <a:noFill/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500" dirty="0">
                <a:latin typeface="Arial" charset="0"/>
                <a:ea typeface="굴림" charset="-127"/>
              </a:endParaRPr>
            </a:p>
          </p:txBody>
        </p:sp>
        <p:grpSp>
          <p:nvGrpSpPr>
            <p:cNvPr id="19466" name="그룹 62"/>
            <p:cNvGrpSpPr>
              <a:grpSpLocks/>
            </p:cNvGrpSpPr>
            <p:nvPr/>
          </p:nvGrpSpPr>
          <p:grpSpPr bwMode="auto">
            <a:xfrm>
              <a:off x="571500" y="4970463"/>
              <a:ext cx="1085850" cy="1076325"/>
              <a:chOff x="4552950" y="2532063"/>
              <a:chExt cx="1085850" cy="1075769"/>
            </a:xfrm>
          </p:grpSpPr>
          <p:pic>
            <p:nvPicPr>
              <p:cNvPr id="19482" name="Picture 8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18075" y="2532063"/>
                <a:ext cx="349250" cy="763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483" name="TextBox 64"/>
              <p:cNvSpPr txBox="1">
                <a:spLocks noChangeArrowheads="1"/>
              </p:cNvSpPr>
              <p:nvPr/>
            </p:nvSpPr>
            <p:spPr bwMode="auto">
              <a:xfrm>
                <a:off x="4552950" y="3238500"/>
                <a:ext cx="108585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시스템공통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설계 개발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9467" name="그룹 65"/>
            <p:cNvGrpSpPr>
              <a:grpSpLocks/>
            </p:cNvGrpSpPr>
            <p:nvPr/>
          </p:nvGrpSpPr>
          <p:grpSpPr bwMode="auto">
            <a:xfrm>
              <a:off x="2038350" y="5027613"/>
              <a:ext cx="1085850" cy="1076325"/>
              <a:chOff x="4552950" y="2532063"/>
              <a:chExt cx="1085850" cy="1075769"/>
            </a:xfrm>
          </p:grpSpPr>
          <p:pic>
            <p:nvPicPr>
              <p:cNvPr id="19480" name="Picture 8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18075" y="2532063"/>
                <a:ext cx="349250" cy="763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481" name="TextBox 67"/>
              <p:cNvSpPr txBox="1">
                <a:spLocks noChangeArrowheads="1"/>
              </p:cNvSpPr>
              <p:nvPr/>
            </p:nvSpPr>
            <p:spPr bwMode="auto">
              <a:xfrm>
                <a:off x="4552950" y="3238500"/>
                <a:ext cx="108585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업무공통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개발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9468" name="그룹 68"/>
            <p:cNvGrpSpPr>
              <a:grpSpLocks/>
            </p:cNvGrpSpPr>
            <p:nvPr/>
          </p:nvGrpSpPr>
          <p:grpSpPr bwMode="auto">
            <a:xfrm>
              <a:off x="3743325" y="4970463"/>
              <a:ext cx="1085850" cy="1076325"/>
              <a:chOff x="4552950" y="2532063"/>
              <a:chExt cx="1085850" cy="1075769"/>
            </a:xfrm>
          </p:grpSpPr>
          <p:pic>
            <p:nvPicPr>
              <p:cNvPr id="19478" name="Picture 8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18075" y="2532063"/>
                <a:ext cx="349250" cy="763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479" name="TextBox 70"/>
              <p:cNvSpPr txBox="1">
                <a:spLocks noChangeArrowheads="1"/>
              </p:cNvSpPr>
              <p:nvPr/>
            </p:nvSpPr>
            <p:spPr bwMode="auto">
              <a:xfrm>
                <a:off x="4552950" y="3238500"/>
                <a:ext cx="108585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업무공통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ko-KR" altLang="en-US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분석설계</a:t>
                </a: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9469" name="직선 연결선 72"/>
            <p:cNvCxnSpPr>
              <a:cxnSpLocks noChangeShapeType="1"/>
            </p:cNvCxnSpPr>
            <p:nvPr/>
          </p:nvCxnSpPr>
          <p:spPr bwMode="auto">
            <a:xfrm rot="5400000">
              <a:off x="1190625" y="4572000"/>
              <a:ext cx="666750" cy="47625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0" name="직선 연결선 73"/>
            <p:cNvCxnSpPr>
              <a:cxnSpLocks noChangeShapeType="1"/>
            </p:cNvCxnSpPr>
            <p:nvPr/>
          </p:nvCxnSpPr>
          <p:spPr bwMode="auto">
            <a:xfrm rot="16200000" flipH="1">
              <a:off x="2306638" y="4756150"/>
              <a:ext cx="515938" cy="26987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1" name="직선 연결선 75"/>
            <p:cNvCxnSpPr>
              <a:cxnSpLocks noChangeShapeType="1"/>
            </p:cNvCxnSpPr>
            <p:nvPr/>
          </p:nvCxnSpPr>
          <p:spPr bwMode="auto">
            <a:xfrm rot="16200000" flipH="1">
              <a:off x="3552825" y="4400550"/>
              <a:ext cx="619125" cy="58102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19472" name="Picture 1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8388" y="3740150"/>
              <a:ext cx="423862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3" name="TextBox 86"/>
            <p:cNvSpPr txBox="1">
              <a:spLocks noChangeArrowheads="1"/>
            </p:cNvSpPr>
            <p:nvPr/>
          </p:nvSpPr>
          <p:spPr bwMode="auto">
            <a:xfrm>
              <a:off x="1581150" y="4514850"/>
              <a:ext cx="1828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AA</a:t>
              </a:r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 기반한 </a:t>
              </a:r>
              <a:r>
                <a: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SA </a:t>
              </a:r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역할 수행</a:t>
              </a:r>
              <a:endPara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SA</a:t>
              </a:r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 기반한 </a:t>
              </a:r>
              <a:r>
                <a: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AA</a:t>
              </a:r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역할 수행</a:t>
              </a:r>
              <a:endPara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474" name="TextBox 92"/>
            <p:cNvSpPr txBox="1">
              <a:spLocks noChangeArrowheads="1"/>
            </p:cNvSpPr>
            <p:nvPr/>
          </p:nvSpPr>
          <p:spPr bwMode="auto">
            <a:xfrm>
              <a:off x="3325813" y="3990975"/>
              <a:ext cx="9747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+ Jr. SA </a:t>
              </a:r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또는 </a:t>
              </a:r>
              <a:endPara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Jr. AA</a:t>
              </a:r>
            </a:p>
          </p:txBody>
        </p:sp>
        <p:grpSp>
          <p:nvGrpSpPr>
            <p:cNvPr id="19475" name="그룹 94"/>
            <p:cNvGrpSpPr>
              <a:grpSpLocks/>
            </p:cNvGrpSpPr>
            <p:nvPr/>
          </p:nvGrpSpPr>
          <p:grpSpPr bwMode="auto">
            <a:xfrm>
              <a:off x="3070225" y="3829050"/>
              <a:ext cx="1203325" cy="574675"/>
              <a:chOff x="4918075" y="2532063"/>
              <a:chExt cx="1430289" cy="1068128"/>
            </a:xfrm>
          </p:grpSpPr>
          <p:pic>
            <p:nvPicPr>
              <p:cNvPr id="19476" name="Picture 8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18075" y="2532063"/>
                <a:ext cx="349250" cy="763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477" name="TextBox 96"/>
              <p:cNvSpPr txBox="1">
                <a:spLocks noChangeArrowheads="1"/>
              </p:cNvSpPr>
              <p:nvPr/>
            </p:nvSpPr>
            <p:spPr bwMode="auto">
              <a:xfrm>
                <a:off x="5262514" y="3171224"/>
                <a:ext cx="1085850" cy="4289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18460" name="아래쪽 화살표 97"/>
          <p:cNvSpPr>
            <a:spLocks noChangeArrowheads="1"/>
          </p:cNvSpPr>
          <p:nvPr/>
        </p:nvSpPr>
        <p:spPr bwMode="auto">
          <a:xfrm>
            <a:off x="2266950" y="3395663"/>
            <a:ext cx="933450" cy="30797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 w="12700" algn="ctr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29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I. </a:t>
            </a:r>
            <a:r>
              <a:rPr lang="ko-KR" altLang="en-US" sz="1800" smtClean="0"/>
              <a:t>개요 </a:t>
            </a:r>
            <a:br>
              <a:rPr lang="ko-KR" altLang="en-US" sz="1800" smtClean="0"/>
            </a:br>
            <a:r>
              <a:rPr lang="en-US" altLang="ko-KR" sz="1800" smtClean="0"/>
              <a:t>1. </a:t>
            </a:r>
            <a:r>
              <a:rPr lang="ko-KR" altLang="en-US" sz="1800" smtClean="0"/>
              <a:t>추진</a:t>
            </a:r>
            <a:r>
              <a:rPr lang="en-US" altLang="ko-KR" sz="1800" smtClean="0"/>
              <a:t> </a:t>
            </a:r>
            <a:r>
              <a:rPr lang="ko-KR" altLang="en-US" sz="1800" smtClean="0"/>
              <a:t>배경 </a:t>
            </a:r>
            <a:r>
              <a:rPr lang="en-US" altLang="ko-KR" sz="1800" smtClean="0"/>
              <a:t>&gt; EA</a:t>
            </a:r>
            <a:r>
              <a:rPr lang="ko-KR" altLang="en-US" sz="1800" smtClean="0"/>
              <a:t> 프레임워크에서 응용아키텍처 산출물</a:t>
            </a:r>
          </a:p>
        </p:txBody>
      </p:sp>
      <p:sp>
        <p:nvSpPr>
          <p:cNvPr id="21507" name="Rectangle 13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14325" y="895350"/>
            <a:ext cx="9329738" cy="67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Font typeface="돋움" panose="020B0600000101010101" pitchFamily="50" charset="-127"/>
              <a:buNone/>
            </a:pPr>
            <a:r>
              <a:rPr lang="en-US" altLang="ko-KR" sz="1200" b="0" smtClean="0"/>
              <a:t>EA </a:t>
            </a:r>
            <a:r>
              <a:rPr lang="ko-KR" altLang="en-US" sz="1200" b="0" smtClean="0"/>
              <a:t>프레임워크에서 응용아키텍처란 업무를 지원하는 응용서비스 및 응용시스템과 이들간의 관계를 식별하고 정의한 구조이다</a:t>
            </a:r>
            <a:r>
              <a:rPr lang="en-US" altLang="ko-KR" sz="1200" b="0" smtClean="0"/>
              <a:t>. </a:t>
            </a:r>
            <a:r>
              <a:rPr lang="ko-KR" altLang="en-US" sz="1200" b="0" smtClean="0"/>
              <a:t>구축 프로젝트를 수행할 때 이러한 전사 아키텍처에 기반하여 진행해야 조직이 추구하는 목표를 달성할 수 있다</a:t>
            </a:r>
            <a:r>
              <a:rPr lang="en-US" altLang="ko-KR" sz="1200" b="0" smtClean="0"/>
              <a:t>. </a:t>
            </a:r>
            <a:r>
              <a:rPr lang="ko-KR" altLang="en-US" sz="1200" b="0" smtClean="0"/>
              <a:t>분문에서는 아래표의 응용 아키텍처의 시각</a:t>
            </a:r>
            <a:r>
              <a:rPr lang="en-US" altLang="ko-KR" sz="1200" b="0" smtClean="0"/>
              <a:t>(Perspective)</a:t>
            </a:r>
            <a:r>
              <a:rPr lang="ko-KR" altLang="en-US" sz="1200" b="0" smtClean="0"/>
              <a:t>에 대한 산출물이 구축 프로젝트에서의 수행활동에 어떻게 연관 되는지에 대해 알아볼 것이다</a:t>
            </a:r>
            <a:r>
              <a:rPr lang="en-US" altLang="ko-KR" sz="1200" b="0" smtClean="0"/>
              <a:t>.</a:t>
            </a:r>
            <a:r>
              <a:rPr lang="ko-KR" altLang="en-US" sz="1200" b="0" smtClean="0"/>
              <a:t> </a:t>
            </a:r>
          </a:p>
        </p:txBody>
      </p:sp>
      <p:sp>
        <p:nvSpPr>
          <p:cNvPr id="21508" name="자유형 65"/>
          <p:cNvSpPr>
            <a:spLocks noChangeArrowheads="1"/>
          </p:cNvSpPr>
          <p:nvPr/>
        </p:nvSpPr>
        <p:spPr bwMode="auto">
          <a:xfrm>
            <a:off x="3808413" y="1981200"/>
            <a:ext cx="209550" cy="479425"/>
          </a:xfrm>
          <a:custGeom>
            <a:avLst/>
            <a:gdLst>
              <a:gd name="T0" fmla="*/ 180975 w 209550"/>
              <a:gd name="T1" fmla="*/ 714270 h 476250"/>
              <a:gd name="T2" fmla="*/ 0 w 209550"/>
              <a:gd name="T3" fmla="*/ 0 h 476250"/>
              <a:gd name="T4" fmla="*/ 209550 w 209550"/>
              <a:gd name="T5" fmla="*/ 0 h 476250"/>
              <a:gd name="T6" fmla="*/ 180975 w 209550"/>
              <a:gd name="T7" fmla="*/ 714270 h 476250"/>
              <a:gd name="T8" fmla="*/ 0 60000 65536"/>
              <a:gd name="T9" fmla="*/ 0 60000 65536"/>
              <a:gd name="T10" fmla="*/ 0 60000 65536"/>
              <a:gd name="T11" fmla="*/ 0 60000 65536"/>
              <a:gd name="T12" fmla="*/ 0 w 209550"/>
              <a:gd name="T13" fmla="*/ 0 h 476250"/>
              <a:gd name="T14" fmla="*/ 209550 w 209550"/>
              <a:gd name="T15" fmla="*/ 476250 h 4762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9550" h="476250">
                <a:moveTo>
                  <a:pt x="180975" y="476250"/>
                </a:moveTo>
                <a:lnTo>
                  <a:pt x="0" y="0"/>
                </a:lnTo>
                <a:lnTo>
                  <a:pt x="209550" y="0"/>
                </a:lnTo>
                <a:lnTo>
                  <a:pt x="180975" y="4762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1509" name="Text Box 12"/>
          <p:cNvSpPr txBox="1">
            <a:spLocks noChangeArrowheads="1"/>
          </p:cNvSpPr>
          <p:nvPr/>
        </p:nvSpPr>
        <p:spPr bwMode="gray">
          <a:xfrm>
            <a:off x="1443038" y="1550988"/>
            <a:ext cx="2281237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marL="114300" indent="-1143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응용아키텍처 산출물 구성</a:t>
            </a:r>
          </a:p>
        </p:txBody>
      </p:sp>
      <p:graphicFrame>
        <p:nvGraphicFramePr>
          <p:cNvPr id="21" name="Group 70"/>
          <p:cNvGraphicFramePr>
            <a:graphicFrameLocks noGrp="1"/>
          </p:cNvGraphicFramePr>
          <p:nvPr/>
        </p:nvGraphicFramePr>
        <p:xfrm>
          <a:off x="528638" y="1916113"/>
          <a:ext cx="4460876" cy="4392613"/>
        </p:xfrm>
        <a:graphic>
          <a:graphicData uri="http://schemas.openxmlformats.org/drawingml/2006/table">
            <a:tbl>
              <a:tblPr/>
              <a:tblGrid>
                <a:gridCol w="772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1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4188">
                <a:tc>
                  <a:txBody>
                    <a:bodyPr/>
                    <a:lstStyle/>
                    <a:p>
                      <a:pPr marL="0" marR="0" lvl="0" indent="0" algn="ctr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관점</a:t>
                      </a:r>
                    </a:p>
                  </a:txBody>
                  <a:tcPr marL="54000" marR="54000" marT="18000" marB="18000"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BA</a:t>
                      </a: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AA</a:t>
                      </a: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</a:t>
                      </a: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TA</a:t>
                      </a: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보안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4425">
                <a:tc>
                  <a:txBody>
                    <a:bodyPr/>
                    <a:lstStyle/>
                    <a:p>
                      <a:pPr marL="0" marR="0" lvl="0" indent="0" algn="ctr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정책</a:t>
                      </a:r>
                      <a:b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결정자</a:t>
                      </a:r>
                    </a:p>
                  </a:txBody>
                  <a:tcPr marL="54000" marR="54000" marT="18000" marB="18000"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6C9E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AV1</a:t>
                      </a:r>
                      <a:r>
                        <a:rPr kumimoji="1" lang="ko-KR" alt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응용시스템 구성도</a:t>
                      </a:r>
                      <a:r>
                        <a:rPr kumimoji="1" lang="en-US" altLang="ko-KR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정의서</a:t>
                      </a: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775">
                <a:tc>
                  <a:txBody>
                    <a:bodyPr/>
                    <a:lstStyle/>
                    <a:p>
                      <a:pPr marL="0" marR="0" lvl="0" indent="0" algn="ctr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</a:t>
                      </a:r>
                    </a:p>
                  </a:txBody>
                  <a:tcPr marL="54000" marR="54000" marT="18000" marB="18000"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6C9E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AV2</a:t>
                      </a:r>
                      <a:r>
                        <a:rPr kumimoji="1" lang="ko-KR" alt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응용시스템 관계도</a:t>
                      </a:r>
                    </a:p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AV3</a:t>
                      </a:r>
                      <a:r>
                        <a:rPr kumimoji="1" lang="ko-KR" alt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응용기능 분할도</a:t>
                      </a:r>
                      <a:r>
                        <a:rPr kumimoji="1" lang="en-US" altLang="ko-KR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기술서</a:t>
                      </a: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8525">
                <a:tc>
                  <a:txBody>
                    <a:bodyPr/>
                    <a:lstStyle/>
                    <a:p>
                      <a:pPr marL="0" marR="0" lvl="0" indent="0" algn="ctr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</a:p>
                  </a:txBody>
                  <a:tcPr marL="54000" marR="54000" marT="18000" marB="18000"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6C9E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AV4</a:t>
                      </a:r>
                      <a:r>
                        <a:rPr kumimoji="1" lang="ko-KR" alt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응용기능설계도</a:t>
                      </a:r>
                      <a:r>
                        <a:rPr kumimoji="1" lang="en-US" altLang="ko-KR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설계서</a:t>
                      </a: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marL="0" marR="0" lvl="0" indent="0" algn="ctr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b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운영자</a:t>
                      </a:r>
                    </a:p>
                  </a:txBody>
                  <a:tcPr marL="54000" marR="54000" marT="18000" marB="18000"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6C9E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AV5</a:t>
                      </a:r>
                      <a:r>
                        <a:rPr kumimoji="1" lang="ko-KR" alt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응용프로그램목록</a:t>
                      </a: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39382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138739" y="1689141"/>
            <a:ext cx="1239838" cy="3245160"/>
            <a:chOff x="3382" y="1293"/>
            <a:chExt cx="827" cy="2086"/>
          </a:xfrm>
          <a:solidFill>
            <a:schemeClr val="bg1">
              <a:lumMod val="95000"/>
            </a:schemeClr>
          </a:solidFill>
        </p:grpSpPr>
        <p:sp>
          <p:nvSpPr>
            <p:cNvPr id="14" name="AutoShape 8"/>
            <p:cNvSpPr>
              <a:spLocks noChangeArrowheads="1"/>
            </p:cNvSpPr>
            <p:nvPr/>
          </p:nvSpPr>
          <p:spPr bwMode="auto">
            <a:xfrm>
              <a:off x="3382" y="1293"/>
              <a:ext cx="827" cy="301"/>
            </a:xfrm>
            <a:prstGeom prst="foldedCorner">
              <a:avLst>
                <a:gd name="adj" fmla="val 12500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>
                  <a:latin typeface="맑은 고딕" pitchFamily="50" charset="-127"/>
                  <a:ea typeface="맑은 고딕" pitchFamily="50" charset="-127"/>
                </a:rPr>
                <a:t>응용시스템구성도</a:t>
              </a:r>
            </a:p>
          </p:txBody>
        </p:sp>
        <p:sp>
          <p:nvSpPr>
            <p:cNvPr id="15" name="AutoShape 9"/>
            <p:cNvSpPr>
              <a:spLocks noChangeArrowheads="1"/>
            </p:cNvSpPr>
            <p:nvPr/>
          </p:nvSpPr>
          <p:spPr bwMode="auto">
            <a:xfrm>
              <a:off x="3382" y="1616"/>
              <a:ext cx="827" cy="301"/>
            </a:xfrm>
            <a:prstGeom prst="foldedCorner">
              <a:avLst>
                <a:gd name="adj" fmla="val 12500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>
                  <a:latin typeface="맑은 고딕" pitchFamily="50" charset="-127"/>
                  <a:ea typeface="맑은 고딕" pitchFamily="50" charset="-127"/>
                </a:rPr>
                <a:t>응용시스템정의서</a:t>
              </a:r>
            </a:p>
          </p:txBody>
        </p:sp>
        <p:sp>
          <p:nvSpPr>
            <p:cNvPr id="16" name="AutoShape 10"/>
            <p:cNvSpPr>
              <a:spLocks noChangeArrowheads="1"/>
            </p:cNvSpPr>
            <p:nvPr/>
          </p:nvSpPr>
          <p:spPr bwMode="auto">
            <a:xfrm>
              <a:off x="3382" y="2022"/>
              <a:ext cx="827" cy="301"/>
            </a:xfrm>
            <a:prstGeom prst="foldedCorner">
              <a:avLst>
                <a:gd name="adj" fmla="val 12500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dirty="0">
                  <a:latin typeface="맑은 고딕" pitchFamily="50" charset="-127"/>
                  <a:ea typeface="맑은 고딕" pitchFamily="50" charset="-127"/>
                </a:rPr>
                <a:t>응용시스템관계도</a:t>
              </a:r>
            </a:p>
          </p:txBody>
        </p:sp>
        <p:sp>
          <p:nvSpPr>
            <p:cNvPr id="17" name="AutoShape 11"/>
            <p:cNvSpPr>
              <a:spLocks noChangeArrowheads="1"/>
            </p:cNvSpPr>
            <p:nvPr/>
          </p:nvSpPr>
          <p:spPr bwMode="auto">
            <a:xfrm>
              <a:off x="3382" y="2343"/>
              <a:ext cx="827" cy="301"/>
            </a:xfrm>
            <a:prstGeom prst="foldedCorner">
              <a:avLst>
                <a:gd name="adj" fmla="val 12500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>
                  <a:latin typeface="맑은 고딕" pitchFamily="50" charset="-127"/>
                  <a:ea typeface="맑은 고딕" pitchFamily="50" charset="-127"/>
                </a:rPr>
                <a:t>응용시스템관계기술서</a:t>
              </a:r>
            </a:p>
          </p:txBody>
        </p:sp>
        <p:sp>
          <p:nvSpPr>
            <p:cNvPr id="18" name="AutoShape 12"/>
            <p:cNvSpPr>
              <a:spLocks noChangeArrowheads="1"/>
            </p:cNvSpPr>
            <p:nvPr/>
          </p:nvSpPr>
          <p:spPr bwMode="auto">
            <a:xfrm>
              <a:off x="3382" y="2756"/>
              <a:ext cx="827" cy="301"/>
            </a:xfrm>
            <a:prstGeom prst="foldedCorner">
              <a:avLst>
                <a:gd name="adj" fmla="val 12500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>
                  <a:latin typeface="맑은 고딕" pitchFamily="50" charset="-127"/>
                  <a:ea typeface="맑은 고딕" pitchFamily="50" charset="-127"/>
                </a:rPr>
                <a:t>응용기능분할도</a:t>
              </a:r>
            </a:p>
          </p:txBody>
        </p:sp>
        <p:sp>
          <p:nvSpPr>
            <p:cNvPr id="19" name="AutoShape 13"/>
            <p:cNvSpPr>
              <a:spLocks noChangeArrowheads="1"/>
            </p:cNvSpPr>
            <p:nvPr/>
          </p:nvSpPr>
          <p:spPr bwMode="auto">
            <a:xfrm>
              <a:off x="3382" y="3078"/>
              <a:ext cx="827" cy="301"/>
            </a:xfrm>
            <a:prstGeom prst="foldedCorner">
              <a:avLst>
                <a:gd name="adj" fmla="val 12500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>
                  <a:latin typeface="맑은 고딕" pitchFamily="50" charset="-127"/>
                  <a:ea typeface="맑은 고딕" pitchFamily="50" charset="-127"/>
                </a:rPr>
                <a:t>응용기능기술서</a:t>
              </a:r>
            </a:p>
          </p:txBody>
        </p:sp>
      </p:grpSp>
      <p:sp>
        <p:nvSpPr>
          <p:cNvPr id="21567" name="Text Box 14"/>
          <p:cNvSpPr txBox="1">
            <a:spLocks noChangeArrowheads="1"/>
          </p:cNvSpPr>
          <p:nvPr/>
        </p:nvSpPr>
        <p:spPr bwMode="auto">
          <a:xfrm>
            <a:off x="6403975" y="1636713"/>
            <a:ext cx="3354388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최상위자 수준에서 기업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조직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의 업무를 지원하는 응용시스템 현황을 정의하여 응용아키텍처에 대한 빠른 이해와 이해 당사자간의 의사소통의 수단을 목적으로 사용됨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구성도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그림을 이용하여 다양하게 표현 하고 부연설명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주석 등을 추가 표현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정의서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응용서비스 구성도에 표현된 응용시스템에 대한 상세설명</a:t>
            </a:r>
          </a:p>
        </p:txBody>
      </p:sp>
      <p:sp>
        <p:nvSpPr>
          <p:cNvPr id="21568" name="Text Box 15"/>
          <p:cNvSpPr txBox="1">
            <a:spLocks noChangeArrowheads="1"/>
          </p:cNvSpPr>
          <p:nvPr/>
        </p:nvSpPr>
        <p:spPr bwMode="auto">
          <a:xfrm>
            <a:off x="6381750" y="2803525"/>
            <a:ext cx="33766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 수준에서 응용서비스간 관계 및 연관정보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연관된 외부서비스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기관을 정의하며 응용시스템간의 관계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요구사항식별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방향성 정의를 목적으로 사용됨</a:t>
            </a:r>
          </a:p>
          <a:p>
            <a:pPr algn="l" eaLnBrk="1" hangingPunct="1">
              <a:spcBef>
                <a:spcPct val="0"/>
              </a:spcBef>
              <a:buFontTx/>
              <a:buChar char="-"/>
            </a:pP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관계도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내부응용과 외부응용간의 관계를 표현 </a:t>
            </a:r>
            <a:endParaRPr lang="en-US" altLang="ko-KR" sz="900" b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spcBef>
                <a:spcPct val="0"/>
              </a:spcBef>
              <a:buFontTx/>
              <a:buChar char="-"/>
            </a:pP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응용시스템관계기술서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응용서비스 관계도에 표현된 </a:t>
            </a:r>
            <a:endParaRPr lang="en-US" altLang="ko-KR" sz="900" b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연계정보에 대한 상세설명</a:t>
            </a:r>
          </a:p>
        </p:txBody>
      </p:sp>
      <p:sp>
        <p:nvSpPr>
          <p:cNvPr id="21569" name="Text Box 16"/>
          <p:cNvSpPr txBox="1">
            <a:spLocks noChangeArrowheads="1"/>
          </p:cNvSpPr>
          <p:nvPr/>
        </p:nvSpPr>
        <p:spPr bwMode="auto">
          <a:xfrm>
            <a:off x="6381750" y="3960813"/>
            <a:ext cx="3365500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 수준에서 응용기능을 세부적으로 분석하고 관련    서비스 컴포넌트참조모형을 매핑하며 응용기능간의 계층적 구조를 식별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상세속성 파악을 목적으로 사용됨 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응용기능분할도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응용시스템의 기능을 레벨별로 계층화 하여 표현</a:t>
            </a:r>
          </a:p>
          <a:p>
            <a:pPr algn="l" eaLnBrk="1" hangingPunct="1">
              <a:spcBef>
                <a:spcPct val="0"/>
              </a:spcBef>
              <a:buFontTx/>
              <a:buChar char="-"/>
            </a:pP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 응용기능기술서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응용기능분할도에 표현된 응용기능별로 상세설명</a:t>
            </a:r>
          </a:p>
        </p:txBody>
      </p:sp>
      <p:sp>
        <p:nvSpPr>
          <p:cNvPr id="32" name="Freeform 227"/>
          <p:cNvSpPr>
            <a:spLocks/>
          </p:cNvSpPr>
          <p:nvPr/>
        </p:nvSpPr>
        <p:spPr bwMode="auto">
          <a:xfrm rot="5071872" flipV="1">
            <a:off x="3607594" y="1575594"/>
            <a:ext cx="935038" cy="2000250"/>
          </a:xfrm>
          <a:custGeom>
            <a:avLst/>
            <a:gdLst>
              <a:gd name="T0" fmla="*/ 2147483647 w 640"/>
              <a:gd name="T1" fmla="*/ 2147483647 h 816"/>
              <a:gd name="T2" fmla="*/ 2147483647 w 640"/>
              <a:gd name="T3" fmla="*/ 2147483647 h 816"/>
              <a:gd name="T4" fmla="*/ 2147483647 w 640"/>
              <a:gd name="T5" fmla="*/ 2147483647 h 816"/>
              <a:gd name="T6" fmla="*/ 2147483647 w 640"/>
              <a:gd name="T7" fmla="*/ 2147483647 h 816"/>
              <a:gd name="T8" fmla="*/ 2147483647 w 640"/>
              <a:gd name="T9" fmla="*/ 2147483647 h 816"/>
              <a:gd name="T10" fmla="*/ 2147483647 w 640"/>
              <a:gd name="T11" fmla="*/ 2147483647 h 816"/>
              <a:gd name="T12" fmla="*/ 2147483647 w 640"/>
              <a:gd name="T13" fmla="*/ 2147483647 h 816"/>
              <a:gd name="T14" fmla="*/ 2147483647 w 640"/>
              <a:gd name="T15" fmla="*/ 2147483647 h 81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40"/>
              <a:gd name="T25" fmla="*/ 0 h 816"/>
              <a:gd name="T26" fmla="*/ 640 w 640"/>
              <a:gd name="T27" fmla="*/ 816 h 81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40" h="816">
                <a:moveTo>
                  <a:pt x="556" y="2"/>
                </a:moveTo>
                <a:cubicBezTo>
                  <a:pt x="563" y="4"/>
                  <a:pt x="274" y="6"/>
                  <a:pt x="137" y="257"/>
                </a:cubicBezTo>
                <a:cubicBezTo>
                  <a:pt x="0" y="508"/>
                  <a:pt x="306" y="720"/>
                  <a:pt x="300" y="720"/>
                </a:cubicBezTo>
                <a:cubicBezTo>
                  <a:pt x="304" y="725"/>
                  <a:pt x="246" y="780"/>
                  <a:pt x="240" y="816"/>
                </a:cubicBezTo>
                <a:cubicBezTo>
                  <a:pt x="444" y="786"/>
                  <a:pt x="632" y="757"/>
                  <a:pt x="640" y="750"/>
                </a:cubicBezTo>
                <a:cubicBezTo>
                  <a:pt x="538" y="606"/>
                  <a:pt x="527" y="387"/>
                  <a:pt x="527" y="387"/>
                </a:cubicBezTo>
                <a:cubicBezTo>
                  <a:pt x="522" y="388"/>
                  <a:pt x="478" y="510"/>
                  <a:pt x="466" y="486"/>
                </a:cubicBezTo>
                <a:cubicBezTo>
                  <a:pt x="28" y="92"/>
                  <a:pt x="557" y="0"/>
                  <a:pt x="556" y="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571" name="직사각형 23"/>
          <p:cNvSpPr>
            <a:spLocks noChangeArrowheads="1"/>
          </p:cNvSpPr>
          <p:nvPr/>
        </p:nvSpPr>
        <p:spPr bwMode="auto">
          <a:xfrm>
            <a:off x="6381750" y="5208588"/>
            <a:ext cx="337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설계자 시각에서 응용시스템의 세부 응용기능을 응용기능간 관계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관련 논리데이터 등을 정의하는 산출물</a:t>
            </a:r>
          </a:p>
        </p:txBody>
      </p:sp>
      <p:sp>
        <p:nvSpPr>
          <p:cNvPr id="21572" name="직사각형 24"/>
          <p:cNvSpPr>
            <a:spLocks noChangeArrowheads="1"/>
          </p:cNvSpPr>
          <p:nvPr/>
        </p:nvSpPr>
        <p:spPr bwMode="auto">
          <a:xfrm>
            <a:off x="6381750" y="5822950"/>
            <a:ext cx="337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개발자 시각에서 응용시스템을 구현하는 응용프로그램을 정의하는 산출물</a:t>
            </a:r>
          </a:p>
        </p:txBody>
      </p:sp>
      <p:sp>
        <p:nvSpPr>
          <p:cNvPr id="26" name="AutoShape 12"/>
          <p:cNvSpPr>
            <a:spLocks noChangeArrowheads="1"/>
          </p:cNvSpPr>
          <p:nvPr/>
        </p:nvSpPr>
        <p:spPr bwMode="auto">
          <a:xfrm>
            <a:off x="5138738" y="5211763"/>
            <a:ext cx="1239837" cy="468312"/>
          </a:xfrm>
          <a:prstGeom prst="foldedCorner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응용기능설계서</a:t>
            </a:r>
          </a:p>
        </p:txBody>
      </p:sp>
      <p:sp>
        <p:nvSpPr>
          <p:cNvPr id="27" name="AutoShape 13"/>
          <p:cNvSpPr>
            <a:spLocks noChangeArrowheads="1"/>
          </p:cNvSpPr>
          <p:nvPr/>
        </p:nvSpPr>
        <p:spPr bwMode="auto">
          <a:xfrm>
            <a:off x="5138738" y="5822950"/>
            <a:ext cx="1239837" cy="468313"/>
          </a:xfrm>
          <a:prstGeom prst="foldedCorner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응용프로그램목록</a:t>
            </a:r>
          </a:p>
        </p:txBody>
      </p:sp>
      <p:sp>
        <p:nvSpPr>
          <p:cNvPr id="21575" name="TextBox 122"/>
          <p:cNvSpPr txBox="1">
            <a:spLocks noChangeArrowheads="1"/>
          </p:cNvSpPr>
          <p:nvPr/>
        </p:nvSpPr>
        <p:spPr bwMode="auto">
          <a:xfrm>
            <a:off x="704850" y="3194050"/>
            <a:ext cx="809625" cy="2460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</a:rPr>
              <a:t>1</a:t>
            </a:r>
            <a:r>
              <a:rPr lang="ko-KR" altLang="en-US">
                <a:solidFill>
                  <a:schemeClr val="bg1"/>
                </a:solidFill>
              </a:rPr>
              <a:t>레벨</a:t>
            </a:r>
          </a:p>
        </p:txBody>
      </p:sp>
      <p:sp>
        <p:nvSpPr>
          <p:cNvPr id="21576" name="AutoShape 73"/>
          <p:cNvSpPr>
            <a:spLocks noChangeArrowheads="1"/>
          </p:cNvSpPr>
          <p:nvPr/>
        </p:nvSpPr>
        <p:spPr bwMode="auto">
          <a:xfrm>
            <a:off x="53975" y="2335213"/>
            <a:ext cx="503238" cy="3887787"/>
          </a:xfrm>
          <a:prstGeom prst="downArrow">
            <a:avLst>
              <a:gd name="adj1" fmla="val 50000"/>
              <a:gd name="adj2" fmla="val 193139"/>
            </a:avLst>
          </a:prstGeom>
          <a:solidFill>
            <a:srgbClr val="DDDDDD"/>
          </a:solidFill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 vert="eaVert" wrap="none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4" name="Rectangle 79"/>
          <p:cNvSpPr>
            <a:spLocks noChangeArrowheads="1"/>
          </p:cNvSpPr>
          <p:nvPr/>
        </p:nvSpPr>
        <p:spPr bwMode="auto">
          <a:xfrm rot="5400000">
            <a:off x="-1131887" y="3670300"/>
            <a:ext cx="292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2400" dirty="0">
                <a:latin typeface="HY울릉도B" pitchFamily="18" charset="-127"/>
                <a:ea typeface="HY울릉도B" pitchFamily="18" charset="-127"/>
              </a:rPr>
              <a:t>시각</a:t>
            </a:r>
            <a:r>
              <a:rPr lang="en-US" altLang="ko-KR" sz="2400" dirty="0">
                <a:latin typeface="HY울릉도B" pitchFamily="18" charset="-127"/>
                <a:ea typeface="HY울릉도B" pitchFamily="18" charset="-127"/>
              </a:rPr>
              <a:t>(Perspective)</a:t>
            </a:r>
            <a:endParaRPr lang="ko-KR" altLang="en-US" sz="2400" dirty="0">
              <a:latin typeface="HY울릉도B" pitchFamily="18" charset="-127"/>
              <a:ea typeface="HY울릉도B" pitchFamily="18" charset="-127"/>
            </a:endParaRPr>
          </a:p>
        </p:txBody>
      </p:sp>
      <p:sp>
        <p:nvSpPr>
          <p:cNvPr id="21578" name="TextBox 122"/>
          <p:cNvSpPr txBox="1">
            <a:spLocks noChangeArrowheads="1"/>
          </p:cNvSpPr>
          <p:nvPr/>
        </p:nvSpPr>
        <p:spPr bwMode="auto">
          <a:xfrm>
            <a:off x="704850" y="4337050"/>
            <a:ext cx="809625" cy="2460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</a:rPr>
              <a:t>2</a:t>
            </a:r>
            <a:r>
              <a:rPr lang="ko-KR" altLang="en-US">
                <a:solidFill>
                  <a:schemeClr val="bg1"/>
                </a:solidFill>
              </a:rPr>
              <a:t>레벨</a:t>
            </a:r>
          </a:p>
        </p:txBody>
      </p:sp>
      <p:sp>
        <p:nvSpPr>
          <p:cNvPr id="21579" name="TextBox 122"/>
          <p:cNvSpPr txBox="1">
            <a:spLocks noChangeArrowheads="1"/>
          </p:cNvSpPr>
          <p:nvPr/>
        </p:nvSpPr>
        <p:spPr bwMode="auto">
          <a:xfrm>
            <a:off x="723900" y="5251450"/>
            <a:ext cx="809625" cy="2460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</a:rPr>
              <a:t>3</a:t>
            </a:r>
            <a:r>
              <a:rPr lang="ko-KR" altLang="en-US">
                <a:solidFill>
                  <a:schemeClr val="bg1"/>
                </a:solidFill>
              </a:rPr>
              <a:t>레벨</a:t>
            </a:r>
          </a:p>
        </p:txBody>
      </p:sp>
      <p:sp>
        <p:nvSpPr>
          <p:cNvPr id="21580" name="TextBox 122"/>
          <p:cNvSpPr txBox="1">
            <a:spLocks noChangeArrowheads="1"/>
          </p:cNvSpPr>
          <p:nvPr/>
        </p:nvSpPr>
        <p:spPr bwMode="auto">
          <a:xfrm>
            <a:off x="723900" y="6129338"/>
            <a:ext cx="809625" cy="24606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</a:rPr>
              <a:t>4</a:t>
            </a:r>
            <a:r>
              <a:rPr lang="ko-KR" altLang="en-US">
                <a:solidFill>
                  <a:schemeClr val="bg1"/>
                </a:solidFill>
              </a:rPr>
              <a:t>레벨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I. </a:t>
            </a:r>
            <a:r>
              <a:rPr lang="ko-KR" altLang="en-US" sz="1800" smtClean="0"/>
              <a:t>개요</a:t>
            </a:r>
            <a:r>
              <a:rPr lang="en-US" altLang="ko-KR" sz="1800" smtClean="0"/>
              <a:t/>
            </a:r>
            <a:br>
              <a:rPr lang="en-US" altLang="ko-KR" sz="1800" smtClean="0"/>
            </a:br>
            <a:r>
              <a:rPr lang="en-US" altLang="ko-KR" sz="1800" smtClean="0"/>
              <a:t>2. AA </a:t>
            </a:r>
            <a:r>
              <a:rPr lang="ko-KR" altLang="en-US" sz="1800" smtClean="0"/>
              <a:t>수행 업무 </a:t>
            </a:r>
            <a:r>
              <a:rPr lang="en-US" altLang="ko-KR" sz="1800" smtClean="0"/>
              <a:t>&gt; SA</a:t>
            </a:r>
            <a:r>
              <a:rPr lang="ko-KR" altLang="en-US" sz="1800" smtClean="0"/>
              <a:t>와 </a:t>
            </a:r>
            <a:r>
              <a:rPr lang="en-US" altLang="ko-KR" sz="1800" smtClean="0"/>
              <a:t>AA</a:t>
            </a:r>
            <a:r>
              <a:rPr lang="ko-KR" altLang="en-US" sz="1800" smtClean="0"/>
              <a:t>의 </a:t>
            </a:r>
            <a:r>
              <a:rPr lang="en-US" altLang="ko-KR" sz="1800" smtClean="0"/>
              <a:t>Activity </a:t>
            </a:r>
            <a:r>
              <a:rPr lang="ko-KR" altLang="en-US" sz="1800" smtClean="0"/>
              <a:t>흐름도</a:t>
            </a:r>
            <a:endParaRPr lang="en-US" altLang="ko-KR" sz="1800" smtClean="0"/>
          </a:p>
        </p:txBody>
      </p:sp>
      <p:sp>
        <p:nvSpPr>
          <p:cNvPr id="5" name="내용 개체 틀 13"/>
          <p:cNvSpPr txBox="1">
            <a:spLocks/>
          </p:cNvSpPr>
          <p:nvPr/>
        </p:nvSpPr>
        <p:spPr>
          <a:xfrm>
            <a:off x="404813" y="903288"/>
            <a:ext cx="9182100" cy="2762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업무흐름을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관점을 적용하여 도식화하면 다음과 같다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업무명 앞의 숫자는 뒤에 설명할 내용의 목차 순서이다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  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532" name="TextBox 213"/>
          <p:cNvSpPr txBox="1">
            <a:spLocks noChangeArrowheads="1"/>
          </p:cNvSpPr>
          <p:nvPr/>
        </p:nvSpPr>
        <p:spPr bwMode="auto">
          <a:xfrm>
            <a:off x="5276850" y="6194425"/>
            <a:ext cx="35814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* SA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의 세부공정은 소프트웨어 아키텍처방법론 참조</a:t>
            </a:r>
          </a:p>
        </p:txBody>
      </p:sp>
      <p:grpSp>
        <p:nvGrpSpPr>
          <p:cNvPr id="22533" name="그룹 108"/>
          <p:cNvGrpSpPr>
            <a:grpSpLocks/>
          </p:cNvGrpSpPr>
          <p:nvPr/>
        </p:nvGrpSpPr>
        <p:grpSpPr bwMode="auto">
          <a:xfrm>
            <a:off x="476250" y="1266825"/>
            <a:ext cx="9129713" cy="4845050"/>
            <a:chOff x="476250" y="1266825"/>
            <a:chExt cx="9129713" cy="4844264"/>
          </a:xfrm>
        </p:grpSpPr>
        <p:sp>
          <p:nvSpPr>
            <p:cNvPr id="90" name="TextBox 213"/>
            <p:cNvSpPr txBox="1">
              <a:spLocks noChangeArrowheads="1"/>
            </p:cNvSpPr>
            <p:nvPr/>
          </p:nvSpPr>
          <p:spPr bwMode="auto">
            <a:xfrm>
              <a:off x="479833" y="5554661"/>
              <a:ext cx="1060041" cy="5564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innerShdw blurRad="63500" dist="50800" dir="8100000">
                <a:prstClr val="black">
                  <a:alpha val="50000"/>
                </a:prstClr>
              </a:innerShdw>
            </a:effectLst>
          </p:spPr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dirty="0">
                  <a:latin typeface="맑은 고딕" pitchFamily="50" charset="-127"/>
                  <a:ea typeface="맑은 고딕" pitchFamily="50" charset="-127"/>
                </a:rPr>
                <a:t>소프트웨어 아키텍처공정 </a:t>
              </a:r>
              <a:endParaRPr lang="en-US" altLang="ko-KR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2" name="AutoShape 2"/>
            <p:cNvSpPr>
              <a:spLocks noChangeArrowheads="1"/>
            </p:cNvSpPr>
            <p:nvPr/>
          </p:nvSpPr>
          <p:spPr bwMode="auto">
            <a:xfrm>
              <a:off x="1262063" y="1660461"/>
              <a:ext cx="7948612" cy="3844301"/>
            </a:xfrm>
            <a:prstGeom prst="homePlate">
              <a:avLst>
                <a:gd name="adj" fmla="val 15881"/>
              </a:avLst>
            </a:prstGeom>
            <a:solidFill>
              <a:schemeClr val="bg1">
                <a:lumMod val="95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  <p:sp>
          <p:nvSpPr>
            <p:cNvPr id="84" name="모서리가 둥근 직사각형 83"/>
            <p:cNvSpPr/>
            <p:nvPr/>
          </p:nvSpPr>
          <p:spPr bwMode="auto">
            <a:xfrm>
              <a:off x="5105400" y="3536582"/>
              <a:ext cx="952500" cy="55236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7" name="모서리가 둥근 직사각형 126"/>
            <p:cNvSpPr/>
            <p:nvPr/>
          </p:nvSpPr>
          <p:spPr bwMode="auto">
            <a:xfrm>
              <a:off x="6791325" y="4190526"/>
              <a:ext cx="876300" cy="43807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8" name="모서리가 둥근 직사각형 107"/>
            <p:cNvSpPr/>
            <p:nvPr/>
          </p:nvSpPr>
          <p:spPr bwMode="auto">
            <a:xfrm>
              <a:off x="3448050" y="3038188"/>
              <a:ext cx="1066800" cy="47617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 bwMode="auto">
            <a:xfrm>
              <a:off x="2828925" y="3552454"/>
              <a:ext cx="1009650" cy="55236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3" name="모서리가 둥근 직사각형 102"/>
            <p:cNvSpPr/>
            <p:nvPr/>
          </p:nvSpPr>
          <p:spPr bwMode="auto">
            <a:xfrm>
              <a:off x="1695450" y="1962037"/>
              <a:ext cx="1552575" cy="590454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500" dirty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3" name="Group 175"/>
            <p:cNvGrpSpPr>
              <a:grpSpLocks/>
            </p:cNvGrpSpPr>
            <p:nvPr/>
          </p:nvGrpSpPr>
          <p:grpSpPr bwMode="auto">
            <a:xfrm>
              <a:off x="1248155" y="1266825"/>
              <a:ext cx="8122508" cy="532880"/>
              <a:chOff x="753" y="1568"/>
              <a:chExt cx="5852" cy="353"/>
            </a:xfrm>
            <a:solidFill>
              <a:srgbClr val="FFFFFF">
                <a:lumMod val="65000"/>
              </a:srgbClr>
            </a:solidFill>
          </p:grpSpPr>
          <p:sp>
            <p:nvSpPr>
              <p:cNvPr id="200" name="AutoShape 36"/>
              <p:cNvSpPr>
                <a:spLocks noChangeArrowheads="1"/>
              </p:cNvSpPr>
              <p:nvPr/>
            </p:nvSpPr>
            <p:spPr bwMode="auto">
              <a:xfrm>
                <a:off x="916" y="1644"/>
                <a:ext cx="4203" cy="202"/>
              </a:xfrm>
              <a:prstGeom prst="roundRect">
                <a:avLst>
                  <a:gd name="adj" fmla="val 50000"/>
                </a:avLst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1" latinLnBrk="1" hangingPunct="1">
                  <a:defRPr/>
                </a:pPr>
                <a:endParaRPr lang="ko-KR" altLang="en-US" sz="1100" b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4" name="Group 174"/>
              <p:cNvGrpSpPr>
                <a:grpSpLocks/>
              </p:cNvGrpSpPr>
              <p:nvPr/>
            </p:nvGrpSpPr>
            <p:grpSpPr bwMode="auto">
              <a:xfrm>
                <a:off x="753" y="1568"/>
                <a:ext cx="5852" cy="353"/>
                <a:chOff x="753" y="1948"/>
                <a:chExt cx="5852" cy="353"/>
              </a:xfrm>
              <a:grpFill/>
            </p:grpSpPr>
            <p:grpSp>
              <p:nvGrpSpPr>
                <p:cNvPr id="6" name="Group 163"/>
                <p:cNvGrpSpPr>
                  <a:grpSpLocks/>
                </p:cNvGrpSpPr>
                <p:nvPr/>
              </p:nvGrpSpPr>
              <p:grpSpPr bwMode="auto">
                <a:xfrm>
                  <a:off x="753" y="1948"/>
                  <a:ext cx="1696" cy="353"/>
                  <a:chOff x="753" y="1948"/>
                  <a:chExt cx="1696" cy="353"/>
                </a:xfrm>
                <a:grpFill/>
              </p:grpSpPr>
              <p:sp>
                <p:nvSpPr>
                  <p:cNvPr id="211" name="AutoShape 18"/>
                  <p:cNvSpPr>
                    <a:spLocks noChangeArrowheads="1"/>
                  </p:cNvSpPr>
                  <p:nvPr/>
                </p:nvSpPr>
                <p:spPr bwMode="auto">
                  <a:xfrm>
                    <a:off x="753" y="1948"/>
                    <a:ext cx="1427" cy="353"/>
                  </a:xfrm>
                  <a:prstGeom prst="chevron">
                    <a:avLst>
                      <a:gd name="adj" fmla="val 26341"/>
                    </a:avLst>
                  </a:prstGeom>
                  <a:grpFill/>
                  <a:ln w="2540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>
                    <a:outerShdw dist="28398" dir="3806097" algn="ctr" rotWithShape="0">
                      <a:srgbClr val="889DC6"/>
                    </a:outerShdw>
                  </a:effectLst>
                </p:spPr>
                <p:txBody>
                  <a:bodyPr wrap="none" anchor="ctr"/>
                  <a:lstStyle/>
                  <a:p>
                    <a:pPr algn="ctr" eaLnBrk="1" latinLnBrk="1" hangingPunct="1">
                      <a:defRPr/>
                    </a:pPr>
                    <a:endParaRPr lang="ko-KR" altLang="en-US" sz="1100" b="0">
                      <a:solidFill>
                        <a:srgbClr val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sp>
                <p:nvSpPr>
                  <p:cNvPr id="212" name="AutoShape 19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258" y="2084"/>
                    <a:ext cx="302" cy="81"/>
                  </a:xfrm>
                  <a:prstGeom prst="triangle">
                    <a:avLst>
                      <a:gd name="adj" fmla="val 50000"/>
                    </a:avLst>
                  </a:prstGeom>
                  <a:grpFill/>
                  <a:ln w="25400" algn="ctr">
                    <a:noFill/>
                    <a:miter lim="800000"/>
                    <a:headEnd/>
                    <a:tailEnd/>
                  </a:ln>
                </p:spPr>
                <p:txBody>
                  <a:bodyPr rot="10800000" vert="eaVert" wrap="none" anchor="ctr"/>
                  <a:lstStyle/>
                  <a:p>
                    <a:pPr algn="ctr" eaLnBrk="1" latinLnBrk="1" hangingPunct="1">
                      <a:defRPr/>
                    </a:pPr>
                    <a:endParaRPr lang="ko-KR" altLang="en-US" sz="1100" b="0">
                      <a:solidFill>
                        <a:srgbClr val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sp>
                <p:nvSpPr>
                  <p:cNvPr id="213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64" y="1989"/>
                    <a:ext cx="880" cy="285"/>
                  </a:xfrm>
                  <a:prstGeom prst="rect">
                    <a:avLst/>
                  </a:prstGeom>
                  <a:grp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 eaLnBrk="1" latinLnBrk="1" hangingPunct="1">
                      <a:defRPr/>
                    </a:pPr>
                    <a:r>
                      <a:rPr lang="en-US" altLang="ko-KR" sz="1100" b="0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Phase 1</a:t>
                    </a:r>
                    <a:br>
                      <a:rPr lang="en-US" altLang="ko-KR" sz="1100" b="0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rPr>
                    </a:br>
                    <a:r>
                      <a:rPr lang="ko-KR" altLang="en-US" sz="1100" b="0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응용시스템 정의</a:t>
                    </a:r>
                  </a:p>
                </p:txBody>
              </p:sp>
            </p:grpSp>
            <p:grpSp>
              <p:nvGrpSpPr>
                <p:cNvPr id="7" name="Group 164"/>
                <p:cNvGrpSpPr>
                  <a:grpSpLocks/>
                </p:cNvGrpSpPr>
                <p:nvPr/>
              </p:nvGrpSpPr>
              <p:grpSpPr bwMode="auto">
                <a:xfrm>
                  <a:off x="2153" y="1948"/>
                  <a:ext cx="3212" cy="353"/>
                  <a:chOff x="-116" y="1948"/>
                  <a:chExt cx="3212" cy="353"/>
                </a:xfrm>
                <a:grpFill/>
              </p:grpSpPr>
              <p:sp>
                <p:nvSpPr>
                  <p:cNvPr id="208" name="AutoShape 18"/>
                  <p:cNvSpPr>
                    <a:spLocks noChangeArrowheads="1"/>
                  </p:cNvSpPr>
                  <p:nvPr/>
                </p:nvSpPr>
                <p:spPr bwMode="auto">
                  <a:xfrm>
                    <a:off x="-116" y="1948"/>
                    <a:ext cx="3212" cy="353"/>
                  </a:xfrm>
                  <a:prstGeom prst="chevron">
                    <a:avLst>
                      <a:gd name="adj" fmla="val 26341"/>
                    </a:avLst>
                  </a:prstGeom>
                  <a:grpFill/>
                  <a:ln w="2540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>
                    <a:outerShdw dist="28398" dir="3806097" algn="ctr" rotWithShape="0">
                      <a:srgbClr val="889DC6"/>
                    </a:outerShdw>
                  </a:effectLst>
                </p:spPr>
                <p:txBody>
                  <a:bodyPr wrap="none" anchor="ctr"/>
                  <a:lstStyle/>
                  <a:p>
                    <a:pPr algn="ctr" eaLnBrk="1" latinLnBrk="1" hangingPunct="1">
                      <a:defRPr/>
                    </a:pPr>
                    <a:endParaRPr lang="ko-KR" altLang="en-US" sz="1100" b="0">
                      <a:solidFill>
                        <a:srgbClr val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sp>
                <p:nvSpPr>
                  <p:cNvPr id="209" name="AutoShape 19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258" y="2084"/>
                    <a:ext cx="302" cy="81"/>
                  </a:xfrm>
                  <a:prstGeom prst="triangle">
                    <a:avLst>
                      <a:gd name="adj" fmla="val 50000"/>
                    </a:avLst>
                  </a:prstGeom>
                  <a:grpFill/>
                  <a:ln w="25400" algn="ctr">
                    <a:noFill/>
                    <a:miter lim="800000"/>
                    <a:headEnd/>
                    <a:tailEnd/>
                  </a:ln>
                </p:spPr>
                <p:txBody>
                  <a:bodyPr rot="10800000" vert="eaVert" wrap="none" anchor="ctr"/>
                  <a:lstStyle/>
                  <a:p>
                    <a:pPr algn="ctr" eaLnBrk="1" latinLnBrk="1" hangingPunct="1">
                      <a:defRPr/>
                    </a:pPr>
                    <a:endParaRPr lang="ko-KR" altLang="en-US" sz="1100" b="0">
                      <a:solidFill>
                        <a:srgbClr val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sp>
                <p:nvSpPr>
                  <p:cNvPr id="210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95" y="2000"/>
                    <a:ext cx="952" cy="285"/>
                  </a:xfrm>
                  <a:prstGeom prst="rect">
                    <a:avLst/>
                  </a:prstGeom>
                  <a:grp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 eaLnBrk="1" latinLnBrk="1" hangingPunct="1">
                      <a:defRPr/>
                    </a:pPr>
                    <a:r>
                      <a:rPr lang="en-US" altLang="ko-KR" sz="1100" b="0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Phase 2</a:t>
                    </a:r>
                    <a:br>
                      <a:rPr lang="en-US" altLang="ko-KR" sz="1100" b="0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rPr>
                    </a:br>
                    <a:r>
                      <a:rPr lang="ko-KR" altLang="en-US" sz="1100" b="0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응용시스템 구현</a:t>
                    </a:r>
                    <a:r>
                      <a:rPr lang="en-US" altLang="ko-KR" sz="1100" b="0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  </a:t>
                    </a:r>
                    <a:endParaRPr lang="ko-KR" altLang="en-US" sz="1100" b="0" dirty="0">
                      <a:solidFill>
                        <a:srgbClr val="FFFFFF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</p:grpSp>
            <p:grpSp>
              <p:nvGrpSpPr>
                <p:cNvPr id="8" name="Group 173"/>
                <p:cNvGrpSpPr>
                  <a:grpSpLocks/>
                </p:cNvGrpSpPr>
                <p:nvPr/>
              </p:nvGrpSpPr>
              <p:grpSpPr bwMode="auto">
                <a:xfrm>
                  <a:off x="5319" y="1948"/>
                  <a:ext cx="1286" cy="353"/>
                  <a:chOff x="5319" y="1948"/>
                  <a:chExt cx="1286" cy="353"/>
                </a:xfrm>
                <a:grpFill/>
              </p:grpSpPr>
              <p:sp>
                <p:nvSpPr>
                  <p:cNvPr id="205" name="AutoShape 18"/>
                  <p:cNvSpPr>
                    <a:spLocks noChangeArrowheads="1"/>
                  </p:cNvSpPr>
                  <p:nvPr/>
                </p:nvSpPr>
                <p:spPr bwMode="auto">
                  <a:xfrm>
                    <a:off x="5319" y="1948"/>
                    <a:ext cx="1286" cy="353"/>
                  </a:xfrm>
                  <a:prstGeom prst="chevron">
                    <a:avLst>
                      <a:gd name="adj" fmla="val 21808"/>
                    </a:avLst>
                  </a:prstGeom>
                  <a:grpFill/>
                  <a:ln w="2540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>
                    <a:outerShdw dist="28398" dir="3806097" algn="ctr" rotWithShape="0">
                      <a:srgbClr val="889DC6"/>
                    </a:outerShdw>
                  </a:effectLst>
                </p:spPr>
                <p:txBody>
                  <a:bodyPr wrap="none" anchor="ctr"/>
                  <a:lstStyle/>
                  <a:p>
                    <a:pPr algn="ctr" eaLnBrk="1" latinLnBrk="1" hangingPunct="1">
                      <a:defRPr/>
                    </a:pPr>
                    <a:endParaRPr lang="ko-KR" altLang="en-US" sz="1100" b="0">
                      <a:solidFill>
                        <a:srgbClr val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sp>
                <p:nvSpPr>
                  <p:cNvPr id="206" name="AutoShape 19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5818" y="2081"/>
                    <a:ext cx="302" cy="88"/>
                  </a:xfrm>
                  <a:prstGeom prst="triangle">
                    <a:avLst>
                      <a:gd name="adj" fmla="val 50000"/>
                    </a:avLst>
                  </a:prstGeom>
                  <a:grpFill/>
                  <a:ln w="25400" algn="ctr">
                    <a:noFill/>
                    <a:miter lim="800000"/>
                    <a:headEnd/>
                    <a:tailEnd/>
                  </a:ln>
                </p:spPr>
                <p:txBody>
                  <a:bodyPr rot="10800000" vert="eaVert" wrap="none" anchor="ctr"/>
                  <a:lstStyle/>
                  <a:p>
                    <a:pPr algn="ctr" eaLnBrk="1" latinLnBrk="1" hangingPunct="1">
                      <a:defRPr/>
                    </a:pPr>
                    <a:endParaRPr lang="ko-KR" altLang="en-US" sz="1100" b="0">
                      <a:solidFill>
                        <a:srgbClr val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sp>
                <p:nvSpPr>
                  <p:cNvPr id="207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07" y="2000"/>
                    <a:ext cx="492" cy="285"/>
                  </a:xfrm>
                  <a:prstGeom prst="rect">
                    <a:avLst/>
                  </a:prstGeom>
                  <a:grp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 eaLnBrk="1" latinLnBrk="1" hangingPunct="1">
                      <a:defRPr/>
                    </a:pPr>
                    <a:r>
                      <a:rPr lang="en-US" altLang="ko-KR" sz="1100" b="0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Phase 3</a:t>
                    </a:r>
                    <a:br>
                      <a:rPr lang="en-US" altLang="ko-KR" sz="1100" b="0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rPr>
                    </a:br>
                    <a:r>
                      <a:rPr lang="en-US" altLang="ko-KR" sz="1100" b="0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EA </a:t>
                    </a:r>
                    <a:r>
                      <a:rPr lang="ko-KR" altLang="en-US" sz="1100" b="0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반영</a:t>
                    </a:r>
                  </a:p>
                </p:txBody>
              </p:sp>
            </p:grpSp>
          </p:grpSp>
        </p:grpSp>
        <p:grpSp>
          <p:nvGrpSpPr>
            <p:cNvPr id="22544" name="Group 203"/>
            <p:cNvGrpSpPr>
              <a:grpSpLocks/>
            </p:cNvGrpSpPr>
            <p:nvPr/>
          </p:nvGrpSpPr>
          <p:grpSpPr bwMode="auto">
            <a:xfrm>
              <a:off x="476250" y="1911350"/>
              <a:ext cx="1033463" cy="2249488"/>
              <a:chOff x="199" y="1971"/>
              <a:chExt cx="745" cy="1296"/>
            </a:xfrm>
          </p:grpSpPr>
          <p:grpSp>
            <p:nvGrpSpPr>
              <p:cNvPr id="22605" name="Group 177"/>
              <p:cNvGrpSpPr>
                <a:grpSpLocks/>
              </p:cNvGrpSpPr>
              <p:nvPr/>
            </p:nvGrpSpPr>
            <p:grpSpPr bwMode="auto">
              <a:xfrm>
                <a:off x="199" y="1971"/>
                <a:ext cx="743" cy="378"/>
                <a:chOff x="199" y="1510"/>
                <a:chExt cx="538" cy="193"/>
              </a:xfrm>
            </p:grpSpPr>
            <p:sp>
              <p:nvSpPr>
                <p:cNvPr id="22612" name="AutoShape 73"/>
                <p:cNvSpPr>
                  <a:spLocks noChangeArrowheads="1"/>
                </p:cNvSpPr>
                <p:nvPr/>
              </p:nvSpPr>
              <p:spPr bwMode="auto">
                <a:xfrm>
                  <a:off x="199" y="1510"/>
                  <a:ext cx="538" cy="193"/>
                </a:xfrm>
                <a:prstGeom prst="roundRect">
                  <a:avLst>
                    <a:gd name="adj" fmla="val 2750"/>
                  </a:avLst>
                </a:prstGeom>
                <a:solidFill>
                  <a:srgbClr val="BFBFBF"/>
                </a:solidFill>
                <a:ln w="9525" algn="ctr">
                  <a:solidFill>
                    <a:srgbClr val="003366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endParaRPr lang="ko-KR" altLang="ko-KR" sz="800" b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" name="Rectangle 202" descr="강-5단"/>
                <p:cNvSpPr>
                  <a:spLocks noChangeArrowheads="1"/>
                </p:cNvSpPr>
                <p:nvPr/>
              </p:nvSpPr>
              <p:spPr bwMode="auto">
                <a:xfrm>
                  <a:off x="248" y="1562"/>
                  <a:ext cx="484" cy="102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 eaLnBrk="1" fontAlgn="ctr" hangingPunct="1">
                    <a:spcBef>
                      <a:spcPct val="15000"/>
                    </a:spcBef>
                    <a:defRPr/>
                  </a:pPr>
                  <a:r>
                    <a:rPr kumimoji="0" lang="en-US" altLang="ko-KR" sz="1050" b="0" dirty="0">
                      <a:solidFill>
                        <a:srgbClr val="FFFFFF"/>
                      </a:solidFill>
                      <a:latin typeface="맑은 고딕" pitchFamily="50" charset="-127"/>
                      <a:ea typeface="맑은 고딕" pitchFamily="50" charset="-127"/>
                    </a:rPr>
                    <a:t>EA </a:t>
                  </a:r>
                  <a:r>
                    <a:rPr kumimoji="0" lang="ko-KR" altLang="en-US" sz="1050" b="0" dirty="0">
                      <a:solidFill>
                        <a:srgbClr val="FFFFFF"/>
                      </a:solidFill>
                      <a:latin typeface="맑은 고딕" pitchFamily="50" charset="-127"/>
                      <a:ea typeface="맑은 고딕" pitchFamily="50" charset="-127"/>
                    </a:rPr>
                    <a:t>담당자 협업</a:t>
                  </a:r>
                  <a:endParaRPr kumimoji="0" lang="en-US" altLang="ko-KR" sz="1050" b="0" dirty="0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  <a:p>
                  <a:pPr algn="ctr" eaLnBrk="1" fontAlgn="ctr" hangingPunct="1">
                    <a:spcBef>
                      <a:spcPct val="15000"/>
                    </a:spcBef>
                    <a:defRPr/>
                  </a:pPr>
                  <a:r>
                    <a:rPr kumimoji="0" lang="en-US" altLang="ko-KR" sz="1050" b="0" dirty="0">
                      <a:solidFill>
                        <a:srgbClr val="FFFFFF"/>
                      </a:solidFill>
                      <a:latin typeface="맑은 고딕" pitchFamily="50" charset="-127"/>
                      <a:ea typeface="맑은 고딕" pitchFamily="50" charset="-127"/>
                    </a:rPr>
                    <a:t>(</a:t>
                  </a:r>
                  <a:r>
                    <a:rPr kumimoji="0" lang="ko-KR" altLang="en-US" sz="1050" b="0" dirty="0">
                      <a:solidFill>
                        <a:srgbClr val="FFFFFF"/>
                      </a:solidFill>
                      <a:latin typeface="맑은 고딕" pitchFamily="50" charset="-127"/>
                      <a:ea typeface="맑은 고딕" pitchFamily="50" charset="-127"/>
                    </a:rPr>
                    <a:t>응용시스템</a:t>
                  </a:r>
                  <a:r>
                    <a:rPr kumimoji="0" lang="en-US" altLang="ko-KR" sz="1050" b="0" dirty="0">
                      <a:solidFill>
                        <a:srgbClr val="FFFFFF"/>
                      </a:solidFill>
                      <a:latin typeface="맑은 고딕" pitchFamily="50" charset="-127"/>
                      <a:ea typeface="맑은 고딕" pitchFamily="50" charset="-127"/>
                    </a:rPr>
                    <a:t>)</a:t>
                  </a:r>
                  <a:endParaRPr kumimoji="0" lang="ko-KR" altLang="en-US" sz="1050" b="0" dirty="0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  <p:grpSp>
            <p:nvGrpSpPr>
              <p:cNvPr id="22606" name="Group 194"/>
              <p:cNvGrpSpPr>
                <a:grpSpLocks/>
              </p:cNvGrpSpPr>
              <p:nvPr/>
            </p:nvGrpSpPr>
            <p:grpSpPr bwMode="auto">
              <a:xfrm>
                <a:off x="199" y="2373"/>
                <a:ext cx="745" cy="505"/>
                <a:chOff x="199" y="2378"/>
                <a:chExt cx="745" cy="505"/>
              </a:xfrm>
            </p:grpSpPr>
            <p:sp>
              <p:nvSpPr>
                <p:cNvPr id="22610" name="AutoShape 73"/>
                <p:cNvSpPr>
                  <a:spLocks noChangeArrowheads="1"/>
                </p:cNvSpPr>
                <p:nvPr/>
              </p:nvSpPr>
              <p:spPr bwMode="auto">
                <a:xfrm>
                  <a:off x="199" y="2378"/>
                  <a:ext cx="745" cy="505"/>
                </a:xfrm>
                <a:prstGeom prst="roundRect">
                  <a:avLst>
                    <a:gd name="adj" fmla="val 2750"/>
                  </a:avLst>
                </a:prstGeom>
                <a:solidFill>
                  <a:srgbClr val="969696"/>
                </a:solidFill>
                <a:ln w="9525" algn="ctr">
                  <a:solidFill>
                    <a:srgbClr val="003366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endParaRPr lang="ko-KR" altLang="ko-KR" sz="800" b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" name="Rectangle 202" descr="강-5단"/>
                <p:cNvSpPr>
                  <a:spLocks noChangeArrowheads="1"/>
                </p:cNvSpPr>
                <p:nvPr/>
              </p:nvSpPr>
              <p:spPr bwMode="auto">
                <a:xfrm>
                  <a:off x="403" y="2592"/>
                  <a:ext cx="301" cy="93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lIns="0" tIns="0" rIns="0" bIns="0" anchor="ctr">
                  <a:spAutoFit/>
                </a:bodyPr>
                <a:lstStyle/>
                <a:p>
                  <a:pPr algn="ctr" eaLnBrk="1" fontAlgn="ctr" hangingPunct="1">
                    <a:spcBef>
                      <a:spcPct val="15000"/>
                    </a:spcBef>
                    <a:defRPr/>
                  </a:pPr>
                  <a:r>
                    <a:rPr kumimoji="0" lang="en-US" altLang="ko-KR" sz="1050" b="0" dirty="0">
                      <a:solidFill>
                        <a:srgbClr val="FFFFFF"/>
                      </a:solidFill>
                      <a:latin typeface="맑은 고딕" pitchFamily="50" charset="-127"/>
                      <a:ea typeface="맑은 고딕" pitchFamily="50" charset="-127"/>
                    </a:rPr>
                    <a:t>SA</a:t>
                  </a:r>
                </a:p>
              </p:txBody>
            </p:sp>
          </p:grpSp>
          <p:grpSp>
            <p:nvGrpSpPr>
              <p:cNvPr id="22607" name="Group 199"/>
              <p:cNvGrpSpPr>
                <a:grpSpLocks/>
              </p:cNvGrpSpPr>
              <p:nvPr/>
            </p:nvGrpSpPr>
            <p:grpSpPr bwMode="auto">
              <a:xfrm>
                <a:off x="199" y="2899"/>
                <a:ext cx="745" cy="368"/>
                <a:chOff x="199" y="1261"/>
                <a:chExt cx="539" cy="188"/>
              </a:xfrm>
            </p:grpSpPr>
            <p:sp>
              <p:nvSpPr>
                <p:cNvPr id="22608" name="AutoShape 73"/>
                <p:cNvSpPr>
                  <a:spLocks noChangeArrowheads="1"/>
                </p:cNvSpPr>
                <p:nvPr/>
              </p:nvSpPr>
              <p:spPr bwMode="auto">
                <a:xfrm>
                  <a:off x="199" y="1261"/>
                  <a:ext cx="539" cy="188"/>
                </a:xfrm>
                <a:prstGeom prst="roundRect">
                  <a:avLst>
                    <a:gd name="adj" fmla="val 2750"/>
                  </a:avLst>
                </a:prstGeom>
                <a:solidFill>
                  <a:srgbClr val="BFBFBF"/>
                </a:solidFill>
                <a:ln w="9525" algn="ctr">
                  <a:solidFill>
                    <a:srgbClr val="003366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10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endParaRPr lang="ko-KR" altLang="ko-KR" sz="800" b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" name="Rectangle 202" descr="강-5단"/>
                <p:cNvSpPr>
                  <a:spLocks noChangeArrowheads="1"/>
                </p:cNvSpPr>
                <p:nvPr/>
              </p:nvSpPr>
              <p:spPr bwMode="auto">
                <a:xfrm>
                  <a:off x="298" y="1325"/>
                  <a:ext cx="376" cy="102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 eaLnBrk="1" fontAlgn="ctr" hangingPunct="1">
                    <a:spcBef>
                      <a:spcPct val="15000"/>
                    </a:spcBef>
                    <a:defRPr/>
                  </a:pPr>
                  <a:r>
                    <a:rPr kumimoji="0" lang="ko-KR" altLang="en-US" sz="1050" b="0" dirty="0">
                      <a:solidFill>
                        <a:srgbClr val="FFFFFF"/>
                      </a:solidFill>
                      <a:latin typeface="맑은 고딕" pitchFamily="50" charset="-127"/>
                      <a:ea typeface="맑은 고딕" pitchFamily="50" charset="-127"/>
                    </a:rPr>
                    <a:t>분석 설계자</a:t>
                  </a:r>
                  <a:endParaRPr kumimoji="0" lang="en-US" altLang="ko-KR" sz="1050" b="0" dirty="0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  <a:p>
                  <a:pPr algn="ctr" eaLnBrk="1" fontAlgn="ctr" hangingPunct="1">
                    <a:spcBef>
                      <a:spcPct val="15000"/>
                    </a:spcBef>
                    <a:defRPr/>
                  </a:pPr>
                  <a:r>
                    <a:rPr kumimoji="0" lang="ko-KR" altLang="en-US" sz="1050" b="0" dirty="0">
                      <a:solidFill>
                        <a:srgbClr val="FFFFFF"/>
                      </a:solidFill>
                      <a:latin typeface="맑은 고딕" pitchFamily="50" charset="-127"/>
                      <a:ea typeface="맑은 고딕" pitchFamily="50" charset="-127"/>
                    </a:rPr>
                    <a:t>협업</a:t>
                  </a:r>
                  <a:endParaRPr kumimoji="0" lang="en-US" altLang="ko-KR" sz="1050" b="0" dirty="0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22545" name="Rectangle 7" descr="s12"/>
            <p:cNvSpPr>
              <a:spLocks noChangeArrowheads="1"/>
            </p:cNvSpPr>
            <p:nvPr/>
          </p:nvSpPr>
          <p:spPr bwMode="auto">
            <a:xfrm>
              <a:off x="7923213" y="4657725"/>
              <a:ext cx="984250" cy="360363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매뉴얼작성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22546" name="직선 화살표 연결선 109"/>
            <p:cNvCxnSpPr>
              <a:cxnSpLocks noChangeShapeType="1"/>
              <a:stCxn id="22556" idx="0"/>
              <a:endCxn id="22549" idx="3"/>
            </p:cNvCxnSpPr>
            <p:nvPr/>
          </p:nvCxnSpPr>
          <p:spPr bwMode="auto">
            <a:xfrm rot="16200000" flipV="1">
              <a:off x="2578100" y="2832100"/>
              <a:ext cx="1362075" cy="174625"/>
            </a:xfrm>
            <a:prstGeom prst="bentConnector2">
              <a:avLst/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47" name="Rectangle 14" descr="s12"/>
            <p:cNvSpPr>
              <a:spLocks noChangeArrowheads="1"/>
            </p:cNvSpPr>
            <p:nvPr/>
          </p:nvSpPr>
          <p:spPr bwMode="auto">
            <a:xfrm>
              <a:off x="4364038" y="5064125"/>
              <a:ext cx="3246437" cy="360363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아키텍처 </a:t>
              </a:r>
              <a:r>
                <a:rPr kumimoji="0" lang="en-US" altLang="ko-KR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F/u</a:t>
              </a:r>
            </a:p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기술이슈 </a:t>
              </a:r>
              <a:r>
                <a:rPr kumimoji="0" lang="en-US" altLang="ko-KR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F/u</a:t>
              </a:r>
            </a:p>
          </p:txBody>
        </p:sp>
        <p:sp>
          <p:nvSpPr>
            <p:cNvPr id="22548" name="Rectangle 21" descr="s12"/>
            <p:cNvSpPr>
              <a:spLocks noChangeArrowheads="1"/>
            </p:cNvSpPr>
            <p:nvPr/>
          </p:nvSpPr>
          <p:spPr bwMode="auto">
            <a:xfrm>
              <a:off x="8093075" y="5064125"/>
              <a:ext cx="974725" cy="360363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응용시스템 이행</a:t>
              </a:r>
            </a:p>
          </p:txBody>
        </p:sp>
        <p:sp>
          <p:nvSpPr>
            <p:cNvPr id="22549" name="Rectangle 22" descr="s12"/>
            <p:cNvSpPr>
              <a:spLocks noChangeArrowheads="1"/>
            </p:cNvSpPr>
            <p:nvPr/>
          </p:nvSpPr>
          <p:spPr bwMode="auto">
            <a:xfrm>
              <a:off x="1762125" y="2022475"/>
              <a:ext cx="1409700" cy="431800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응용시스템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기능체계 수립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550" name="Rectangle 27" descr="강-4단"/>
            <p:cNvSpPr>
              <a:spLocks noChangeArrowheads="1"/>
            </p:cNvSpPr>
            <p:nvPr/>
          </p:nvSpPr>
          <p:spPr bwMode="auto">
            <a:xfrm>
              <a:off x="4114800" y="3600450"/>
              <a:ext cx="876300" cy="431800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비즈니스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컴포넌트정의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551" name="Rectangle 109" descr="s12"/>
            <p:cNvSpPr>
              <a:spLocks noChangeArrowheads="1"/>
            </p:cNvSpPr>
            <p:nvPr/>
          </p:nvSpPr>
          <p:spPr bwMode="auto">
            <a:xfrm>
              <a:off x="3667125" y="4238625"/>
              <a:ext cx="723900" cy="360363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프로토타입진행</a:t>
              </a:r>
            </a:p>
          </p:txBody>
        </p:sp>
        <p:sp>
          <p:nvSpPr>
            <p:cNvPr id="22552" name="Rectangle 21" descr="강-4단"/>
            <p:cNvSpPr>
              <a:spLocks noChangeArrowheads="1"/>
            </p:cNvSpPr>
            <p:nvPr/>
          </p:nvSpPr>
          <p:spPr bwMode="auto">
            <a:xfrm>
              <a:off x="5162550" y="3600450"/>
              <a:ext cx="847725" cy="431800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설계모델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리딩</a:t>
              </a:r>
            </a:p>
          </p:txBody>
        </p:sp>
        <p:sp>
          <p:nvSpPr>
            <p:cNvPr id="22553" name="Rectangle 21" descr="s12"/>
            <p:cNvSpPr>
              <a:spLocks noChangeArrowheads="1"/>
            </p:cNvSpPr>
            <p:nvPr/>
          </p:nvSpPr>
          <p:spPr bwMode="auto">
            <a:xfrm>
              <a:off x="6789738" y="3063875"/>
              <a:ext cx="839787" cy="360363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시스템테스트</a:t>
              </a:r>
              <a:r>
                <a:rPr kumimoji="0" lang="en-US" altLang="ko-KR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/</a:t>
              </a: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운영전환계획</a:t>
              </a:r>
            </a:p>
          </p:txBody>
        </p:sp>
        <p:sp>
          <p:nvSpPr>
            <p:cNvPr id="22554" name="Rectangle 21" descr="s12"/>
            <p:cNvSpPr>
              <a:spLocks noChangeArrowheads="1"/>
            </p:cNvSpPr>
            <p:nvPr/>
          </p:nvSpPr>
          <p:spPr bwMode="auto">
            <a:xfrm>
              <a:off x="3009900" y="4238625"/>
              <a:ext cx="612775" cy="360363"/>
            </a:xfrm>
            <a:prstGeom prst="rect">
              <a:avLst/>
            </a:prstGeom>
            <a:blipFill dpi="0" rotWithShape="1">
              <a:blip r:embed="rId6"/>
              <a:srcRect/>
              <a:stretch>
                <a:fillRect/>
              </a:stretch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개발환경정의</a:t>
              </a:r>
            </a:p>
          </p:txBody>
        </p:sp>
        <p:cxnSp>
          <p:nvCxnSpPr>
            <p:cNvPr id="22555" name="꺾인 연결선 139"/>
            <p:cNvCxnSpPr>
              <a:cxnSpLocks noChangeShapeType="1"/>
              <a:stCxn id="22556" idx="3"/>
              <a:endCxn id="22550" idx="1"/>
            </p:cNvCxnSpPr>
            <p:nvPr/>
          </p:nvCxnSpPr>
          <p:spPr bwMode="auto">
            <a:xfrm>
              <a:off x="3781425" y="3816350"/>
              <a:ext cx="333375" cy="158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6" name="Rectangle 21" descr="강-4단"/>
            <p:cNvSpPr>
              <a:spLocks noChangeArrowheads="1"/>
            </p:cNvSpPr>
            <p:nvPr/>
          </p:nvSpPr>
          <p:spPr bwMode="auto">
            <a:xfrm>
              <a:off x="2911475" y="3600450"/>
              <a:ext cx="869950" cy="431800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요구사항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분석모델 리딩</a:t>
              </a:r>
            </a:p>
          </p:txBody>
        </p:sp>
        <p:sp>
          <p:nvSpPr>
            <p:cNvPr id="22557" name="Rectangle 21" descr="강-4단"/>
            <p:cNvSpPr>
              <a:spLocks noChangeArrowheads="1"/>
            </p:cNvSpPr>
            <p:nvPr/>
          </p:nvSpPr>
          <p:spPr bwMode="auto">
            <a:xfrm>
              <a:off x="6845300" y="4238625"/>
              <a:ext cx="784225" cy="360363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컴포넌트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취합</a:t>
              </a:r>
              <a:r>
                <a:rPr kumimoji="0" lang="en-US" altLang="ko-KR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/</a:t>
              </a: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패키징</a:t>
              </a:r>
            </a:p>
          </p:txBody>
        </p:sp>
        <p:cxnSp>
          <p:nvCxnSpPr>
            <p:cNvPr id="22558" name="직선 화살표 연결선 109"/>
            <p:cNvCxnSpPr>
              <a:cxnSpLocks noChangeShapeType="1"/>
              <a:stCxn id="22549" idx="2"/>
              <a:endCxn id="22556" idx="1"/>
            </p:cNvCxnSpPr>
            <p:nvPr/>
          </p:nvCxnSpPr>
          <p:spPr bwMode="auto">
            <a:xfrm rot="16200000" flipH="1">
              <a:off x="2008187" y="2913063"/>
              <a:ext cx="1362075" cy="444500"/>
            </a:xfrm>
            <a:prstGeom prst="bentConnector2">
              <a:avLst/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2559" name="Group 217"/>
            <p:cNvGrpSpPr>
              <a:grpSpLocks/>
            </p:cNvGrpSpPr>
            <p:nvPr/>
          </p:nvGrpSpPr>
          <p:grpSpPr bwMode="auto">
            <a:xfrm>
              <a:off x="8250238" y="2940050"/>
              <a:ext cx="1355725" cy="1069975"/>
              <a:chOff x="2199" y="3801"/>
              <a:chExt cx="1152" cy="189"/>
            </a:xfrm>
          </p:grpSpPr>
          <p:sp>
            <p:nvSpPr>
              <p:cNvPr id="22603" name="Rectangle 62"/>
              <p:cNvSpPr>
                <a:spLocks noChangeArrowheads="1"/>
              </p:cNvSpPr>
              <p:nvPr/>
            </p:nvSpPr>
            <p:spPr bwMode="auto">
              <a:xfrm>
                <a:off x="2343" y="3801"/>
                <a:ext cx="1008" cy="18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ko-KR" altLang="en-US" sz="11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2604" name="Rectangle 63"/>
              <p:cNvSpPr>
                <a:spLocks noChangeArrowheads="1"/>
              </p:cNvSpPr>
              <p:nvPr/>
            </p:nvSpPr>
            <p:spPr bwMode="auto">
              <a:xfrm>
                <a:off x="2199" y="3801"/>
                <a:ext cx="148" cy="189"/>
              </a:xfrm>
              <a:prstGeom prst="rect">
                <a:avLst/>
              </a:prstGeom>
              <a:solidFill>
                <a:srgbClr val="B2B2B2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spcBef>
                    <a:spcPct val="0"/>
                  </a:spcBef>
                </a:pPr>
                <a:r>
                  <a:rPr lang="ko-KR" altLang="en-US" sz="800" b="0">
                    <a:solidFill>
                      <a:srgbClr val="FFFF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범</a:t>
                </a:r>
                <a:br>
                  <a:rPr lang="ko-KR" altLang="en-US" sz="800" b="0">
                    <a:solidFill>
                      <a:srgbClr val="FFFF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</a:br>
                <a:r>
                  <a:rPr lang="ko-KR" altLang="en-US" sz="800" b="0">
                    <a:solidFill>
                      <a:srgbClr val="FFFF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례</a:t>
                </a:r>
              </a:p>
            </p:txBody>
          </p:sp>
        </p:grpSp>
        <p:sp>
          <p:nvSpPr>
            <p:cNvPr id="22560" name="Rectangle 21" descr="강-4단"/>
            <p:cNvSpPr>
              <a:spLocks noChangeArrowheads="1"/>
            </p:cNvSpPr>
            <p:nvPr/>
          </p:nvSpPr>
          <p:spPr bwMode="auto">
            <a:xfrm>
              <a:off x="8507413" y="3036888"/>
              <a:ext cx="247650" cy="207962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endPara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561" name="TextBox 344"/>
            <p:cNvSpPr txBox="1">
              <a:spLocks noChangeArrowheads="1"/>
            </p:cNvSpPr>
            <p:nvPr/>
          </p:nvSpPr>
          <p:spPr bwMode="auto">
            <a:xfrm>
              <a:off x="8797925" y="3076575"/>
              <a:ext cx="61875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latinLnBrk="1" hangingPunct="1">
                <a:spcBef>
                  <a:spcPct val="0"/>
                </a:spcBef>
              </a:pPr>
              <a:r>
                <a:rPr kumimoji="0" lang="en-US" altLang="ko-KR" sz="800" b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AA </a:t>
              </a:r>
              <a:r>
                <a:rPr kumimoji="0" lang="ko-KR" altLang="en-US" sz="800" b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수행 영역</a:t>
              </a:r>
            </a:p>
          </p:txBody>
        </p:sp>
        <p:grpSp>
          <p:nvGrpSpPr>
            <p:cNvPr id="22562" name="그룹 232"/>
            <p:cNvGrpSpPr>
              <a:grpSpLocks/>
            </p:cNvGrpSpPr>
            <p:nvPr/>
          </p:nvGrpSpPr>
          <p:grpSpPr bwMode="auto">
            <a:xfrm>
              <a:off x="1562100" y="5548313"/>
              <a:ext cx="6200775" cy="550862"/>
              <a:chOff x="736735" y="1052513"/>
              <a:chExt cx="7430079" cy="936625"/>
            </a:xfrm>
          </p:grpSpPr>
          <p:sp>
            <p:nvSpPr>
              <p:cNvPr id="22600" name="AutoShape 3"/>
              <p:cNvSpPr>
                <a:spLocks noChangeArrowheads="1"/>
              </p:cNvSpPr>
              <p:nvPr/>
            </p:nvSpPr>
            <p:spPr bwMode="auto">
              <a:xfrm>
                <a:off x="1866655" y="1052513"/>
                <a:ext cx="1734827" cy="933927"/>
              </a:xfrm>
              <a:prstGeom prst="chevron">
                <a:avLst>
                  <a:gd name="adj" fmla="val 64688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9B9FF"/>
                  </a:gs>
                </a:gsLst>
                <a:lin ang="0" scaled="1"/>
              </a:gradFill>
              <a:ln w="3175" algn="ctr">
                <a:solidFill>
                  <a:srgbClr val="8F8FFF"/>
                </a:solidFill>
                <a:miter lim="800000"/>
                <a:headEnd/>
                <a:tailEnd/>
              </a:ln>
            </p:spPr>
            <p:txBody>
              <a:bodyPr tIns="36000" bIns="36000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ko-KR" altLang="en-US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아키텍처</a:t>
                </a:r>
                <a:endParaRPr lang="en-US" altLang="ko-KR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eaLnBrk="1" hangingPunct="1"/>
                <a:r>
                  <a:rPr lang="ko-KR" altLang="en-US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전략 정의</a:t>
                </a:r>
              </a:p>
            </p:txBody>
          </p:sp>
          <p:sp>
            <p:nvSpPr>
              <p:cNvPr id="22601" name="AutoShape 4"/>
              <p:cNvSpPr>
                <a:spLocks noChangeArrowheads="1"/>
              </p:cNvSpPr>
              <p:nvPr/>
            </p:nvSpPr>
            <p:spPr bwMode="auto">
              <a:xfrm>
                <a:off x="3259082" y="1052513"/>
                <a:ext cx="4907732" cy="935037"/>
              </a:xfrm>
              <a:prstGeom prst="chevron">
                <a:avLst>
                  <a:gd name="adj" fmla="val 65657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9B9FF"/>
                  </a:gs>
                </a:gsLst>
                <a:lin ang="0" scaled="1"/>
              </a:gradFill>
              <a:ln w="3175" algn="ctr">
                <a:solidFill>
                  <a:srgbClr val="8F8FFF"/>
                </a:solidFill>
                <a:miter lim="800000"/>
                <a:headEnd/>
                <a:tailEnd/>
              </a:ln>
            </p:spPr>
            <p:txBody>
              <a:bodyPr tIns="36000" bIns="36000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ko-KR" altLang="en-US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아키텍처</a:t>
                </a:r>
                <a:endParaRPr lang="en-US" altLang="ko-KR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ko-KR" altLang="en-US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수립 및 평가</a:t>
                </a:r>
              </a:p>
            </p:txBody>
          </p:sp>
          <p:sp>
            <p:nvSpPr>
              <p:cNvPr id="22602" name="AutoShape 6"/>
              <p:cNvSpPr>
                <a:spLocks noChangeArrowheads="1"/>
              </p:cNvSpPr>
              <p:nvPr/>
            </p:nvSpPr>
            <p:spPr bwMode="auto">
              <a:xfrm>
                <a:off x="736735" y="1052513"/>
                <a:ext cx="1472321" cy="936625"/>
              </a:xfrm>
              <a:prstGeom prst="homePlate">
                <a:avLst>
                  <a:gd name="adj" fmla="val 67448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9B9FF"/>
                  </a:gs>
                </a:gsLst>
                <a:lin ang="0" scaled="1"/>
              </a:gradFill>
              <a:ln w="3175" algn="ctr">
                <a:solidFill>
                  <a:srgbClr val="8F8FFF"/>
                </a:solidFill>
                <a:miter lim="800000"/>
                <a:headEnd/>
                <a:tailEnd/>
              </a:ln>
            </p:spPr>
            <p:txBody>
              <a:bodyPr tIns="36000" bIns="36000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ko-KR" altLang="en-US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아키텍처</a:t>
                </a:r>
              </a:p>
              <a:p>
                <a:pPr eaLnBrk="1" hangingPunct="1"/>
                <a:r>
                  <a:rPr lang="ko-KR" altLang="en-US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결정요인 도출</a:t>
                </a:r>
              </a:p>
            </p:txBody>
          </p:sp>
        </p:grpSp>
        <p:sp>
          <p:nvSpPr>
            <p:cNvPr id="234" name="AutoShape 73"/>
            <p:cNvSpPr>
              <a:spLocks noChangeArrowheads="1"/>
            </p:cNvSpPr>
            <p:nvPr/>
          </p:nvSpPr>
          <p:spPr bwMode="auto">
            <a:xfrm>
              <a:off x="476250" y="4209573"/>
              <a:ext cx="1033463" cy="1180908"/>
            </a:xfrm>
            <a:prstGeom prst="roundRect">
              <a:avLst>
                <a:gd name="adj" fmla="val 2750"/>
              </a:avLst>
            </a:prstGeom>
            <a:solidFill>
              <a:srgbClr val="FFFFFF">
                <a:lumMod val="75000"/>
              </a:srgbClr>
            </a:solidFill>
            <a:ln w="9525" algn="ctr">
              <a:solidFill>
                <a:srgbClr val="003366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ko-KR" altLang="en-US" sz="1050" b="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공통</a:t>
              </a:r>
              <a:r>
                <a:rPr lang="en-US" altLang="ko-KR" sz="1050" b="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/</a:t>
              </a:r>
              <a:r>
                <a:rPr lang="ko-KR" altLang="en-US" sz="1050" b="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업무 개발자</a:t>
              </a:r>
              <a:endParaRPr lang="en-US" altLang="ko-KR" sz="105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  <a:p>
              <a:pPr algn="ctr" eaLnBrk="1" hangingPunct="1">
                <a:defRPr/>
              </a:pPr>
              <a:r>
                <a:rPr lang="ko-KR" altLang="en-US" sz="1050" b="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협업</a:t>
              </a:r>
              <a:endParaRPr lang="ko-KR" altLang="ko-KR" sz="105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  <p:sp>
          <p:nvSpPr>
            <p:cNvPr id="22564" name="Rectangle 21" descr="강-4단"/>
            <p:cNvSpPr>
              <a:spLocks noChangeArrowheads="1"/>
            </p:cNvSpPr>
            <p:nvPr/>
          </p:nvSpPr>
          <p:spPr bwMode="auto">
            <a:xfrm>
              <a:off x="8166100" y="2022475"/>
              <a:ext cx="901700" cy="431800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en-US" altLang="ko-KR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EAMS</a:t>
              </a: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반영지원</a:t>
              </a:r>
            </a:p>
          </p:txBody>
        </p:sp>
        <p:sp>
          <p:nvSpPr>
            <p:cNvPr id="22565" name="Rectangle 109" descr="s12"/>
            <p:cNvSpPr>
              <a:spLocks noChangeArrowheads="1"/>
            </p:cNvSpPr>
            <p:nvPr/>
          </p:nvSpPr>
          <p:spPr bwMode="auto">
            <a:xfrm>
              <a:off x="5210175" y="4657725"/>
              <a:ext cx="2400300" cy="360363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구현이슈 </a:t>
              </a:r>
              <a:r>
                <a:rPr kumimoji="0" lang="en-US" altLang="ko-KR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F/u</a:t>
              </a:r>
              <a:endPara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566" name="Rectangle 21" descr="강-4단"/>
            <p:cNvSpPr>
              <a:spLocks noChangeArrowheads="1"/>
            </p:cNvSpPr>
            <p:nvPr/>
          </p:nvSpPr>
          <p:spPr bwMode="auto">
            <a:xfrm>
              <a:off x="6727825" y="3600450"/>
              <a:ext cx="901700" cy="431800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통합테스트</a:t>
              </a:r>
            </a:p>
          </p:txBody>
        </p:sp>
        <p:sp>
          <p:nvSpPr>
            <p:cNvPr id="22567" name="Rectangle 8" descr="s12"/>
            <p:cNvSpPr>
              <a:spLocks noChangeArrowheads="1"/>
            </p:cNvSpPr>
            <p:nvPr/>
          </p:nvSpPr>
          <p:spPr bwMode="auto">
            <a:xfrm>
              <a:off x="2705100" y="2657475"/>
              <a:ext cx="803275" cy="360363"/>
            </a:xfrm>
            <a:prstGeom prst="rect">
              <a:avLst/>
            </a:prstGeom>
            <a:blipFill dpi="0" rotWithShape="1">
              <a:blip r:embed="rId7"/>
              <a:srcRect/>
              <a:stretch>
                <a:fillRect/>
              </a:stretch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아키텍처전략수립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22568" name="꺾인 연결선 139"/>
            <p:cNvCxnSpPr>
              <a:cxnSpLocks noChangeShapeType="1"/>
              <a:stCxn id="22550" idx="3"/>
              <a:endCxn id="22552" idx="1"/>
            </p:cNvCxnSpPr>
            <p:nvPr/>
          </p:nvCxnSpPr>
          <p:spPr bwMode="auto">
            <a:xfrm>
              <a:off x="4991100" y="3816350"/>
              <a:ext cx="171450" cy="158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9" name="꺾인 연결선 139"/>
            <p:cNvCxnSpPr>
              <a:cxnSpLocks noChangeShapeType="1"/>
              <a:stCxn id="22552" idx="2"/>
              <a:endCxn id="22565" idx="1"/>
            </p:cNvCxnSpPr>
            <p:nvPr/>
          </p:nvCxnSpPr>
          <p:spPr bwMode="auto">
            <a:xfrm rot="5400000">
              <a:off x="4995862" y="4246563"/>
              <a:ext cx="804863" cy="376238"/>
            </a:xfrm>
            <a:prstGeom prst="bentConnector4">
              <a:avLst>
                <a:gd name="adj1" fmla="val 38824"/>
                <a:gd name="adj2" fmla="val 160759"/>
              </a:avLst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70" name="꺾인 연결선 139"/>
            <p:cNvCxnSpPr>
              <a:cxnSpLocks noChangeShapeType="1"/>
              <a:stCxn id="22566" idx="3"/>
              <a:endCxn id="22548" idx="1"/>
            </p:cNvCxnSpPr>
            <p:nvPr/>
          </p:nvCxnSpPr>
          <p:spPr bwMode="auto">
            <a:xfrm>
              <a:off x="7629525" y="3816350"/>
              <a:ext cx="463550" cy="1428750"/>
            </a:xfrm>
            <a:prstGeom prst="bentConnector3">
              <a:avLst>
                <a:gd name="adj1" fmla="val 38264"/>
              </a:avLst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71" name="Rectangle 109" descr="s12"/>
            <p:cNvSpPr>
              <a:spLocks noChangeArrowheads="1"/>
            </p:cNvSpPr>
            <p:nvPr/>
          </p:nvSpPr>
          <p:spPr bwMode="auto">
            <a:xfrm>
              <a:off x="5800725" y="4238625"/>
              <a:ext cx="949325" cy="360363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인스펙션</a:t>
              </a:r>
            </a:p>
          </p:txBody>
        </p:sp>
        <p:sp>
          <p:nvSpPr>
            <p:cNvPr id="22572" name="Rectangle 109" descr="s12"/>
            <p:cNvSpPr>
              <a:spLocks noChangeArrowheads="1"/>
            </p:cNvSpPr>
            <p:nvPr/>
          </p:nvSpPr>
          <p:spPr bwMode="auto">
            <a:xfrm>
              <a:off x="4364038" y="4657725"/>
              <a:ext cx="703262" cy="360363"/>
            </a:xfrm>
            <a:prstGeom prst="rect">
              <a:avLst/>
            </a:prstGeom>
            <a:blipFill dpi="0" rotWithShape="1">
              <a:blip r:embed="rId8"/>
              <a:srcRect/>
              <a:stretch>
                <a:fillRect/>
              </a:stretch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개발표준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리딩</a:t>
              </a:r>
            </a:p>
          </p:txBody>
        </p:sp>
        <p:cxnSp>
          <p:nvCxnSpPr>
            <p:cNvPr id="22573" name="꺾인 연결선 139"/>
            <p:cNvCxnSpPr>
              <a:cxnSpLocks noChangeShapeType="1"/>
              <a:stCxn id="22565" idx="3"/>
              <a:endCxn id="22564" idx="1"/>
            </p:cNvCxnSpPr>
            <p:nvPr/>
          </p:nvCxnSpPr>
          <p:spPr bwMode="auto">
            <a:xfrm flipV="1">
              <a:off x="7610475" y="2238375"/>
              <a:ext cx="555625" cy="2598738"/>
            </a:xfrm>
            <a:prstGeom prst="bentConnector3">
              <a:avLst>
                <a:gd name="adj1" fmla="val 23931"/>
              </a:avLst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74" name="Rectangle 21" descr="강-4단"/>
            <p:cNvSpPr>
              <a:spLocks noChangeArrowheads="1"/>
            </p:cNvSpPr>
            <p:nvPr/>
          </p:nvSpPr>
          <p:spPr bwMode="auto">
            <a:xfrm>
              <a:off x="8516938" y="3370263"/>
              <a:ext cx="247650" cy="207962"/>
            </a:xfrm>
            <a:prstGeom prst="rect">
              <a:avLst/>
            </a:prstGeom>
            <a:blipFill dpi="0" rotWithShape="1">
              <a:blip r:embed="rId9"/>
              <a:srcRect/>
              <a:stretch>
                <a:fillRect/>
              </a:stretch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endPara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575" name="TextBox 344"/>
            <p:cNvSpPr txBox="1">
              <a:spLocks noChangeArrowheads="1"/>
            </p:cNvSpPr>
            <p:nvPr/>
          </p:nvSpPr>
          <p:spPr bwMode="auto">
            <a:xfrm>
              <a:off x="8807450" y="3409950"/>
              <a:ext cx="60753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latinLnBrk="1" hangingPunct="1">
                <a:spcBef>
                  <a:spcPct val="0"/>
                </a:spcBef>
              </a:pPr>
              <a:r>
                <a:rPr kumimoji="0" lang="en-US" altLang="ko-KR" sz="800" b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SA </a:t>
              </a:r>
              <a:r>
                <a:rPr kumimoji="0" lang="ko-KR" altLang="en-US" sz="800" b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수행 영역</a:t>
              </a:r>
            </a:p>
          </p:txBody>
        </p:sp>
        <p:sp>
          <p:nvSpPr>
            <p:cNvPr id="22576" name="Rectangle 21" descr="강-4단"/>
            <p:cNvSpPr>
              <a:spLocks noChangeArrowheads="1"/>
            </p:cNvSpPr>
            <p:nvPr/>
          </p:nvSpPr>
          <p:spPr bwMode="auto">
            <a:xfrm>
              <a:off x="8516938" y="3694113"/>
              <a:ext cx="247650" cy="207962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endPara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577" name="TextBox 344"/>
            <p:cNvSpPr txBox="1">
              <a:spLocks noChangeArrowheads="1"/>
            </p:cNvSpPr>
            <p:nvPr/>
          </p:nvSpPr>
          <p:spPr bwMode="auto">
            <a:xfrm>
              <a:off x="8807450" y="3733800"/>
              <a:ext cx="728663" cy="122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latinLnBrk="1" hangingPunct="1">
                <a:spcBef>
                  <a:spcPct val="0"/>
                </a:spcBef>
              </a:pPr>
              <a:r>
                <a:rPr kumimoji="0" lang="en-US" altLang="ko-KR" sz="800" b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SA,AA </a:t>
              </a:r>
              <a:r>
                <a:rPr kumimoji="0" lang="ko-KR" altLang="en-US" sz="800" b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협업영역</a:t>
              </a:r>
            </a:p>
          </p:txBody>
        </p:sp>
        <p:sp>
          <p:nvSpPr>
            <p:cNvPr id="22578" name="Rectangle 109" descr="s12"/>
            <p:cNvSpPr>
              <a:spLocks noChangeArrowheads="1"/>
            </p:cNvSpPr>
            <p:nvPr/>
          </p:nvSpPr>
          <p:spPr bwMode="auto">
            <a:xfrm>
              <a:off x="3505200" y="3076575"/>
              <a:ext cx="949325" cy="360363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응용시스템 대내외 연계정의</a:t>
              </a:r>
            </a:p>
          </p:txBody>
        </p:sp>
        <p:sp>
          <p:nvSpPr>
            <p:cNvPr id="22579" name="Rectangle 14" descr="s12"/>
            <p:cNvSpPr>
              <a:spLocks noChangeArrowheads="1"/>
            </p:cNvSpPr>
            <p:nvPr/>
          </p:nvSpPr>
          <p:spPr bwMode="auto">
            <a:xfrm>
              <a:off x="1752600" y="2657475"/>
              <a:ext cx="904875" cy="360363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개발시스템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요구사항이해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580" name="TextBox 119"/>
            <p:cNvSpPr txBox="1">
              <a:spLocks noChangeArrowheads="1"/>
            </p:cNvSpPr>
            <p:nvPr/>
          </p:nvSpPr>
          <p:spPr bwMode="auto">
            <a:xfrm>
              <a:off x="2324100" y="2390775"/>
              <a:ext cx="942975" cy="246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응용</a:t>
              </a:r>
              <a:r>
                <a:rPr lang="en-US" altLang="ko-KR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1, 2</a:t>
              </a:r>
              <a:r>
                <a:rPr lang="ko-KR" altLang="en-US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레벨</a:t>
              </a:r>
            </a:p>
          </p:txBody>
        </p:sp>
        <p:sp>
          <p:nvSpPr>
            <p:cNvPr id="22581" name="TextBox 121"/>
            <p:cNvSpPr txBox="1">
              <a:spLocks noChangeArrowheads="1"/>
            </p:cNvSpPr>
            <p:nvPr/>
          </p:nvSpPr>
          <p:spPr bwMode="auto">
            <a:xfrm>
              <a:off x="3465382" y="3962400"/>
              <a:ext cx="885825" cy="246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응용</a:t>
              </a:r>
              <a:r>
                <a:rPr lang="en-US" altLang="ko-KR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2,3</a:t>
              </a:r>
              <a:r>
                <a:rPr lang="ko-KR" altLang="en-US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레벨</a:t>
              </a:r>
            </a:p>
          </p:txBody>
        </p:sp>
        <p:sp>
          <p:nvSpPr>
            <p:cNvPr id="22582" name="TextBox 122"/>
            <p:cNvSpPr txBox="1">
              <a:spLocks noChangeArrowheads="1"/>
            </p:cNvSpPr>
            <p:nvPr/>
          </p:nvSpPr>
          <p:spPr bwMode="auto">
            <a:xfrm>
              <a:off x="4343400" y="3098800"/>
              <a:ext cx="809625" cy="246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응용</a:t>
              </a:r>
              <a:r>
                <a:rPr lang="en-US" altLang="ko-KR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레벨</a:t>
              </a:r>
            </a:p>
          </p:txBody>
        </p:sp>
        <p:sp>
          <p:nvSpPr>
            <p:cNvPr id="22583" name="TextBox 123"/>
            <p:cNvSpPr txBox="1">
              <a:spLocks noChangeArrowheads="1"/>
            </p:cNvSpPr>
            <p:nvPr/>
          </p:nvSpPr>
          <p:spPr bwMode="auto">
            <a:xfrm>
              <a:off x="5543550" y="3935413"/>
              <a:ext cx="857250" cy="2460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응용</a:t>
              </a:r>
              <a:r>
                <a:rPr lang="en-US" altLang="ko-KR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</a:t>
              </a:r>
              <a:r>
                <a:rPr lang="ko-KR" altLang="en-US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레벨</a:t>
              </a:r>
            </a:p>
          </p:txBody>
        </p:sp>
        <p:sp>
          <p:nvSpPr>
            <p:cNvPr id="22584" name="TextBox 127"/>
            <p:cNvSpPr txBox="1">
              <a:spLocks noChangeArrowheads="1"/>
            </p:cNvSpPr>
            <p:nvPr/>
          </p:nvSpPr>
          <p:spPr bwMode="auto">
            <a:xfrm>
              <a:off x="7505700" y="4297363"/>
              <a:ext cx="857250" cy="2460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응용</a:t>
              </a:r>
              <a:r>
                <a:rPr lang="en-US" altLang="ko-KR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</a:t>
              </a:r>
              <a:r>
                <a:rPr lang="ko-KR" altLang="en-US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레벨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086725" y="2304882"/>
              <a:ext cx="266700" cy="33808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⑭</a:t>
              </a: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1787525" y="1914420"/>
              <a:ext cx="260350" cy="33967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①</a:t>
              </a:r>
              <a:endParaRPr lang="ko-KR" altLang="en-US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005763" y="4915896"/>
              <a:ext cx="247650" cy="33808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⑬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854950" y="4560354"/>
              <a:ext cx="228600" cy="33808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⑫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581775" y="3460394"/>
              <a:ext cx="266700" cy="33808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⑪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6726238" y="4117512"/>
              <a:ext cx="247650" cy="33808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⑩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762625" y="4190526"/>
              <a:ext cx="247650" cy="33808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⑨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229225" y="4533370"/>
              <a:ext cx="266700" cy="33808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⑧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667125" y="4466706"/>
              <a:ext cx="228600" cy="33808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⑦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068888" y="3428649"/>
              <a:ext cx="223837" cy="33808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⑥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040188" y="3465156"/>
              <a:ext cx="247650" cy="33808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⑤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2867025" y="3428649"/>
              <a:ext cx="228600" cy="33808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④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438525" y="2933430"/>
              <a:ext cx="266700" cy="33808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③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609725" y="2533444"/>
              <a:ext cx="266700" cy="33808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②</a:t>
              </a:r>
            </a:p>
          </p:txBody>
        </p:sp>
        <p:sp>
          <p:nvSpPr>
            <p:cNvPr id="22599" name="Rectangle 8" descr="s12"/>
            <p:cNvSpPr>
              <a:spLocks noChangeArrowheads="1"/>
            </p:cNvSpPr>
            <p:nvPr/>
          </p:nvSpPr>
          <p:spPr bwMode="auto">
            <a:xfrm>
              <a:off x="4057650" y="2657475"/>
              <a:ext cx="3571875" cy="360363"/>
            </a:xfrm>
            <a:prstGeom prst="rect">
              <a:avLst/>
            </a:prstGeom>
            <a:blipFill dpi="0" rotWithShape="1">
              <a:blip r:embed="rId10"/>
              <a:srcRect/>
              <a:stretch>
                <a:fillRect/>
              </a:stretch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소프트웨어아키텍처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개발</a:t>
              </a:r>
              <a:r>
                <a:rPr kumimoji="0" lang="en-US" altLang="ko-KR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/</a:t>
              </a:r>
              <a:r>
                <a:rPr kumimoji="0" lang="ko-KR" altLang="en-US" sz="900" b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정제</a:t>
              </a:r>
              <a:endPara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I.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2. AA </a:t>
            </a:r>
            <a:r>
              <a:rPr lang="ko-KR" altLang="en-US" sz="1800" smtClean="0">
                <a:solidFill>
                  <a:srgbClr val="000000"/>
                </a:solidFill>
              </a:rPr>
              <a:t>수행 업무</a:t>
            </a:r>
            <a:r>
              <a:rPr lang="en-US" altLang="ko-KR" sz="1800" smtClean="0">
                <a:solidFill>
                  <a:srgbClr val="000000"/>
                </a:solidFill>
              </a:rPr>
              <a:t>&gt; SA</a:t>
            </a:r>
            <a:r>
              <a:rPr lang="ko-KR" altLang="en-US" sz="1800" smtClean="0">
                <a:solidFill>
                  <a:srgbClr val="000000"/>
                </a:solidFill>
              </a:rPr>
              <a:t>와 </a:t>
            </a:r>
            <a:r>
              <a:rPr lang="en-US" altLang="ko-KR" sz="1800" smtClean="0">
                <a:solidFill>
                  <a:srgbClr val="000000"/>
                </a:solidFill>
              </a:rPr>
              <a:t>AA</a:t>
            </a:r>
            <a:r>
              <a:rPr lang="ko-KR" altLang="en-US" sz="1800" smtClean="0">
                <a:solidFill>
                  <a:srgbClr val="000000"/>
                </a:solidFill>
              </a:rPr>
              <a:t>의 </a:t>
            </a:r>
            <a:r>
              <a:rPr lang="en-US" altLang="ko-KR" sz="1800" smtClean="0">
                <a:solidFill>
                  <a:srgbClr val="000000"/>
                </a:solidFill>
              </a:rPr>
              <a:t>Activity </a:t>
            </a:r>
            <a:r>
              <a:rPr lang="ko-KR" altLang="en-US" sz="1800" smtClean="0">
                <a:solidFill>
                  <a:srgbClr val="000000"/>
                </a:solidFill>
              </a:rPr>
              <a:t>흐름도 설명</a:t>
            </a:r>
            <a:endParaRPr lang="en-US" altLang="ko-KR" smtClean="0"/>
          </a:p>
        </p:txBody>
      </p:sp>
      <p:sp>
        <p:nvSpPr>
          <p:cNvPr id="5" name="내용 개체 틀 13"/>
          <p:cNvSpPr txBox="1">
            <a:spLocks/>
          </p:cNvSpPr>
          <p:nvPr/>
        </p:nvSpPr>
        <p:spPr>
          <a:xfrm>
            <a:off x="404813" y="903288"/>
            <a:ext cx="9182100" cy="28987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24000" lvl="1" indent="-1800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본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 수행 방안에서 다룰 주된 내용은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수행업무 부분과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공동수행업무 부분에 대해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Task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를 정의하고 어떻게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Task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를 수행할 것인지에 대한 것이다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24000" lvl="1" indent="-1800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24000" lvl="1" indent="-1800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전체 흐름에서 보듯이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관점을 고려한 응용시스템 구현 단계를 크게 응용시스템정의 단계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응용시스템구현 단계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반영 단계로 나누었다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그림의 하단부에는 소프트웨어 아키텍처 방법론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(SKPE-</a:t>
            </a:r>
            <a:r>
              <a:rPr lang="en-US" altLang="ko-KR" sz="1200" b="0" kern="0" dirty="0" err="1">
                <a:latin typeface="맑은 고딕" pitchFamily="50" charset="-127"/>
                <a:ea typeface="맑은 고딕" pitchFamily="50" charset="-127"/>
              </a:rPr>
              <a:t>SWArch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단계를 같이 표현하였다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324000" lvl="1" indent="-1800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가운데 표현된 각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Activity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들은 각각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수행업무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수행업무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공동수행업무로 구성된다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좌측의 박스 구분은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프로젝트에서 주로 의사소통하는 대상들이다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324000" lvl="1" indent="-1800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검은 박스 내에 응용레벨이 표시된 부분들은 어플리케이션 아키텍처를 구현할 때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프레임워크의 응용 아키텍처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관점 중 시각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(Perspective)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별 산출물과 가장 관련이 있는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Activity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임을 표시한 부분이다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따라서 이 업무영역들이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관점의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산출물과 어떻게 일관성을 유지할 것인지에 대해 깊이 고민해야 하는 부분이다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324000" lvl="1" indent="-1800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박스 좌측 상단의 번호는 뒤에서 언급할 각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Activity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별 수행방안에 대한 색인이다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문서에서는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수행활동부분의 언급은 없으므로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방법론 또는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관련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Asset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을 참조해야 하며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 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협업영역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공통수행영역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입장에서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수행해야 할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Task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위주로만 기술한다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24000" lvl="1" indent="-1800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앞의 그림과 같이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업무는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업무와 매우 긴밀한 협조관계에서 진행됨을 알 수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I.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2. AA </a:t>
            </a:r>
            <a:r>
              <a:rPr lang="ko-KR" altLang="en-US" sz="1800" smtClean="0">
                <a:solidFill>
                  <a:srgbClr val="000000"/>
                </a:solidFill>
              </a:rPr>
              <a:t>수행 업무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업무 정의 </a:t>
            </a:r>
            <a:r>
              <a:rPr lang="en-US" altLang="ko-KR" sz="1800" smtClean="0">
                <a:solidFill>
                  <a:srgbClr val="000000"/>
                </a:solidFill>
              </a:rPr>
              <a:t>&gt; AA </a:t>
            </a:r>
            <a:r>
              <a:rPr lang="ko-KR" altLang="en-US" sz="1800" smtClean="0">
                <a:solidFill>
                  <a:srgbClr val="000000"/>
                </a:solidFill>
              </a:rPr>
              <a:t>업무</a:t>
            </a:r>
            <a:endParaRPr lang="en-US" altLang="ko-KR" smtClean="0"/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320675" y="796925"/>
          <a:ext cx="9266238" cy="5459419"/>
        </p:xfrm>
        <a:graphic>
          <a:graphicData uri="http://schemas.openxmlformats.org/drawingml/2006/table">
            <a:tbl>
              <a:tblPr/>
              <a:tblGrid>
                <a:gridCol w="855663">
                  <a:extLst>
                    <a:ext uri="{9D8B030D-6E8A-4147-A177-3AD203B41FA5}">
                      <a16:colId xmlns:a16="http://schemas.microsoft.com/office/drawing/2014/main" val="1927842089"/>
                    </a:ext>
                  </a:extLst>
                </a:gridCol>
                <a:gridCol w="2136775">
                  <a:extLst>
                    <a:ext uri="{9D8B030D-6E8A-4147-A177-3AD203B41FA5}">
                      <a16:colId xmlns:a16="http://schemas.microsoft.com/office/drawing/2014/main" val="3371078287"/>
                    </a:ext>
                  </a:extLst>
                </a:gridCol>
                <a:gridCol w="4779962">
                  <a:extLst>
                    <a:ext uri="{9D8B030D-6E8A-4147-A177-3AD203B41FA5}">
                      <a16:colId xmlns:a16="http://schemas.microsoft.com/office/drawing/2014/main" val="3850272448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593593513"/>
                    </a:ext>
                  </a:extLst>
                </a:gridCol>
                <a:gridCol w="461963">
                  <a:extLst>
                    <a:ext uri="{9D8B030D-6E8A-4147-A177-3AD203B41FA5}">
                      <a16:colId xmlns:a16="http://schemas.microsoft.com/office/drawing/2014/main" val="2711456381"/>
                    </a:ext>
                  </a:extLst>
                </a:gridCol>
              </a:tblGrid>
              <a:tr h="188411"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Activity</a:t>
                      </a:r>
                      <a:endParaRPr kumimoji="0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Task</a:t>
                      </a:r>
                      <a:endParaRPr kumimoji="0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설명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비고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권고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318150"/>
                  </a:ext>
                </a:extLst>
              </a:tr>
              <a:tr h="340820">
                <a:tc rowSpan="4"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응용시스템 </a:t>
                      </a:r>
                      <a:endParaRPr kumimoji="0" lang="en-US" altLang="ko-KR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기능체계 </a:t>
                      </a:r>
                      <a:endParaRPr kumimoji="0" lang="en-US" altLang="ko-KR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수립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전사 응용시스템 아키텍처 분석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고객사의 상위 수준 전사 어플리케이션 아키텍처 현황을 파악하고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고객사의 어플리케이션 아키텍처 비전과 원칙을 분석한다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O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067476"/>
                  </a:ext>
                </a:extLst>
              </a:tr>
              <a:tr h="340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어플리케이션 기능분류 정의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고객사의 상위 수준 전사 어플리케이션 아키텍처로부터 새로 개발될 시스템의 어플리케이션 기능들을 상세화하여 분류한다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O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567427"/>
                  </a:ext>
                </a:extLst>
              </a:tr>
              <a:tr h="340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어플리케이션 기능 정의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어플리케이션 상세 기능분류에 따라 새로 개발될 시스템의 어플리케이션 기능들을 정의한다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O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07274"/>
                  </a:ext>
                </a:extLst>
              </a:tr>
              <a:tr h="340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어플리케이션 구성도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관리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정의된 어플리케이션 기능체계와 고객사의 전사 어플리케이션 아키텍처 체계의 일관성을 관리하고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어플리케이션 기능 추가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 시 변경관리를 수행한다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O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78971"/>
                  </a:ext>
                </a:extLst>
              </a:tr>
              <a:tr h="314343">
                <a:tc rowSpan="3"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요구사항 </a:t>
                      </a:r>
                      <a:endParaRPr kumimoji="0" lang="en-US" altLang="ko-KR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 리딩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 컴포넌트 후보 도출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공통 컴포넌트 후보를 도출한다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M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727349"/>
                  </a:ext>
                </a:extLst>
              </a:tr>
              <a:tr h="340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 모델 표준 정의 및 가이드 작성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개발될 시스템의 기능 요구사항들의 분석 모델링을 수행하기 위한 모델링 기법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도구의 적용 기능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지침을 작성하고 교육한다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M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352521"/>
                  </a:ext>
                </a:extLst>
              </a:tr>
              <a:tr h="340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 산출물 인스펙션 및 관리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 모델링 산출물에 대한 검토를 통해 요구사항 반영의 적합성과 상위 어플리케이션 아키텍처와의 일관성을 검증하고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요구사항 변경에 대한 변경관리를 수행한다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M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408938"/>
                  </a:ext>
                </a:extLst>
              </a:tr>
              <a:tr h="340820">
                <a:tc rowSpan="2"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비즈니스 </a:t>
                      </a:r>
                      <a:endParaRPr kumimoji="0" lang="en-US" altLang="ko-KR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컴포넌트 </a:t>
                      </a:r>
                      <a:endParaRPr kumimoji="0" lang="en-US" altLang="ko-KR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비즈니스 컴포넌트 식별 및 정의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정의된 어플리케이션 기능들로부터 상위 수준의 비즈니스 컴포넌트들을 도출하고 인터페이스와 기능 내역을 기술한다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 컴포넌트에 대한 확정도 수행한다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O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471922"/>
                  </a:ext>
                </a:extLst>
              </a:tr>
              <a:tr h="340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아키텍처 간 상호검증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비즈니스 아키텍처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아키텍처 간의 상호 검증 매트릭스를 작성하여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아키텍처 요소들간의 관계를 정의한다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O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695897"/>
                  </a:ext>
                </a:extLst>
              </a:tr>
              <a:tr h="340820">
                <a:tc rowSpan="4"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모델 </a:t>
                      </a:r>
                      <a:endParaRPr kumimoji="0" lang="en-US" altLang="ko-KR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리딩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메커니즘 정의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 아키텍처와 기술 아키텍처의 내용을 반영하여 설계 메커니즘을 정의한다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M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930101"/>
                  </a:ext>
                </a:extLst>
              </a:tr>
              <a:tr h="340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모델 표준 정의 및 가이드 작성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모델링을 수행하기 위한 모델링 기법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도구의 적용 기능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지침을 작성하고 교육한다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M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971955"/>
                  </a:ext>
                </a:extLst>
              </a:tr>
              <a:tr h="3143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 컴포넌트 설계 지원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 컴포넌트에 대한 공통팀의 설계 수행을 지원한다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M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288447"/>
                  </a:ext>
                </a:extLst>
              </a:tr>
              <a:tr h="340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모델 인스펙션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관리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모델링 산출물에 대한 검토를 통해 기능 요구사항 반영의 적합성과 분석 모델링 산출물과의 일관성을 검증하고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요건 변경에 대한 설계 변경관리를 수행한다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M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777356"/>
                  </a:ext>
                </a:extLst>
              </a:tr>
              <a:tr h="314343"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 아슈 </a:t>
                      </a:r>
                      <a:r>
                        <a:rPr kumimoji="0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F/U     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업무설계 추가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요건 검증 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업무설계 변경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추가를 요하는 요건에 대해 타당성 평가 및 영향도 분석을 수행한다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kumimoji="0" lang="ko-KR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M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221024"/>
                  </a:ext>
                </a:extLst>
              </a:tr>
              <a:tr h="238139"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 수행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관리자가 계획한 절차에 따라 통합 테스트를 수행한다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M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961466"/>
                  </a:ext>
                </a:extLst>
              </a:tr>
              <a:tr h="340820"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EAMS</a:t>
                      </a:r>
                    </a:p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반영지원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EAMS 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 및 매핑 지원</a:t>
                      </a: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구현된 응용시스템의 단계별 산출물에 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산출물과의 매핑을 지원하고 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EAMS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있을 경우 이를 등록할 수 있도록 지원한다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kumimoji="0" lang="ko-KR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18001" marB="18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O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37213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20675" y="904875"/>
          <a:ext cx="9266238" cy="3322639"/>
        </p:xfrm>
        <a:graphic>
          <a:graphicData uri="http://schemas.openxmlformats.org/drawingml/2006/table">
            <a:tbl>
              <a:tblPr/>
              <a:tblGrid>
                <a:gridCol w="1508125">
                  <a:extLst>
                    <a:ext uri="{9D8B030D-6E8A-4147-A177-3AD203B41FA5}">
                      <a16:colId xmlns:a16="http://schemas.microsoft.com/office/drawing/2014/main" val="1546677725"/>
                    </a:ext>
                  </a:extLst>
                </a:gridCol>
                <a:gridCol w="2444750">
                  <a:extLst>
                    <a:ext uri="{9D8B030D-6E8A-4147-A177-3AD203B41FA5}">
                      <a16:colId xmlns:a16="http://schemas.microsoft.com/office/drawing/2014/main" val="3519395611"/>
                    </a:ext>
                  </a:extLst>
                </a:gridCol>
                <a:gridCol w="3819525">
                  <a:extLst>
                    <a:ext uri="{9D8B030D-6E8A-4147-A177-3AD203B41FA5}">
                      <a16:colId xmlns:a16="http://schemas.microsoft.com/office/drawing/2014/main" val="1174677926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100616071"/>
                    </a:ext>
                  </a:extLst>
                </a:gridCol>
                <a:gridCol w="461963">
                  <a:extLst>
                    <a:ext uri="{9D8B030D-6E8A-4147-A177-3AD203B41FA5}">
                      <a16:colId xmlns:a16="http://schemas.microsoft.com/office/drawing/2014/main" val="2645396664"/>
                    </a:ext>
                  </a:extLst>
                </a:gridCol>
              </a:tblGrid>
              <a:tr h="396278"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Activity</a:t>
                      </a:r>
                      <a:endParaRPr kumimoji="0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Task</a:t>
                      </a:r>
                      <a:endParaRPr kumimoji="0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설명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비고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권고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8484"/>
                  </a:ext>
                </a:extLst>
              </a:tr>
              <a:tr h="396278"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인스펙션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검토 및 코드 인스펙션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설계자의 설계모델검토 및  인스펙션툴을 통한 코딩 내용의 검토를 공통팀과 협업하여 수행 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O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434860"/>
                  </a:ext>
                </a:extLst>
              </a:tr>
              <a:tr h="396278"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응용시스템이행 지원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 계획서 작성 및 이행 지원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업무별 어플리케이션을 실 운영환경에 반영하기 위한 계획서 작성과 실행을 지원한다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O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627702"/>
                  </a:ext>
                </a:extLst>
              </a:tr>
              <a:tr h="396278"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개발시스템</a:t>
                      </a:r>
                      <a:endParaRPr kumimoji="0" lang="en-US" altLang="ko-KR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요구사항이해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개발시스템 요구사항 파악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및 비기능 요구사항을 전체적으로 파악하고 품질요구사항을 파악한다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M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489198"/>
                  </a:ext>
                </a:extLst>
              </a:tr>
              <a:tr h="396278"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프로토타입진행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 기능 정의 및 분석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원칙 정의 지원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진행하는 프로토타입의 구현 범위와 기능을 정의하고 컴포넌트 도출 및 설계 영역을 협업한다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O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953797"/>
                  </a:ext>
                </a:extLst>
              </a:tr>
              <a:tr h="396278"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컴포넌트취합</a:t>
                      </a:r>
                      <a:r>
                        <a:rPr kumimoji="0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패키징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컴포넌트 취합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패키징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개발된 업무컴포넌트를 취합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패키징하여 통합테스트를 위한 사전환경을 구성한다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M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872918"/>
                  </a:ext>
                </a:extLst>
              </a:tr>
              <a:tr h="548693"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운영매뉴얼작성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응용시스템 운영가이드 작성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가이드 취합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응용시스템 운영가이드 작성을 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협업하여 작성한다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사용자가이드를 각 단위시스템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또는 모듈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별로 작성 취합 및 리딩한다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M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90343"/>
                  </a:ext>
                </a:extLst>
              </a:tr>
              <a:tr h="396278"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응용시스템 </a:t>
                      </a:r>
                      <a:endParaRPr kumimoji="0" lang="en-US" altLang="ko-KR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대내외연계 정의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시스템간 인터페이스 정의 작성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대내외 시스템간 연동을 위한 업무 요건과 선정기술 정의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925"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925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M</a:t>
                      </a:r>
                    </a:p>
                  </a:txBody>
                  <a:tcPr marL="9525" marR="9525" marT="9526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1821"/>
                  </a:ext>
                </a:extLst>
              </a:tr>
            </a:tbl>
          </a:graphicData>
        </a:graphic>
      </p:graphicFrame>
      <p:sp>
        <p:nvSpPr>
          <p:cNvPr id="28730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I.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2. AA </a:t>
            </a:r>
            <a:r>
              <a:rPr lang="ko-KR" altLang="en-US" sz="1800" smtClean="0">
                <a:solidFill>
                  <a:srgbClr val="000000"/>
                </a:solidFill>
              </a:rPr>
              <a:t>수행 업무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업무 정의 </a:t>
            </a:r>
            <a:r>
              <a:rPr lang="en-US" altLang="ko-KR" sz="1800" smtClean="0">
                <a:solidFill>
                  <a:srgbClr val="000000"/>
                </a:solidFill>
              </a:rPr>
              <a:t>&gt; AA, SA </a:t>
            </a:r>
            <a:r>
              <a:rPr lang="ko-KR" altLang="en-US" sz="1800" smtClean="0">
                <a:solidFill>
                  <a:srgbClr val="000000"/>
                </a:solidFill>
              </a:rPr>
              <a:t>공통업무</a:t>
            </a:r>
            <a:endParaRPr lang="ko-KR" altLang="en-US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/>
              <a:t>I. </a:t>
            </a:r>
            <a:r>
              <a:rPr lang="ko-KR" altLang="en-US" sz="1800" smtClean="0"/>
              <a:t>개요</a:t>
            </a:r>
            <a:r>
              <a:rPr lang="en-US" altLang="ko-KR" sz="1800" smtClean="0"/>
              <a:t/>
            </a:r>
            <a:br>
              <a:rPr lang="en-US" altLang="ko-KR" sz="1800" smtClean="0"/>
            </a:br>
            <a:r>
              <a:rPr lang="en-US" altLang="ko-KR" sz="1800" smtClean="0"/>
              <a:t>3. </a:t>
            </a:r>
            <a:r>
              <a:rPr lang="ko-KR" altLang="en-US" sz="1800" smtClean="0"/>
              <a:t>전체 산출물 연관도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793750"/>
            <a:ext cx="9185275" cy="7207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652463" y="2427288"/>
            <a:ext cx="8985250" cy="2720975"/>
          </a:xfrm>
          <a:prstGeom prst="homePlate">
            <a:avLst>
              <a:gd name="adj" fmla="val 15881"/>
            </a:avLst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latinLnBrk="1" hangingPunct="1">
              <a:defRPr/>
            </a:pPr>
            <a:endParaRPr lang="ko-KR" altLang="en-US" sz="2000" b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cs typeface="Arial" pitchFamily="34" charset="0"/>
            </a:endParaRPr>
          </a:p>
        </p:txBody>
      </p:sp>
      <p:grpSp>
        <p:nvGrpSpPr>
          <p:cNvPr id="30725" name="그룹 113"/>
          <p:cNvGrpSpPr>
            <a:grpSpLocks/>
          </p:cNvGrpSpPr>
          <p:nvPr/>
        </p:nvGrpSpPr>
        <p:grpSpPr bwMode="auto">
          <a:xfrm>
            <a:off x="1371600" y="2441575"/>
            <a:ext cx="7388225" cy="2670175"/>
            <a:chOff x="1352550" y="2441956"/>
            <a:chExt cx="7715250" cy="2867025"/>
          </a:xfrm>
        </p:grpSpPr>
        <p:sp>
          <p:nvSpPr>
            <p:cNvPr id="6" name="모서리가 둥근 직사각형 5"/>
            <p:cNvSpPr/>
            <p:nvPr/>
          </p:nvSpPr>
          <p:spPr bwMode="auto">
            <a:xfrm>
              <a:off x="5105736" y="3485130"/>
              <a:ext cx="951559" cy="55226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500" dirty="0">
                <a:latin typeface="Arial" charset="0"/>
                <a:ea typeface="굴림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 bwMode="auto">
            <a:xfrm>
              <a:off x="6791686" y="4039104"/>
              <a:ext cx="875301" cy="438065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500" dirty="0">
                <a:latin typeface="Arial" charset="0"/>
                <a:ea typeface="굴림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 bwMode="auto">
            <a:xfrm>
              <a:off x="3447968" y="3031725"/>
              <a:ext cx="1067602" cy="475565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500" dirty="0">
                <a:latin typeface="Arial" charset="0"/>
                <a:ea typeface="굴림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 bwMode="auto">
            <a:xfrm>
              <a:off x="2829621" y="3500472"/>
              <a:ext cx="1009580" cy="55226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500" dirty="0">
                <a:latin typeface="Arial" charset="0"/>
                <a:ea typeface="굴림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 bwMode="auto">
            <a:xfrm>
              <a:off x="1695708" y="2516955"/>
              <a:ext cx="1551670" cy="509656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500" dirty="0">
                <a:latin typeface="Arial" charset="0"/>
                <a:ea typeface="굴림" charset="-127"/>
              </a:endParaRPr>
            </a:p>
          </p:txBody>
        </p:sp>
        <p:sp>
          <p:nvSpPr>
            <p:cNvPr id="30792" name="Rectangle 7" descr="s12"/>
            <p:cNvSpPr>
              <a:spLocks noChangeArrowheads="1"/>
            </p:cNvSpPr>
            <p:nvPr/>
          </p:nvSpPr>
          <p:spPr bwMode="auto">
            <a:xfrm>
              <a:off x="7923213" y="4505706"/>
              <a:ext cx="984250" cy="360363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매뉴얼작성</a:t>
              </a:r>
              <a:endParaRPr kumimoji="0" lang="en-US" altLang="ko-KR" sz="900" b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cs typeface="Arial" panose="020B0604020202020204" pitchFamily="34" charset="0"/>
              </a:endParaRPr>
            </a:p>
          </p:txBody>
        </p:sp>
        <p:cxnSp>
          <p:nvCxnSpPr>
            <p:cNvPr id="30793" name="직선 화살표 연결선 109"/>
            <p:cNvCxnSpPr>
              <a:cxnSpLocks noChangeShapeType="1"/>
              <a:stCxn id="30800" idx="0"/>
              <a:endCxn id="30795" idx="3"/>
            </p:cNvCxnSpPr>
            <p:nvPr/>
          </p:nvCxnSpPr>
          <p:spPr bwMode="auto">
            <a:xfrm rot="16200000" flipV="1">
              <a:off x="2867819" y="3069812"/>
              <a:ext cx="782638" cy="174625"/>
            </a:xfrm>
            <a:prstGeom prst="bentConnector2">
              <a:avLst/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94" name="Rectangle 21" descr="s12"/>
            <p:cNvSpPr>
              <a:spLocks noChangeArrowheads="1"/>
            </p:cNvSpPr>
            <p:nvPr/>
          </p:nvSpPr>
          <p:spPr bwMode="auto">
            <a:xfrm>
              <a:off x="8093075" y="4948619"/>
              <a:ext cx="974725" cy="360362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응용시스템 이행</a:t>
              </a:r>
            </a:p>
          </p:txBody>
        </p:sp>
        <p:sp>
          <p:nvSpPr>
            <p:cNvPr id="30795" name="Rectangle 22" descr="s12"/>
            <p:cNvSpPr>
              <a:spLocks noChangeArrowheads="1"/>
            </p:cNvSpPr>
            <p:nvPr/>
          </p:nvSpPr>
          <p:spPr bwMode="auto">
            <a:xfrm>
              <a:off x="1762125" y="2549906"/>
              <a:ext cx="1409700" cy="4318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응용시스템</a:t>
              </a:r>
              <a:endParaRPr kumimoji="0" lang="en-US" altLang="ko-KR" sz="900" b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기능체계 수립</a:t>
              </a:r>
              <a:endParaRPr kumimoji="0" lang="en-US" altLang="ko-KR" sz="900" b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0796" name="Rectangle 27" descr="강-4단"/>
            <p:cNvSpPr>
              <a:spLocks noChangeArrowheads="1"/>
            </p:cNvSpPr>
            <p:nvPr/>
          </p:nvSpPr>
          <p:spPr bwMode="auto">
            <a:xfrm>
              <a:off x="4114800" y="3548444"/>
              <a:ext cx="876300" cy="4318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비즈니스</a:t>
              </a:r>
              <a:endParaRPr kumimoji="0" lang="en-US" altLang="ko-KR" sz="900" b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컴포넌트정의</a:t>
              </a:r>
              <a:endParaRPr kumimoji="0" lang="en-US" altLang="ko-KR" sz="900" b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0797" name="Rectangle 109" descr="s12"/>
            <p:cNvSpPr>
              <a:spLocks noChangeArrowheads="1"/>
            </p:cNvSpPr>
            <p:nvPr/>
          </p:nvSpPr>
          <p:spPr bwMode="auto">
            <a:xfrm>
              <a:off x="3667125" y="4086606"/>
              <a:ext cx="723900" cy="360363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프로토타입진행</a:t>
              </a:r>
            </a:p>
          </p:txBody>
        </p:sp>
        <p:sp>
          <p:nvSpPr>
            <p:cNvPr id="30798" name="Rectangle 21" descr="강-4단"/>
            <p:cNvSpPr>
              <a:spLocks noChangeArrowheads="1"/>
            </p:cNvSpPr>
            <p:nvPr/>
          </p:nvSpPr>
          <p:spPr bwMode="auto">
            <a:xfrm>
              <a:off x="5162550" y="3548444"/>
              <a:ext cx="847725" cy="4318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설계모델리딩</a:t>
              </a:r>
            </a:p>
          </p:txBody>
        </p:sp>
        <p:cxnSp>
          <p:nvCxnSpPr>
            <p:cNvPr id="30799" name="꺾인 연결선 139"/>
            <p:cNvCxnSpPr>
              <a:cxnSpLocks noChangeShapeType="1"/>
              <a:stCxn id="30800" idx="3"/>
              <a:endCxn id="30796" idx="1"/>
            </p:cNvCxnSpPr>
            <p:nvPr/>
          </p:nvCxnSpPr>
          <p:spPr bwMode="auto">
            <a:xfrm>
              <a:off x="3781425" y="3764344"/>
              <a:ext cx="333375" cy="1587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800" name="Rectangle 21" descr="강-4단"/>
            <p:cNvSpPr>
              <a:spLocks noChangeArrowheads="1"/>
            </p:cNvSpPr>
            <p:nvPr/>
          </p:nvSpPr>
          <p:spPr bwMode="auto">
            <a:xfrm>
              <a:off x="2911475" y="3548444"/>
              <a:ext cx="869950" cy="4318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요구사항</a:t>
              </a:r>
              <a:endParaRPr kumimoji="0" lang="en-US" altLang="ko-KR" sz="900" b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분석모델 리딩</a:t>
              </a:r>
            </a:p>
          </p:txBody>
        </p:sp>
        <p:sp>
          <p:nvSpPr>
            <p:cNvPr id="30801" name="Rectangle 21" descr="강-4단"/>
            <p:cNvSpPr>
              <a:spLocks noChangeArrowheads="1"/>
            </p:cNvSpPr>
            <p:nvPr/>
          </p:nvSpPr>
          <p:spPr bwMode="auto">
            <a:xfrm>
              <a:off x="6845300" y="4086606"/>
              <a:ext cx="784225" cy="360363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컴포넌트</a:t>
              </a:r>
              <a:endParaRPr kumimoji="0" lang="en-US" altLang="ko-KR" sz="900" b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취합</a:t>
              </a:r>
              <a:r>
                <a:rPr kumimoji="0" lang="en-US" altLang="ko-KR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/</a:t>
              </a: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패키징</a:t>
              </a:r>
            </a:p>
          </p:txBody>
        </p:sp>
        <p:cxnSp>
          <p:nvCxnSpPr>
            <p:cNvPr id="30802" name="직선 화살표 연결선 109"/>
            <p:cNvCxnSpPr>
              <a:cxnSpLocks noChangeShapeType="1"/>
              <a:endCxn id="30800" idx="1"/>
            </p:cNvCxnSpPr>
            <p:nvPr/>
          </p:nvCxnSpPr>
          <p:spPr bwMode="auto">
            <a:xfrm rot="16200000" flipH="1">
              <a:off x="2239168" y="3092038"/>
              <a:ext cx="900113" cy="444500"/>
            </a:xfrm>
            <a:prstGeom prst="bentConnector2">
              <a:avLst/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0803" name="Group 217"/>
            <p:cNvGrpSpPr>
              <a:grpSpLocks/>
            </p:cNvGrpSpPr>
            <p:nvPr/>
          </p:nvGrpSpPr>
          <p:grpSpPr bwMode="auto">
            <a:xfrm>
              <a:off x="1352550" y="4164394"/>
              <a:ext cx="1355725" cy="717550"/>
              <a:chOff x="2199" y="3801"/>
              <a:chExt cx="1152" cy="189"/>
            </a:xfrm>
          </p:grpSpPr>
          <p:sp>
            <p:nvSpPr>
              <p:cNvPr id="30832" name="Rectangle 62"/>
              <p:cNvSpPr>
                <a:spLocks noChangeArrowheads="1"/>
              </p:cNvSpPr>
              <p:nvPr/>
            </p:nvSpPr>
            <p:spPr bwMode="auto">
              <a:xfrm>
                <a:off x="2343" y="3801"/>
                <a:ext cx="1008" cy="18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ko-KR" altLang="en-US" sz="1100" b="0">
                  <a:solidFill>
                    <a:srgbClr val="000000"/>
                  </a:solidFill>
                  <a:latin typeface="굴림" panose="020B0600000101010101" pitchFamily="50" charset="-127"/>
                </a:endParaRPr>
              </a:p>
            </p:txBody>
          </p:sp>
          <p:sp>
            <p:nvSpPr>
              <p:cNvPr id="30833" name="Rectangle 63"/>
              <p:cNvSpPr>
                <a:spLocks noChangeArrowheads="1"/>
              </p:cNvSpPr>
              <p:nvPr/>
            </p:nvSpPr>
            <p:spPr bwMode="auto">
              <a:xfrm>
                <a:off x="2199" y="3801"/>
                <a:ext cx="148" cy="189"/>
              </a:xfrm>
              <a:prstGeom prst="rect">
                <a:avLst/>
              </a:prstGeom>
              <a:solidFill>
                <a:srgbClr val="B2B2B2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spcBef>
                    <a:spcPct val="0"/>
                  </a:spcBef>
                </a:pPr>
                <a:r>
                  <a:rPr lang="ko-KR" altLang="en-US" sz="800" b="0">
                    <a:solidFill>
                      <a:srgbClr val="FFFFFF"/>
                    </a:solidFill>
                    <a:latin typeface="-윤고딕140" pitchFamily="18" charset="-127"/>
                    <a:ea typeface="-윤고딕140" pitchFamily="18" charset="-127"/>
                  </a:rPr>
                  <a:t>범</a:t>
                </a:r>
                <a:br>
                  <a:rPr lang="ko-KR" altLang="en-US" sz="800" b="0">
                    <a:solidFill>
                      <a:srgbClr val="FFFFFF"/>
                    </a:solidFill>
                    <a:latin typeface="-윤고딕140" pitchFamily="18" charset="-127"/>
                    <a:ea typeface="-윤고딕140" pitchFamily="18" charset="-127"/>
                  </a:rPr>
                </a:br>
                <a:r>
                  <a:rPr lang="ko-KR" altLang="en-US" sz="800" b="0">
                    <a:solidFill>
                      <a:srgbClr val="FFFFFF"/>
                    </a:solidFill>
                    <a:latin typeface="-윤고딕140" pitchFamily="18" charset="-127"/>
                    <a:ea typeface="-윤고딕140" pitchFamily="18" charset="-127"/>
                  </a:rPr>
                  <a:t>례</a:t>
                </a:r>
                <a:endParaRPr lang="ko-KR" altLang="en-US" sz="800" b="0">
                  <a:solidFill>
                    <a:srgbClr val="FFFFFF"/>
                  </a:solidFill>
                  <a:latin typeface="굴림" panose="020B0600000101010101" pitchFamily="50" charset="-127"/>
                  <a:ea typeface="-윤고딕140" pitchFamily="18" charset="-127"/>
                </a:endParaRPr>
              </a:p>
            </p:txBody>
          </p:sp>
        </p:grpSp>
        <p:sp>
          <p:nvSpPr>
            <p:cNvPr id="30804" name="Rectangle 21" descr="강-4단"/>
            <p:cNvSpPr>
              <a:spLocks noChangeArrowheads="1"/>
            </p:cNvSpPr>
            <p:nvPr/>
          </p:nvSpPr>
          <p:spPr bwMode="auto">
            <a:xfrm>
              <a:off x="1609725" y="4261231"/>
              <a:ext cx="247650" cy="207963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endParaRPr kumimoji="0" lang="ko-KR" altLang="en-US" sz="900" b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0805" name="TextBox 344"/>
            <p:cNvSpPr txBox="1">
              <a:spLocks noChangeArrowheads="1"/>
            </p:cNvSpPr>
            <p:nvPr/>
          </p:nvSpPr>
          <p:spPr bwMode="auto">
            <a:xfrm>
              <a:off x="1900238" y="4300919"/>
              <a:ext cx="577850" cy="122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latinLnBrk="1" hangingPunct="1">
                <a:spcBef>
                  <a:spcPct val="0"/>
                </a:spcBef>
              </a:pPr>
              <a:r>
                <a:rPr kumimoji="0" lang="en-US" altLang="ko-KR" sz="800" b="0">
                  <a:solidFill>
                    <a:srgbClr val="5F5F5F"/>
                  </a:solidFill>
                  <a:latin typeface="가는각진제목체" pitchFamily="18" charset="-127"/>
                  <a:ea typeface="가는각진제목체" pitchFamily="18" charset="-127"/>
                </a:rPr>
                <a:t>AA </a:t>
              </a:r>
              <a:r>
                <a:rPr kumimoji="0" lang="ko-KR" altLang="en-US" sz="800" b="0">
                  <a:solidFill>
                    <a:srgbClr val="5F5F5F"/>
                  </a:solidFill>
                  <a:latin typeface="가는각진제목체" pitchFamily="18" charset="-127"/>
                  <a:ea typeface="가는각진제목체" pitchFamily="18" charset="-127"/>
                </a:rPr>
                <a:t>수행 영역</a:t>
              </a:r>
            </a:p>
          </p:txBody>
        </p:sp>
        <p:sp>
          <p:nvSpPr>
            <p:cNvPr id="30806" name="Rectangle 21" descr="강-4단"/>
            <p:cNvSpPr>
              <a:spLocks noChangeArrowheads="1"/>
            </p:cNvSpPr>
            <p:nvPr/>
          </p:nvSpPr>
          <p:spPr bwMode="auto">
            <a:xfrm>
              <a:off x="8166100" y="2549906"/>
              <a:ext cx="901700" cy="4318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en-US" altLang="ko-KR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EAMS</a:t>
              </a: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반영지원</a:t>
              </a:r>
            </a:p>
          </p:txBody>
        </p:sp>
        <p:sp>
          <p:nvSpPr>
            <p:cNvPr id="30807" name="Rectangle 109" descr="s12"/>
            <p:cNvSpPr>
              <a:spLocks noChangeArrowheads="1"/>
            </p:cNvSpPr>
            <p:nvPr/>
          </p:nvSpPr>
          <p:spPr bwMode="auto">
            <a:xfrm>
              <a:off x="5210175" y="4505706"/>
              <a:ext cx="2400300" cy="360363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구현이슈 </a:t>
              </a:r>
              <a:r>
                <a:rPr kumimoji="0" lang="en-US" altLang="ko-KR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F/u</a:t>
              </a:r>
              <a:endParaRPr kumimoji="0" lang="ko-KR" altLang="en-US" sz="900" b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0808" name="Rectangle 21" descr="강-4단"/>
            <p:cNvSpPr>
              <a:spLocks noChangeArrowheads="1"/>
            </p:cNvSpPr>
            <p:nvPr/>
          </p:nvSpPr>
          <p:spPr bwMode="auto">
            <a:xfrm>
              <a:off x="6727825" y="3548444"/>
              <a:ext cx="901700" cy="4318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통합테스트</a:t>
              </a:r>
            </a:p>
          </p:txBody>
        </p:sp>
        <p:cxnSp>
          <p:nvCxnSpPr>
            <p:cNvPr id="30809" name="꺾인 연결선 139"/>
            <p:cNvCxnSpPr>
              <a:cxnSpLocks noChangeShapeType="1"/>
              <a:stCxn id="30796" idx="3"/>
              <a:endCxn id="30798" idx="1"/>
            </p:cNvCxnSpPr>
            <p:nvPr/>
          </p:nvCxnSpPr>
          <p:spPr bwMode="auto">
            <a:xfrm>
              <a:off x="4991100" y="3764344"/>
              <a:ext cx="171450" cy="1587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810" name="꺾인 연결선 139"/>
            <p:cNvCxnSpPr>
              <a:cxnSpLocks noChangeShapeType="1"/>
              <a:stCxn id="30798" idx="2"/>
              <a:endCxn id="30807" idx="1"/>
            </p:cNvCxnSpPr>
            <p:nvPr/>
          </p:nvCxnSpPr>
          <p:spPr bwMode="auto">
            <a:xfrm rot="5400000">
              <a:off x="5045075" y="4145344"/>
              <a:ext cx="706437" cy="376238"/>
            </a:xfrm>
            <a:prstGeom prst="bentConnector4">
              <a:avLst>
                <a:gd name="adj1" fmla="val 37236"/>
                <a:gd name="adj2" fmla="val 160759"/>
              </a:avLst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811" name="꺾인 연결선 139"/>
            <p:cNvCxnSpPr>
              <a:cxnSpLocks noChangeShapeType="1"/>
              <a:stCxn id="30808" idx="3"/>
            </p:cNvCxnSpPr>
            <p:nvPr/>
          </p:nvCxnSpPr>
          <p:spPr bwMode="auto">
            <a:xfrm>
              <a:off x="7629525" y="3764344"/>
              <a:ext cx="463550" cy="136525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812" name="Rectangle 109" descr="s12"/>
            <p:cNvSpPr>
              <a:spLocks noChangeArrowheads="1"/>
            </p:cNvSpPr>
            <p:nvPr/>
          </p:nvSpPr>
          <p:spPr bwMode="auto">
            <a:xfrm>
              <a:off x="5800725" y="4086606"/>
              <a:ext cx="949325" cy="360363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인스펙션</a:t>
              </a:r>
            </a:p>
          </p:txBody>
        </p:sp>
        <p:cxnSp>
          <p:nvCxnSpPr>
            <p:cNvPr id="30813" name="꺾인 연결선 139"/>
            <p:cNvCxnSpPr>
              <a:cxnSpLocks noChangeShapeType="1"/>
              <a:stCxn id="30807" idx="3"/>
              <a:endCxn id="30806" idx="1"/>
            </p:cNvCxnSpPr>
            <p:nvPr/>
          </p:nvCxnSpPr>
          <p:spPr bwMode="auto">
            <a:xfrm flipV="1">
              <a:off x="7610475" y="2765806"/>
              <a:ext cx="555625" cy="19208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80808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814" name="Rectangle 21" descr="강-4단"/>
            <p:cNvSpPr>
              <a:spLocks noChangeArrowheads="1"/>
            </p:cNvSpPr>
            <p:nvPr/>
          </p:nvSpPr>
          <p:spPr bwMode="auto">
            <a:xfrm>
              <a:off x="1619250" y="4546981"/>
              <a:ext cx="247650" cy="207963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endParaRPr kumimoji="0" lang="ko-KR" altLang="en-US" sz="900" b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0815" name="TextBox 344"/>
            <p:cNvSpPr txBox="1">
              <a:spLocks noChangeArrowheads="1"/>
            </p:cNvSpPr>
            <p:nvPr/>
          </p:nvSpPr>
          <p:spPr bwMode="auto">
            <a:xfrm>
              <a:off x="1909763" y="4586669"/>
              <a:ext cx="728662" cy="122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latinLnBrk="1" hangingPunct="1">
                <a:spcBef>
                  <a:spcPct val="0"/>
                </a:spcBef>
              </a:pPr>
              <a:r>
                <a:rPr kumimoji="0" lang="en-US" altLang="ko-KR" sz="800" b="0">
                  <a:solidFill>
                    <a:srgbClr val="5F5F5F"/>
                  </a:solidFill>
                  <a:latin typeface="가는각진제목체" pitchFamily="18" charset="-127"/>
                  <a:ea typeface="가는각진제목체" pitchFamily="18" charset="-127"/>
                </a:rPr>
                <a:t>SA,AA </a:t>
              </a:r>
              <a:r>
                <a:rPr kumimoji="0" lang="ko-KR" altLang="en-US" sz="800" b="0">
                  <a:solidFill>
                    <a:srgbClr val="5F5F5F"/>
                  </a:solidFill>
                  <a:latin typeface="가는각진제목체" pitchFamily="18" charset="-127"/>
                  <a:ea typeface="가는각진제목체" pitchFamily="18" charset="-127"/>
                </a:rPr>
                <a:t>협업영역</a:t>
              </a:r>
            </a:p>
          </p:txBody>
        </p:sp>
        <p:sp>
          <p:nvSpPr>
            <p:cNvPr id="30816" name="Rectangle 109" descr="s12"/>
            <p:cNvSpPr>
              <a:spLocks noChangeArrowheads="1"/>
            </p:cNvSpPr>
            <p:nvPr/>
          </p:nvSpPr>
          <p:spPr bwMode="auto">
            <a:xfrm>
              <a:off x="3505200" y="3069019"/>
              <a:ext cx="949325" cy="360362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응용시스템 대내외 연계정의</a:t>
              </a:r>
            </a:p>
          </p:txBody>
        </p:sp>
        <p:sp>
          <p:nvSpPr>
            <p:cNvPr id="30817" name="Rectangle 14" descr="s12"/>
            <p:cNvSpPr>
              <a:spLocks noChangeArrowheads="1"/>
            </p:cNvSpPr>
            <p:nvPr/>
          </p:nvSpPr>
          <p:spPr bwMode="auto">
            <a:xfrm>
              <a:off x="1752600" y="3075369"/>
              <a:ext cx="904875" cy="360362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rgbClr val="77AEDB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개발시스템</a:t>
              </a:r>
              <a:endParaRPr kumimoji="0" lang="en-US" altLang="ko-KR" sz="900" b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kumimoji="0" lang="ko-KR" altLang="en-US" sz="900" b="0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  <a:cs typeface="Arial" panose="020B0604020202020204" pitchFamily="34" charset="0"/>
                </a:rPr>
                <a:t>요구사항이해</a:t>
              </a:r>
              <a:endParaRPr kumimoji="0" lang="en-US" altLang="ko-KR" sz="900" b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086402" y="2832295"/>
              <a:ext cx="266901" cy="31874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lIns="0" tIns="36000" rIns="0" bIns="36000">
              <a:spAutoFit/>
            </a:bodyPr>
            <a:lstStyle/>
            <a:p>
              <a:pPr algn="ctr" eaLnBrk="1" hangingPunct="1">
                <a:spcBef>
                  <a:spcPts val="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14</a:t>
              </a:r>
              <a:endParaRPr lang="ko-KR" altLang="en-US" sz="1600" dirty="0">
                <a:solidFill>
                  <a:schemeClr val="bg1"/>
                </a:solidFill>
                <a:latin typeface="HY헤드라인M"/>
                <a:ea typeface="HY헤드라인M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1786885" y="2441956"/>
              <a:ext cx="260270" cy="33920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1</a:t>
              </a:r>
              <a:endParaRPr lang="ko-KR" altLang="en-US" dirty="0">
                <a:solidFill>
                  <a:schemeClr val="bg1"/>
                </a:solidFill>
                <a:latin typeface="Arial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8005172" y="4765235"/>
              <a:ext cx="248665" cy="31874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lIns="0" tIns="36000" rIns="0" bIns="36000">
              <a:spAutoFit/>
            </a:bodyPr>
            <a:lstStyle/>
            <a:p>
              <a:pPr algn="ctr" eaLnBrk="1" hangingPunct="1">
                <a:spcBef>
                  <a:spcPts val="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13</a:t>
              </a:r>
              <a:endParaRPr lang="ko-KR" altLang="en-US" sz="1600" dirty="0">
                <a:solidFill>
                  <a:schemeClr val="bg1"/>
                </a:solidFill>
                <a:latin typeface="HY헤드라인M"/>
                <a:ea typeface="HY헤드라인M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804581" y="4408987"/>
              <a:ext cx="278505" cy="3187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lIns="0" tIns="36000" rIns="0" bIns="36000">
              <a:spAutoFit/>
            </a:bodyPr>
            <a:lstStyle/>
            <a:p>
              <a:pPr algn="ctr" eaLnBrk="1" hangingPunct="1">
                <a:spcBef>
                  <a:spcPts val="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12</a:t>
              </a:r>
              <a:endParaRPr lang="ko-KR" altLang="en-US" sz="1600" dirty="0">
                <a:solidFill>
                  <a:schemeClr val="bg1"/>
                </a:solidFill>
                <a:latin typeface="HY헤드라인M"/>
                <a:ea typeface="HY헤드라인M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581149" y="3408427"/>
              <a:ext cx="266901" cy="31874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lIns="0" tIns="36000" rIns="0" bIns="36000">
              <a:spAutoFit/>
            </a:bodyPr>
            <a:lstStyle/>
            <a:p>
              <a:pPr algn="ctr" eaLnBrk="1" hangingPunct="1">
                <a:spcBef>
                  <a:spcPts val="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11</a:t>
              </a:r>
              <a:endParaRPr lang="ko-KR" altLang="en-US" sz="1600" dirty="0">
                <a:solidFill>
                  <a:schemeClr val="bg1"/>
                </a:solidFill>
                <a:latin typeface="HY헤드라인M"/>
                <a:ea typeface="HY헤드라인M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609331" y="3955582"/>
              <a:ext cx="290109" cy="32045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lIns="0" tIns="36000" rIns="0" bIns="36000">
              <a:spAutoFit/>
            </a:bodyPr>
            <a:lstStyle/>
            <a:p>
              <a:pPr algn="ctr" eaLnBrk="1" hangingPunct="1">
                <a:spcBef>
                  <a:spcPts val="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10</a:t>
              </a:r>
              <a:endParaRPr lang="ko-KR" altLang="en-US" sz="1600" dirty="0">
                <a:solidFill>
                  <a:schemeClr val="bg1"/>
                </a:solidFill>
                <a:latin typeface="HY헤드라인M"/>
                <a:ea typeface="HY헤드라인M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762212" y="4039104"/>
              <a:ext cx="248665" cy="3374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9</a:t>
              </a:r>
              <a:endParaRPr lang="ko-KR" altLang="en-US" sz="1600" dirty="0">
                <a:solidFill>
                  <a:schemeClr val="bg1"/>
                </a:solidFill>
                <a:latin typeface="HY헤드라인M"/>
                <a:ea typeface="HY헤드라인M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228410" y="4381715"/>
              <a:ext cx="266901" cy="3374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8</a:t>
              </a:r>
              <a:endParaRPr lang="ko-KR" altLang="en-US" sz="1600" dirty="0">
                <a:solidFill>
                  <a:schemeClr val="bg1"/>
                </a:solidFill>
                <a:latin typeface="HY헤드라인M"/>
                <a:ea typeface="HY헤드라인M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666793" y="4315239"/>
              <a:ext cx="228772" cy="3374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7</a:t>
              </a:r>
              <a:endParaRPr lang="ko-KR" altLang="en-US" sz="1600" dirty="0">
                <a:solidFill>
                  <a:schemeClr val="bg1"/>
                </a:solidFill>
                <a:latin typeface="HY헤드라인M"/>
                <a:ea typeface="HY헤드라인M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150496" y="3403313"/>
              <a:ext cx="223798" cy="33920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6</a:t>
              </a:r>
              <a:endParaRPr lang="ko-KR" altLang="en-US" sz="1600" dirty="0">
                <a:solidFill>
                  <a:schemeClr val="bg1"/>
                </a:solidFill>
                <a:latin typeface="HY헤드라인M"/>
                <a:ea typeface="HY헤드라인M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086209" y="3403313"/>
              <a:ext cx="247007" cy="33920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5</a:t>
              </a:r>
              <a:endParaRPr lang="ko-KR" altLang="en-US" sz="1600" dirty="0">
                <a:solidFill>
                  <a:schemeClr val="bg1"/>
                </a:solidFill>
                <a:latin typeface="HY헤드라인M"/>
                <a:ea typeface="HY헤드라인M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867750" y="3403313"/>
              <a:ext cx="227115" cy="33920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4</a:t>
              </a:r>
              <a:endParaRPr lang="ko-KR" altLang="en-US" sz="1600" dirty="0">
                <a:solidFill>
                  <a:schemeClr val="bg1"/>
                </a:solidFill>
                <a:latin typeface="HY헤드라인M"/>
                <a:ea typeface="HY헤드라인M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438022" y="2917521"/>
              <a:ext cx="266901" cy="33920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3</a:t>
              </a:r>
              <a:endParaRPr lang="ko-KR" altLang="en-US" sz="1600" dirty="0">
                <a:solidFill>
                  <a:schemeClr val="bg1"/>
                </a:solidFill>
                <a:latin typeface="HY헤드라인M"/>
                <a:ea typeface="HY헤드라인M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609504" y="2951612"/>
              <a:ext cx="266900" cy="3374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chemeClr val="bg1"/>
                  </a:solidFill>
                  <a:latin typeface="HY헤드라인M"/>
                  <a:ea typeface="HY헤드라인M"/>
                </a:rPr>
                <a:t>2</a:t>
              </a:r>
              <a:endParaRPr lang="ko-KR" altLang="en-US" sz="1600" dirty="0">
                <a:solidFill>
                  <a:schemeClr val="bg1"/>
                </a:solidFill>
                <a:latin typeface="HY헤드라인M"/>
                <a:ea typeface="HY헤드라인M"/>
              </a:endParaRPr>
            </a:p>
          </p:txBody>
        </p:sp>
      </p:grpSp>
      <p:sp>
        <p:nvSpPr>
          <p:cNvPr id="93" name="TextBox 92"/>
          <p:cNvSpPr txBox="1"/>
          <p:nvPr/>
        </p:nvSpPr>
        <p:spPr>
          <a:xfrm>
            <a:off x="452438" y="792163"/>
            <a:ext cx="9191625" cy="16129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>
              <a:spcBef>
                <a:spcPct val="50000"/>
              </a:spcBef>
              <a:defRPr/>
            </a:pP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52438" y="5233988"/>
            <a:ext cx="9191625" cy="13493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900" dirty="0">
                <a:latin typeface="맑은 고딕" pitchFamily="50" charset="-127"/>
                <a:ea typeface="맑은 고딕" pitchFamily="50" charset="-127"/>
              </a:rPr>
              <a:t>                               </a:t>
            </a:r>
          </a:p>
        </p:txBody>
      </p:sp>
      <p:sp>
        <p:nvSpPr>
          <p:cNvPr id="30728" name="TextBox 119"/>
          <p:cNvSpPr txBox="1">
            <a:spLocks noChangeArrowheads="1"/>
          </p:cNvSpPr>
          <p:nvPr/>
        </p:nvSpPr>
        <p:spPr bwMode="auto">
          <a:xfrm>
            <a:off x="320675" y="792163"/>
            <a:ext cx="457200" cy="55403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산출물</a:t>
            </a:r>
          </a:p>
        </p:txBody>
      </p:sp>
      <p:sp>
        <p:nvSpPr>
          <p:cNvPr id="30729" name="TextBox 119"/>
          <p:cNvSpPr txBox="1">
            <a:spLocks noChangeArrowheads="1"/>
          </p:cNvSpPr>
          <p:nvPr/>
        </p:nvSpPr>
        <p:spPr bwMode="auto">
          <a:xfrm>
            <a:off x="320675" y="4889500"/>
            <a:ext cx="639763" cy="4000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 산출물</a:t>
            </a:r>
          </a:p>
        </p:txBody>
      </p:sp>
      <p:sp>
        <p:nvSpPr>
          <p:cNvPr id="99" name="모서리가 둥근 직사각형 98"/>
          <p:cNvSpPr/>
          <p:nvPr/>
        </p:nvSpPr>
        <p:spPr bwMode="auto">
          <a:xfrm>
            <a:off x="987425" y="792163"/>
            <a:ext cx="1628775" cy="763587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정보기술아키텍처원칙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 SRM, TRM,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현행응용아키텍처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목표아키텍처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개선과제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이행계획서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응용시스템 구성도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정의서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응용기능 분할도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분할기술서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           </a:t>
            </a:r>
          </a:p>
        </p:txBody>
      </p:sp>
      <p:sp>
        <p:nvSpPr>
          <p:cNvPr id="100" name="모서리가 둥근 직사각형 99"/>
          <p:cNvSpPr/>
          <p:nvPr/>
        </p:nvSpPr>
        <p:spPr bwMode="auto">
          <a:xfrm>
            <a:off x="993775" y="1836738"/>
            <a:ext cx="1620838" cy="35401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제안요청서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(RFP),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제안서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요구사항목록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프로젝트 계획서</a:t>
            </a:r>
          </a:p>
        </p:txBody>
      </p:sp>
      <p:sp>
        <p:nvSpPr>
          <p:cNvPr id="101" name="모서리가 둥근 직사각형 100"/>
          <p:cNvSpPr/>
          <p:nvPr/>
        </p:nvSpPr>
        <p:spPr bwMode="auto">
          <a:xfrm>
            <a:off x="2786063" y="792163"/>
            <a:ext cx="1524000" cy="51117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Context Diagram,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응용시스템 구성도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응용시스템 관계도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관계기술서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목표아키텍처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응용기능 분할도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TRM</a:t>
            </a:r>
            <a:endParaRPr lang="ko-KR" altLang="en-US" sz="8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모서리가 둥근 직사각형 101"/>
          <p:cNvSpPr/>
          <p:nvPr/>
        </p:nvSpPr>
        <p:spPr bwMode="auto">
          <a:xfrm>
            <a:off x="2786063" y="1357313"/>
            <a:ext cx="1541462" cy="471487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현행시스템 분석서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        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목표 비즈니스프로세스 정의서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요구사항 정의서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      </a:t>
            </a:r>
            <a:r>
              <a:rPr lang="ko-KR" altLang="en-US" sz="8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유스케이스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모형 기술서</a:t>
            </a:r>
          </a:p>
        </p:txBody>
      </p:sp>
      <p:sp>
        <p:nvSpPr>
          <p:cNvPr id="103" name="모서리가 둥근 직사각형 102"/>
          <p:cNvSpPr/>
          <p:nvPr/>
        </p:nvSpPr>
        <p:spPr bwMode="auto">
          <a:xfrm>
            <a:off x="2786063" y="1871663"/>
            <a:ext cx="1541462" cy="496887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유스케이스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모형 기술서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유스케이스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분석서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UI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정의서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소프트웨어 아키텍처 정의서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개념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논리 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ERD </a:t>
            </a:r>
            <a:endParaRPr lang="ko-KR" altLang="en-US" sz="8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4" name="모서리가 둥근 직사각형 103"/>
          <p:cNvSpPr/>
          <p:nvPr/>
        </p:nvSpPr>
        <p:spPr bwMode="auto">
          <a:xfrm>
            <a:off x="4514850" y="792163"/>
            <a:ext cx="1533525" cy="47942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유스케이스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분석서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소프트웨어 아키텍처 정의서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공통 컴포넌트 목록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컴포넌트 명세서</a:t>
            </a:r>
          </a:p>
        </p:txBody>
      </p:sp>
      <p:sp>
        <p:nvSpPr>
          <p:cNvPr id="105" name="모서리가 둥근 직사각형 104"/>
          <p:cNvSpPr/>
          <p:nvPr/>
        </p:nvSpPr>
        <p:spPr bwMode="auto">
          <a:xfrm>
            <a:off x="4514850" y="1373188"/>
            <a:ext cx="1533525" cy="35401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소프트웨어 아키텍처 정의서 초안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요구사항 분석서</a:t>
            </a:r>
          </a:p>
        </p:txBody>
      </p:sp>
      <p:sp>
        <p:nvSpPr>
          <p:cNvPr id="106" name="모서리가 둥근 직사각형 105"/>
          <p:cNvSpPr/>
          <p:nvPr/>
        </p:nvSpPr>
        <p:spPr bwMode="auto">
          <a:xfrm>
            <a:off x="4514850" y="1835150"/>
            <a:ext cx="1533525" cy="35401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프로젝트 진행 상황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팀원 요청 사항</a:t>
            </a:r>
          </a:p>
        </p:txBody>
      </p:sp>
      <p:sp>
        <p:nvSpPr>
          <p:cNvPr id="107" name="모서리가 둥근 직사각형 106"/>
          <p:cNvSpPr/>
          <p:nvPr/>
        </p:nvSpPr>
        <p:spPr bwMode="auto">
          <a:xfrm>
            <a:off x="6253163" y="792163"/>
            <a:ext cx="1550987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수행 계획서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분석설계 산출물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 설계 표준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가이드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개발 소스코드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개발 표준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가이드</a:t>
            </a:r>
          </a:p>
        </p:txBody>
      </p:sp>
      <p:sp>
        <p:nvSpPr>
          <p:cNvPr id="108" name="모서리가 둥근 직사각형 107"/>
          <p:cNvSpPr/>
          <p:nvPr/>
        </p:nvSpPr>
        <p:spPr bwMode="auto">
          <a:xfrm>
            <a:off x="6253163" y="1336675"/>
            <a:ext cx="1550987" cy="32861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개발 소스코드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통합 </a:t>
            </a:r>
            <a:r>
              <a:rPr lang="ko-KR" altLang="en-US" sz="8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빌드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구조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설계 산출물</a:t>
            </a:r>
          </a:p>
        </p:txBody>
      </p:sp>
      <p:sp>
        <p:nvSpPr>
          <p:cNvPr id="109" name="모서리가 둥근 직사각형 108"/>
          <p:cNvSpPr/>
          <p:nvPr/>
        </p:nvSpPr>
        <p:spPr bwMode="auto">
          <a:xfrm>
            <a:off x="6253163" y="1811338"/>
            <a:ext cx="1533525" cy="37782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통합테스트 계획서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통합테스트 시나리오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통합테스트 케이스</a:t>
            </a:r>
          </a:p>
        </p:txBody>
      </p:sp>
      <p:sp>
        <p:nvSpPr>
          <p:cNvPr id="116" name="모서리가 둥근 직사각형 115"/>
          <p:cNvSpPr/>
          <p:nvPr/>
        </p:nvSpPr>
        <p:spPr bwMode="auto">
          <a:xfrm>
            <a:off x="7980363" y="790575"/>
            <a:ext cx="1620837" cy="35401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설계 산출물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개발된 응용시스템</a:t>
            </a:r>
          </a:p>
        </p:txBody>
      </p:sp>
      <p:sp>
        <p:nvSpPr>
          <p:cNvPr id="117" name="모서리가 둥근 직사각형 116"/>
          <p:cNvSpPr/>
          <p:nvPr/>
        </p:nvSpPr>
        <p:spPr bwMode="auto">
          <a:xfrm>
            <a:off x="7980363" y="1216025"/>
            <a:ext cx="1620837" cy="40322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운영전환계획서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운영환경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응용시스템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데이터 이행 시나리오 및 </a:t>
            </a:r>
            <a:r>
              <a:rPr lang="ko-KR" altLang="en-US" sz="8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구시스템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데이터</a:t>
            </a:r>
          </a:p>
        </p:txBody>
      </p:sp>
      <p:sp>
        <p:nvSpPr>
          <p:cNvPr id="118" name="모서리가 둥근 직사각형 117"/>
          <p:cNvSpPr/>
          <p:nvPr/>
        </p:nvSpPr>
        <p:spPr bwMode="auto">
          <a:xfrm>
            <a:off x="7980363" y="1797050"/>
            <a:ext cx="1620837" cy="35401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AA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수행산출물 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(AV1, AV2, AV3, AV4, AV5)</a:t>
            </a:r>
            <a:endParaRPr lang="ko-KR" altLang="en-US" sz="8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9" name="모서리가 둥근 직사각형 118"/>
          <p:cNvSpPr/>
          <p:nvPr/>
        </p:nvSpPr>
        <p:spPr bwMode="auto">
          <a:xfrm>
            <a:off x="677863" y="5262563"/>
            <a:ext cx="1287462" cy="44291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응용시스템 구성도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정의서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응용기능 분할도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분할기술서   </a:t>
            </a:r>
          </a:p>
        </p:txBody>
      </p:sp>
      <p:sp>
        <p:nvSpPr>
          <p:cNvPr id="120" name="모서리가 둥근 직사각형 119"/>
          <p:cNvSpPr/>
          <p:nvPr/>
        </p:nvSpPr>
        <p:spPr bwMode="auto">
          <a:xfrm>
            <a:off x="685800" y="5810250"/>
            <a:ext cx="1279525" cy="32067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Context Diagram (SA), 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이해관계자 목록 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(SA)</a:t>
            </a:r>
            <a:endParaRPr lang="ko-KR" altLang="en-US" sz="8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1" name="모서리가 둥근 직사각형 120"/>
          <p:cNvSpPr/>
          <p:nvPr/>
        </p:nvSpPr>
        <p:spPr bwMode="auto">
          <a:xfrm>
            <a:off x="2174875" y="5262563"/>
            <a:ext cx="2122488" cy="42545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분석 모델링 가이드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방법론 담당자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분석단계 </a:t>
            </a:r>
            <a:r>
              <a:rPr lang="ko-KR" altLang="en-US" sz="800" b="0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수행 결과서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(QA)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공통 컴포넌트 목록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후보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분석산출물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0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공통팀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" name="모서리가 둥근 직사각형 121"/>
          <p:cNvSpPr/>
          <p:nvPr/>
        </p:nvSpPr>
        <p:spPr bwMode="auto">
          <a:xfrm>
            <a:off x="2174875" y="5715000"/>
            <a:ext cx="2122488" cy="401638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컴포넌트 도출 가이드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공통 컴포넌트 목록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전체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컴포넌트 명세서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설계자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상호검증 매트릭스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설계자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" name="모서리가 둥근 직사각형 122"/>
          <p:cNvSpPr/>
          <p:nvPr/>
        </p:nvSpPr>
        <p:spPr bwMode="auto">
          <a:xfrm>
            <a:off x="2174875" y="6162675"/>
            <a:ext cx="2122488" cy="407988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설계 모델링 가이드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개발 표준 가이드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(SA, </a:t>
            </a:r>
            <a:r>
              <a:rPr lang="ko-KR" altLang="en-US" sz="800" b="0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공통팀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설계단계 산출물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0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공통팀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설계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0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수행 결과서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(QA)</a:t>
            </a:r>
            <a:endParaRPr lang="ko-KR" altLang="en-US" sz="8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모서리가 둥근 직사각형 124"/>
          <p:cNvSpPr/>
          <p:nvPr/>
        </p:nvSpPr>
        <p:spPr bwMode="auto">
          <a:xfrm>
            <a:off x="4508500" y="5314950"/>
            <a:ext cx="1525588" cy="579438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계획서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결과서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응용시스템 설계 가이드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응용시스템 개발 표준 및 가이드 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(SA)</a:t>
            </a:r>
            <a:endParaRPr lang="ko-KR" altLang="en-US" sz="8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6" name="모서리가 둥근 직사각형 125"/>
          <p:cNvSpPr/>
          <p:nvPr/>
        </p:nvSpPr>
        <p:spPr bwMode="auto">
          <a:xfrm>
            <a:off x="4508500" y="6053138"/>
            <a:ext cx="1525588" cy="439737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구현이슈 목록 및 해결방안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의사소통도구를 통한 </a:t>
            </a:r>
            <a:r>
              <a:rPr lang="ko-KR" altLang="en-US" sz="8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팀내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공지</a:t>
            </a:r>
          </a:p>
        </p:txBody>
      </p:sp>
      <p:sp>
        <p:nvSpPr>
          <p:cNvPr id="127" name="모서리가 둥근 직사각형 126"/>
          <p:cNvSpPr/>
          <p:nvPr/>
        </p:nvSpPr>
        <p:spPr bwMode="auto">
          <a:xfrm>
            <a:off x="6243638" y="5262563"/>
            <a:ext cx="1574800" cy="35560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수행 내용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수행 결과서 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(QA)</a:t>
            </a:r>
            <a:endParaRPr lang="ko-KR" altLang="en-US" sz="8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8" name="모서리가 둥근 직사각형 127"/>
          <p:cNvSpPr/>
          <p:nvPr/>
        </p:nvSpPr>
        <p:spPr bwMode="auto">
          <a:xfrm>
            <a:off x="6243638" y="5670550"/>
            <a:ext cx="1574800" cy="35560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응용프로그램 목록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Application Component Diagram (SA)</a:t>
            </a:r>
            <a:endParaRPr lang="ko-KR" altLang="en-US" sz="8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9" name="모서리가 둥근 직사각형 128"/>
          <p:cNvSpPr/>
          <p:nvPr/>
        </p:nvSpPr>
        <p:spPr bwMode="auto">
          <a:xfrm>
            <a:off x="6243638" y="6134100"/>
            <a:ext cx="1584325" cy="35401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통합테스트 케이스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로그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결함 추적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통합테스트 결과서 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테스트관리자 또는 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QA)</a:t>
            </a:r>
          </a:p>
        </p:txBody>
      </p:sp>
      <p:sp>
        <p:nvSpPr>
          <p:cNvPr id="130" name="모서리가 둥근 직사각형 129"/>
          <p:cNvSpPr/>
          <p:nvPr/>
        </p:nvSpPr>
        <p:spPr bwMode="auto">
          <a:xfrm>
            <a:off x="8080375" y="5260975"/>
            <a:ext cx="1501775" cy="35560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교육 훈련 계획서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사용자 매뉴얼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운영자 매뉴얼 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(SA)</a:t>
            </a:r>
            <a:endParaRPr lang="ko-KR" altLang="en-US" sz="8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1" name="모서리가 둥근 직사각형 130"/>
          <p:cNvSpPr/>
          <p:nvPr/>
        </p:nvSpPr>
        <p:spPr bwMode="auto">
          <a:xfrm>
            <a:off x="8080375" y="5668963"/>
            <a:ext cx="1501775" cy="35560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사용자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교육 진행 결과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운영전환 점검 결과서 </a:t>
            </a:r>
            <a:r>
              <a:rPr lang="en-US" altLang="ko-KR" sz="8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(SA)</a:t>
            </a:r>
            <a:endParaRPr lang="ko-KR" altLang="en-US" sz="8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2" name="모서리가 둥근 직사각형 131"/>
          <p:cNvSpPr/>
          <p:nvPr/>
        </p:nvSpPr>
        <p:spPr bwMode="auto">
          <a:xfrm>
            <a:off x="8080375" y="6132513"/>
            <a:ext cx="1520825" cy="35401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EAMS 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수정 요청 목록 및 산출물</a:t>
            </a:r>
          </a:p>
        </p:txBody>
      </p:sp>
      <p:sp>
        <p:nvSpPr>
          <p:cNvPr id="30757" name="TextBox 119"/>
          <p:cNvSpPr txBox="1">
            <a:spLocks noChangeArrowheads="1"/>
          </p:cNvSpPr>
          <p:nvPr/>
        </p:nvSpPr>
        <p:spPr bwMode="auto">
          <a:xfrm>
            <a:off x="320675" y="2570163"/>
            <a:ext cx="476250" cy="55403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AA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수행업무</a:t>
            </a:r>
            <a:endParaRPr lang="en-US" altLang="ko-KR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844550" y="792163"/>
            <a:ext cx="252413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1</a:t>
            </a:r>
            <a:endParaRPr lang="ko-KR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476250" y="5281613"/>
            <a:ext cx="252413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1</a:t>
            </a:r>
            <a:endParaRPr lang="ko-KR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11213" y="1808163"/>
            <a:ext cx="252412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2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476250" y="5802313"/>
            <a:ext cx="252413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2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2644775" y="792163"/>
            <a:ext cx="252413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3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644775" y="1235075"/>
            <a:ext cx="252413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4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2044700" y="5284788"/>
            <a:ext cx="252413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4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2644775" y="1779588"/>
            <a:ext cx="252413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5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044700" y="5743575"/>
            <a:ext cx="252413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5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4359275" y="792163"/>
            <a:ext cx="250825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6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2044700" y="6196013"/>
            <a:ext cx="252413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6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4359275" y="1397000"/>
            <a:ext cx="250825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7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4351338" y="5426075"/>
            <a:ext cx="252412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7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359275" y="1806575"/>
            <a:ext cx="250825" cy="32543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8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4360863" y="6069013"/>
            <a:ext cx="252412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8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089650" y="792163"/>
            <a:ext cx="250825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9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6088063" y="5294313"/>
            <a:ext cx="252412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9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6089650" y="1317625"/>
            <a:ext cx="250825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0" tIns="36000" rIns="0" bIns="36000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10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6088063" y="5664200"/>
            <a:ext cx="252412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0" tIns="36000" rIns="0" bIns="36000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10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6089650" y="1830388"/>
            <a:ext cx="250825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0" tIns="36000" rIns="0" bIns="36000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11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6088063" y="6126163"/>
            <a:ext cx="252412" cy="32543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0" tIns="36000" rIns="0" bIns="36000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11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7829550" y="792163"/>
            <a:ext cx="252413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0" tIns="36000" rIns="0" bIns="36000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12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7904163" y="5302250"/>
            <a:ext cx="250825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0" tIns="36000" rIns="0" bIns="36000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12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7832725" y="1174750"/>
            <a:ext cx="250825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0" tIns="36000" rIns="0" bIns="36000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13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7904163" y="5675313"/>
            <a:ext cx="250825" cy="32543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0" tIns="36000" rIns="0" bIns="36000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13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7823200" y="1804988"/>
            <a:ext cx="250825" cy="323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0" tIns="36000" rIns="0" bIns="36000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14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7904163" y="6126163"/>
            <a:ext cx="250825" cy="32543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0" tIns="36000" rIns="0" bIns="36000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14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168" name="모서리가 둥근 직사각형 167"/>
          <p:cNvSpPr/>
          <p:nvPr/>
        </p:nvSpPr>
        <p:spPr bwMode="auto">
          <a:xfrm>
            <a:off x="646113" y="6215063"/>
            <a:ext cx="1311275" cy="35401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Ins="0"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응용시스템 관계도</a:t>
            </a:r>
            <a:r>
              <a:rPr lang="en-US" altLang="ko-KR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관계기술서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76250" y="6240463"/>
            <a:ext cx="252413" cy="32543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/>
                <a:ea typeface="HY헤드라인M"/>
              </a:rPr>
              <a:t>3</a:t>
            </a:r>
            <a:endParaRPr lang="ko-KR" altLang="en-US" sz="1600" dirty="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/>
              <a:t>I. </a:t>
            </a:r>
            <a:r>
              <a:rPr lang="ko-KR" altLang="en-US" sz="1800" smtClean="0"/>
              <a:t>개요</a:t>
            </a:r>
            <a:r>
              <a:rPr lang="en-US" altLang="ko-KR" sz="1800" smtClean="0"/>
              <a:t/>
            </a:r>
            <a:br>
              <a:rPr lang="en-US" altLang="ko-KR" sz="1800" smtClean="0"/>
            </a:br>
            <a:r>
              <a:rPr lang="en-US" altLang="ko-KR" sz="1800" smtClean="0"/>
              <a:t>4. AA</a:t>
            </a:r>
            <a:r>
              <a:rPr lang="ko-KR" altLang="en-US" sz="1800" smtClean="0"/>
              <a:t>와 </a:t>
            </a:r>
            <a:r>
              <a:rPr lang="en-US" altLang="ko-KR" sz="1800" smtClean="0"/>
              <a:t>Stakeholder</a:t>
            </a:r>
            <a:r>
              <a:rPr lang="ko-KR" altLang="en-US" sz="1800" smtClean="0"/>
              <a:t>와의 관계</a:t>
            </a:r>
            <a:endParaRPr lang="en-US" altLang="ko-KR" sz="1800" smtClean="0"/>
          </a:p>
        </p:txBody>
      </p:sp>
      <p:grpSp>
        <p:nvGrpSpPr>
          <p:cNvPr id="31747" name="그룹 48"/>
          <p:cNvGrpSpPr>
            <a:grpSpLocks/>
          </p:cNvGrpSpPr>
          <p:nvPr/>
        </p:nvGrpSpPr>
        <p:grpSpPr bwMode="auto">
          <a:xfrm>
            <a:off x="401638" y="1344613"/>
            <a:ext cx="9047162" cy="4918075"/>
            <a:chOff x="401638" y="1344613"/>
            <a:chExt cx="9047231" cy="4918075"/>
          </a:xfrm>
        </p:grpSpPr>
        <p:sp>
          <p:nvSpPr>
            <p:cNvPr id="104" name="타원 103"/>
            <p:cNvSpPr/>
            <p:nvPr/>
          </p:nvSpPr>
          <p:spPr bwMode="auto">
            <a:xfrm>
              <a:off x="401638" y="3946525"/>
              <a:ext cx="2468581" cy="23161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noFill/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800" dirty="0">
                <a:latin typeface="Arial" charset="0"/>
                <a:ea typeface="굴림" charset="-127"/>
              </a:endParaRPr>
            </a:p>
          </p:txBody>
        </p:sp>
        <p:sp>
          <p:nvSpPr>
            <p:cNvPr id="103" name="타원 102"/>
            <p:cNvSpPr/>
            <p:nvPr/>
          </p:nvSpPr>
          <p:spPr bwMode="auto">
            <a:xfrm>
              <a:off x="3459186" y="2951163"/>
              <a:ext cx="3005160" cy="300672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noFill/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800" dirty="0">
                <a:latin typeface="Arial" charset="0"/>
                <a:ea typeface="굴림" charset="-127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 bwMode="auto">
            <a:xfrm>
              <a:off x="4381530" y="1846263"/>
              <a:ext cx="1212859" cy="2173287"/>
            </a:xfrm>
            <a:prstGeom prst="roundRect">
              <a:avLst/>
            </a:prstGeom>
            <a:solidFill>
              <a:schemeClr val="bg1">
                <a:lumMod val="85000"/>
                <a:alpha val="97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800" dirty="0">
                <a:latin typeface="Arial" charset="0"/>
                <a:ea typeface="굴림" charset="-127"/>
              </a:endParaRPr>
            </a:p>
          </p:txBody>
        </p:sp>
        <p:sp>
          <p:nvSpPr>
            <p:cNvPr id="2" name="타원 112"/>
            <p:cNvSpPr>
              <a:spLocks noChangeArrowheads="1"/>
            </p:cNvSpPr>
            <p:nvPr/>
          </p:nvSpPr>
          <p:spPr bwMode="auto">
            <a:xfrm>
              <a:off x="4527581" y="2105025"/>
              <a:ext cx="871545" cy="83502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5400" algn="ctr">
              <a:solidFill>
                <a:srgbClr val="A5A5E9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11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AA  </a:t>
              </a:r>
              <a:r>
                <a:rPr lang="ko-KR" altLang="en-US" sz="11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담당자</a:t>
              </a:r>
            </a:p>
          </p:txBody>
        </p:sp>
        <p:sp>
          <p:nvSpPr>
            <p:cNvPr id="31752" name="타원 198"/>
            <p:cNvSpPr>
              <a:spLocks noChangeArrowheads="1"/>
            </p:cNvSpPr>
            <p:nvPr/>
          </p:nvSpPr>
          <p:spPr bwMode="auto">
            <a:xfrm>
              <a:off x="3597275" y="4117975"/>
              <a:ext cx="871538" cy="835025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TA/</a:t>
              </a:r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인프라</a:t>
              </a:r>
              <a:r>
                <a:rPr lang="en-US" altLang="ko-KR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성능</a:t>
              </a:r>
            </a:p>
          </p:txBody>
        </p:sp>
        <p:sp>
          <p:nvSpPr>
            <p:cNvPr id="31753" name="타원 198"/>
            <p:cNvSpPr>
              <a:spLocks noChangeArrowheads="1"/>
            </p:cNvSpPr>
            <p:nvPr/>
          </p:nvSpPr>
          <p:spPr bwMode="auto">
            <a:xfrm>
              <a:off x="1277938" y="2427288"/>
              <a:ext cx="871537" cy="833437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QA</a:t>
              </a:r>
              <a:endParaRPr lang="ko-KR" altLang="en-US" sz="11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754" name="타원 198"/>
            <p:cNvSpPr>
              <a:spLocks noChangeArrowheads="1"/>
            </p:cNvSpPr>
            <p:nvPr/>
          </p:nvSpPr>
          <p:spPr bwMode="auto">
            <a:xfrm>
              <a:off x="5434013" y="4090988"/>
              <a:ext cx="871537" cy="835025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CBD </a:t>
              </a:r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</a:t>
              </a:r>
            </a:p>
          </p:txBody>
        </p:sp>
        <p:sp>
          <p:nvSpPr>
            <p:cNvPr id="31755" name="타원 198"/>
            <p:cNvSpPr>
              <a:spLocks noChangeArrowheads="1"/>
            </p:cNvSpPr>
            <p:nvPr/>
          </p:nvSpPr>
          <p:spPr bwMode="auto">
            <a:xfrm>
              <a:off x="717550" y="5084763"/>
              <a:ext cx="869950" cy="835025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분석</a:t>
              </a:r>
              <a:r>
                <a:rPr lang="en-US" altLang="ko-KR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설계자</a:t>
              </a:r>
            </a:p>
          </p:txBody>
        </p:sp>
        <p:cxnSp>
          <p:nvCxnSpPr>
            <p:cNvPr id="31756" name="AutoShape 615"/>
            <p:cNvCxnSpPr>
              <a:cxnSpLocks noChangeShapeType="1"/>
              <a:stCxn id="31766" idx="2"/>
            </p:cNvCxnSpPr>
            <p:nvPr/>
          </p:nvCxnSpPr>
          <p:spPr bwMode="auto">
            <a:xfrm rot="10800000" flipV="1">
              <a:off x="5272088" y="1762125"/>
              <a:ext cx="2398712" cy="4651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57" name="타원 198"/>
            <p:cNvSpPr>
              <a:spLocks noChangeArrowheads="1"/>
            </p:cNvSpPr>
            <p:nvPr/>
          </p:nvSpPr>
          <p:spPr bwMode="auto">
            <a:xfrm>
              <a:off x="1663700" y="5108575"/>
              <a:ext cx="871538" cy="835025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개발자</a:t>
              </a:r>
            </a:p>
          </p:txBody>
        </p:sp>
        <p:sp>
          <p:nvSpPr>
            <p:cNvPr id="31758" name="타원 198"/>
            <p:cNvSpPr>
              <a:spLocks noChangeArrowheads="1"/>
            </p:cNvSpPr>
            <p:nvPr/>
          </p:nvSpPr>
          <p:spPr bwMode="auto">
            <a:xfrm>
              <a:off x="7721600" y="2665413"/>
              <a:ext cx="869950" cy="835025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아키텍처</a:t>
              </a:r>
              <a:r>
                <a:rPr lang="en-US" altLang="ko-KR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&amp;AA</a:t>
              </a:r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</a:t>
              </a:r>
              <a:endParaRPr lang="en-US" altLang="ko-KR" sz="11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759" name="타원 198"/>
            <p:cNvSpPr>
              <a:spLocks noChangeArrowheads="1"/>
            </p:cNvSpPr>
            <p:nvPr/>
          </p:nvSpPr>
          <p:spPr bwMode="auto">
            <a:xfrm>
              <a:off x="7721600" y="4024313"/>
              <a:ext cx="869950" cy="835025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F/W&amp; </a:t>
              </a:r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솔루션 담당자</a:t>
              </a:r>
            </a:p>
          </p:txBody>
        </p:sp>
        <p:sp>
          <p:nvSpPr>
            <p:cNvPr id="31760" name="타원 198"/>
            <p:cNvSpPr>
              <a:spLocks noChangeArrowheads="1"/>
            </p:cNvSpPr>
            <p:nvPr/>
          </p:nvSpPr>
          <p:spPr bwMode="auto">
            <a:xfrm>
              <a:off x="7734300" y="5383213"/>
              <a:ext cx="869950" cy="835025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QA/</a:t>
              </a:r>
            </a:p>
            <a:p>
              <a:pPr eaLnBrk="1" hangingPunct="1"/>
              <a:r>
                <a:rPr lang="en-US" altLang="ko-KR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CBD </a:t>
              </a:r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</a:t>
              </a:r>
            </a:p>
          </p:txBody>
        </p:sp>
        <p:sp>
          <p:nvSpPr>
            <p:cNvPr id="31761" name="Text Box 631"/>
            <p:cNvSpPr txBox="1">
              <a:spLocks noChangeArrowheads="1"/>
            </p:cNvSpPr>
            <p:nvPr/>
          </p:nvSpPr>
          <p:spPr bwMode="auto">
            <a:xfrm>
              <a:off x="2212975" y="3181350"/>
              <a:ext cx="193514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아키텍처 이슈 대응 및 지원</a:t>
              </a:r>
            </a:p>
          </p:txBody>
        </p:sp>
        <p:sp>
          <p:nvSpPr>
            <p:cNvPr id="31762" name="Text Box 632"/>
            <p:cNvSpPr txBox="1">
              <a:spLocks noChangeArrowheads="1"/>
            </p:cNvSpPr>
            <p:nvPr/>
          </p:nvSpPr>
          <p:spPr bwMode="auto">
            <a:xfrm>
              <a:off x="2357438" y="3681413"/>
              <a:ext cx="174438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개발표준 교육 및 가이드</a:t>
              </a:r>
            </a:p>
          </p:txBody>
        </p:sp>
        <p:sp>
          <p:nvSpPr>
            <p:cNvPr id="31763" name="Text Box 634"/>
            <p:cNvSpPr txBox="1">
              <a:spLocks noChangeArrowheads="1"/>
            </p:cNvSpPr>
            <p:nvPr/>
          </p:nvSpPr>
          <p:spPr bwMode="auto">
            <a:xfrm>
              <a:off x="1887538" y="3905250"/>
              <a:ext cx="261161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분석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설계 모델링 가이드 제공 및 교육</a:t>
              </a:r>
            </a:p>
          </p:txBody>
        </p:sp>
        <p:sp>
          <p:nvSpPr>
            <p:cNvPr id="31764" name="Text Box 635"/>
            <p:cNvSpPr txBox="1">
              <a:spLocks noChangeArrowheads="1"/>
            </p:cNvSpPr>
            <p:nvPr/>
          </p:nvSpPr>
          <p:spPr bwMode="auto">
            <a:xfrm>
              <a:off x="5478463" y="2259013"/>
              <a:ext cx="251222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응용시스템 기능 체계 수립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의사결정</a:t>
              </a:r>
            </a:p>
            <a:p>
              <a:pPr eaLnBrk="1" hangingPunct="1">
                <a:spcBef>
                  <a:spcPct val="0"/>
                </a:spcBef>
              </a:pP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응용 아키텍처 이슈 진행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의사결정 </a:t>
              </a:r>
            </a:p>
          </p:txBody>
        </p:sp>
        <p:sp>
          <p:nvSpPr>
            <p:cNvPr id="31765" name="Text Box 636"/>
            <p:cNvSpPr txBox="1">
              <a:spLocks noChangeArrowheads="1"/>
            </p:cNvSpPr>
            <p:nvPr/>
          </p:nvSpPr>
          <p:spPr bwMode="auto">
            <a:xfrm>
              <a:off x="6146800" y="3536950"/>
              <a:ext cx="203934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개발표준 수립 협업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의사결정</a:t>
              </a:r>
            </a:p>
          </p:txBody>
        </p:sp>
        <p:sp>
          <p:nvSpPr>
            <p:cNvPr id="31766" name="타원 198"/>
            <p:cNvSpPr>
              <a:spLocks noChangeArrowheads="1"/>
            </p:cNvSpPr>
            <p:nvPr/>
          </p:nvSpPr>
          <p:spPr bwMode="auto">
            <a:xfrm>
              <a:off x="7670800" y="1344613"/>
              <a:ext cx="869950" cy="835025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현업업무담당자</a:t>
              </a:r>
            </a:p>
          </p:txBody>
        </p:sp>
        <p:sp>
          <p:nvSpPr>
            <p:cNvPr id="31767" name="Text Box 640"/>
            <p:cNvSpPr txBox="1">
              <a:spLocks noChangeArrowheads="1"/>
            </p:cNvSpPr>
            <p:nvPr/>
          </p:nvSpPr>
          <p:spPr bwMode="auto">
            <a:xfrm>
              <a:off x="2655888" y="1644650"/>
              <a:ext cx="2371162" cy="355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50000"/>
                </a:lnSpc>
              </a:pP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테스트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이행 시 최종환경점검 지원</a:t>
              </a:r>
            </a:p>
            <a:p>
              <a:pPr eaLnBrk="1" hangingPunct="1">
                <a:lnSpc>
                  <a:spcPct val="50000"/>
                </a:lnSpc>
              </a:pP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소스 형상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&amp;Release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 대응</a:t>
              </a:r>
            </a:p>
          </p:txBody>
        </p:sp>
        <p:cxnSp>
          <p:nvCxnSpPr>
            <p:cNvPr id="31768" name="AutoShape 642"/>
            <p:cNvCxnSpPr>
              <a:cxnSpLocks noChangeShapeType="1"/>
            </p:cNvCxnSpPr>
            <p:nvPr/>
          </p:nvCxnSpPr>
          <p:spPr bwMode="auto">
            <a:xfrm>
              <a:off x="8553450" y="1890713"/>
              <a:ext cx="673100" cy="1817687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9" name="AutoShape 643"/>
            <p:cNvCxnSpPr>
              <a:cxnSpLocks noChangeShapeType="1"/>
            </p:cNvCxnSpPr>
            <p:nvPr/>
          </p:nvCxnSpPr>
          <p:spPr bwMode="auto">
            <a:xfrm>
              <a:off x="8604250" y="3211513"/>
              <a:ext cx="622300" cy="496887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0" name="AutoShape 644"/>
            <p:cNvCxnSpPr>
              <a:cxnSpLocks noChangeShapeType="1"/>
            </p:cNvCxnSpPr>
            <p:nvPr/>
          </p:nvCxnSpPr>
          <p:spPr bwMode="auto">
            <a:xfrm flipV="1">
              <a:off x="8604250" y="3952875"/>
              <a:ext cx="622300" cy="617538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1" name="AutoShape 645"/>
            <p:cNvCxnSpPr>
              <a:cxnSpLocks noChangeShapeType="1"/>
            </p:cNvCxnSpPr>
            <p:nvPr/>
          </p:nvCxnSpPr>
          <p:spPr bwMode="auto">
            <a:xfrm flipV="1">
              <a:off x="8616950" y="3952875"/>
              <a:ext cx="609600" cy="1976438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72" name="Text Box 651"/>
            <p:cNvSpPr txBox="1">
              <a:spLocks noChangeArrowheads="1"/>
            </p:cNvSpPr>
            <p:nvPr/>
          </p:nvSpPr>
          <p:spPr bwMode="auto">
            <a:xfrm>
              <a:off x="6491288" y="4983163"/>
              <a:ext cx="232948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방법론 테일러링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&amp;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모델링표준수립</a:t>
              </a:r>
            </a:p>
          </p:txBody>
        </p:sp>
        <p:sp>
          <p:nvSpPr>
            <p:cNvPr id="31773" name="Text Box 654"/>
            <p:cNvSpPr txBox="1">
              <a:spLocks noChangeArrowheads="1"/>
            </p:cNvSpPr>
            <p:nvPr/>
          </p:nvSpPr>
          <p:spPr bwMode="auto">
            <a:xfrm>
              <a:off x="2408238" y="2347913"/>
              <a:ext cx="1744388" cy="355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50000"/>
                </a:lnSpc>
              </a:pP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산출물 품질검토 지원</a:t>
              </a:r>
              <a:endPara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lnSpc>
                  <a:spcPct val="50000"/>
                </a:lnSpc>
              </a:pP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설계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인스펙션 지원</a:t>
              </a:r>
              <a:endPara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774" name="Text Box 656"/>
            <p:cNvSpPr txBox="1">
              <a:spLocks noChangeArrowheads="1"/>
            </p:cNvSpPr>
            <p:nvPr/>
          </p:nvSpPr>
          <p:spPr bwMode="auto">
            <a:xfrm>
              <a:off x="2106613" y="3424238"/>
              <a:ext cx="216758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모델과 개발소스의 동기화 확인</a:t>
              </a:r>
            </a:p>
          </p:txBody>
        </p:sp>
        <p:sp>
          <p:nvSpPr>
            <p:cNvPr id="31775" name="타원 198"/>
            <p:cNvSpPr>
              <a:spLocks noChangeArrowheads="1"/>
            </p:cNvSpPr>
            <p:nvPr/>
          </p:nvSpPr>
          <p:spPr bwMode="auto">
            <a:xfrm>
              <a:off x="1249363" y="1438275"/>
              <a:ext cx="871537" cy="833438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테스트 관리자</a:t>
              </a:r>
            </a:p>
          </p:txBody>
        </p:sp>
        <p:sp>
          <p:nvSpPr>
            <p:cNvPr id="31776" name="Text Box 641"/>
            <p:cNvSpPr txBox="1">
              <a:spLocks noChangeArrowheads="1"/>
            </p:cNvSpPr>
            <p:nvPr/>
          </p:nvSpPr>
          <p:spPr bwMode="auto">
            <a:xfrm>
              <a:off x="8982075" y="3690938"/>
              <a:ext cx="46679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</a:p>
          </p:txBody>
        </p:sp>
        <p:sp>
          <p:nvSpPr>
            <p:cNvPr id="31777" name="타원 198"/>
            <p:cNvSpPr>
              <a:spLocks noChangeArrowheads="1"/>
            </p:cNvSpPr>
            <p:nvPr/>
          </p:nvSpPr>
          <p:spPr bwMode="auto">
            <a:xfrm>
              <a:off x="1176338" y="4030663"/>
              <a:ext cx="869950" cy="833437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lang="en-US" altLang="ko-KR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PL</a:t>
              </a:r>
              <a:endParaRPr lang="ko-KR" altLang="en-US" sz="11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778" name="타원 198"/>
            <p:cNvSpPr>
              <a:spLocks noChangeArrowheads="1"/>
            </p:cNvSpPr>
            <p:nvPr/>
          </p:nvSpPr>
          <p:spPr bwMode="auto">
            <a:xfrm>
              <a:off x="4098925" y="4957763"/>
              <a:ext cx="869950" cy="833437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공통설계자</a:t>
              </a:r>
              <a:endParaRPr lang="en-US" altLang="ko-KR" sz="11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779" name="타원 198"/>
            <p:cNvSpPr>
              <a:spLocks noChangeArrowheads="1"/>
            </p:cNvSpPr>
            <p:nvPr/>
          </p:nvSpPr>
          <p:spPr bwMode="auto">
            <a:xfrm>
              <a:off x="5032375" y="4953000"/>
              <a:ext cx="869950" cy="835025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공통개발자</a:t>
              </a:r>
              <a:endParaRPr lang="en-US" altLang="ko-KR" sz="11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31780" name="AutoShape 638"/>
            <p:cNvCxnSpPr>
              <a:cxnSpLocks noChangeShapeType="1"/>
              <a:stCxn id="31775" idx="0"/>
              <a:endCxn id="31766" idx="1"/>
            </p:cNvCxnSpPr>
            <p:nvPr/>
          </p:nvCxnSpPr>
          <p:spPr bwMode="auto">
            <a:xfrm rot="16200000" flipH="1">
              <a:off x="4726781" y="-1604168"/>
              <a:ext cx="28575" cy="6113462"/>
            </a:xfrm>
            <a:prstGeom prst="bentConnector3">
              <a:avLst>
                <a:gd name="adj1" fmla="val -1103898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1" name="AutoShape 615"/>
            <p:cNvCxnSpPr>
              <a:cxnSpLocks noChangeShapeType="1"/>
              <a:stCxn id="31760" idx="1"/>
              <a:endCxn id="31754" idx="5"/>
            </p:cNvCxnSpPr>
            <p:nvPr/>
          </p:nvCxnSpPr>
          <p:spPr bwMode="auto">
            <a:xfrm rot="16200000" flipV="1">
              <a:off x="6668294" y="4312444"/>
              <a:ext cx="701675" cy="16843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82" name="타원 198"/>
            <p:cNvSpPr>
              <a:spLocks noChangeArrowheads="1"/>
            </p:cNvSpPr>
            <p:nvPr/>
          </p:nvSpPr>
          <p:spPr bwMode="auto">
            <a:xfrm>
              <a:off x="4564063" y="3040063"/>
              <a:ext cx="871537" cy="835025"/>
            </a:xfrm>
            <a:prstGeom prst="ellipse">
              <a:avLst/>
            </a:prstGeom>
            <a:noFill/>
            <a:ln w="25400" algn="ctr">
              <a:solidFill>
                <a:srgbClr val="A5A5E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1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Jr. SA (Jr. AA)</a:t>
              </a:r>
              <a:endParaRPr lang="ko-KR" altLang="en-US" sz="11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31783" name="AutoShape 615"/>
            <p:cNvCxnSpPr>
              <a:cxnSpLocks noChangeShapeType="1"/>
              <a:stCxn id="31775" idx="6"/>
            </p:cNvCxnSpPr>
            <p:nvPr/>
          </p:nvCxnSpPr>
          <p:spPr bwMode="auto">
            <a:xfrm>
              <a:off x="2120900" y="1855788"/>
              <a:ext cx="2535238" cy="3714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4" name="AutoShape 615"/>
            <p:cNvCxnSpPr>
              <a:cxnSpLocks noChangeShapeType="1"/>
              <a:stCxn id="31758" idx="2"/>
            </p:cNvCxnSpPr>
            <p:nvPr/>
          </p:nvCxnSpPr>
          <p:spPr bwMode="auto">
            <a:xfrm rot="10800000">
              <a:off x="5399088" y="2522538"/>
              <a:ext cx="2322512" cy="56038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5" name="AutoShape 615"/>
            <p:cNvCxnSpPr>
              <a:cxnSpLocks noChangeShapeType="1"/>
              <a:stCxn id="31759" idx="1"/>
            </p:cNvCxnSpPr>
            <p:nvPr/>
          </p:nvCxnSpPr>
          <p:spPr bwMode="auto">
            <a:xfrm rot="16200000" flipV="1">
              <a:off x="5895975" y="2193926"/>
              <a:ext cx="1328737" cy="25765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6" name="AutoShape 615"/>
            <p:cNvCxnSpPr>
              <a:cxnSpLocks noChangeShapeType="1"/>
              <a:stCxn id="31753" idx="6"/>
            </p:cNvCxnSpPr>
            <p:nvPr/>
          </p:nvCxnSpPr>
          <p:spPr bwMode="auto">
            <a:xfrm flipV="1">
              <a:off x="2149475" y="2522538"/>
              <a:ext cx="2378075" cy="3206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7" name="AutoShape 615"/>
            <p:cNvCxnSpPr>
              <a:cxnSpLocks noChangeShapeType="1"/>
              <a:stCxn id="104" idx="7"/>
            </p:cNvCxnSpPr>
            <p:nvPr/>
          </p:nvCxnSpPr>
          <p:spPr bwMode="auto">
            <a:xfrm rot="5400000" flipH="1" flipV="1">
              <a:off x="2847975" y="2478088"/>
              <a:ext cx="1468437" cy="21478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8" name="AutoShape 615"/>
            <p:cNvCxnSpPr>
              <a:cxnSpLocks noChangeShapeType="1"/>
              <a:stCxn id="31752" idx="7"/>
              <a:endCxn id="102" idx="2"/>
            </p:cNvCxnSpPr>
            <p:nvPr/>
          </p:nvCxnSpPr>
          <p:spPr bwMode="auto">
            <a:xfrm rot="5400000" flipH="1" flipV="1">
              <a:off x="4553743" y="3806032"/>
              <a:ext cx="220663" cy="6477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9" name="AutoShape 615"/>
            <p:cNvCxnSpPr>
              <a:cxnSpLocks noChangeShapeType="1"/>
              <a:stCxn id="31778" idx="0"/>
              <a:endCxn id="102" idx="2"/>
            </p:cNvCxnSpPr>
            <p:nvPr/>
          </p:nvCxnSpPr>
          <p:spPr bwMode="auto">
            <a:xfrm rot="5400000" flipH="1" flipV="1">
              <a:off x="4291806" y="4261644"/>
              <a:ext cx="938213" cy="4540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90" name="AutoShape 615"/>
            <p:cNvCxnSpPr>
              <a:cxnSpLocks noChangeShapeType="1"/>
              <a:stCxn id="31779" idx="0"/>
              <a:endCxn id="102" idx="2"/>
            </p:cNvCxnSpPr>
            <p:nvPr/>
          </p:nvCxnSpPr>
          <p:spPr bwMode="auto">
            <a:xfrm rot="16200000" flipV="1">
              <a:off x="4760913" y="4246562"/>
              <a:ext cx="933450" cy="4794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91" name="AutoShape 615"/>
            <p:cNvCxnSpPr>
              <a:cxnSpLocks noChangeShapeType="1"/>
              <a:stCxn id="102" idx="2"/>
              <a:endCxn id="31754" idx="1"/>
            </p:cNvCxnSpPr>
            <p:nvPr/>
          </p:nvCxnSpPr>
          <p:spPr bwMode="auto">
            <a:xfrm rot="16200000" flipH="1">
              <a:off x="5177631" y="3829844"/>
              <a:ext cx="193675" cy="5730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1.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기능체계 수립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endParaRPr lang="en-US" altLang="ko-KR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11271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 기능체계 수립 업무는 응용시스템을 정의하고 기능체계를 수립함으로써 구축해야 할 응용시스템의 전체적 모습과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기능범위를 명확히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772" name="Rectangle 6"/>
          <p:cNvSpPr>
            <a:spLocks noChangeArrowheads="1"/>
          </p:cNvSpPr>
          <p:nvPr/>
        </p:nvSpPr>
        <p:spPr bwMode="auto">
          <a:xfrm>
            <a:off x="3505200" y="2124075"/>
            <a:ext cx="2933700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358775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SzPct val="120000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1.1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전사 응용시스템 아키텍처 분석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정보기술아키텍처원칙과 참조모델 정보수렴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현행 응용아키텍처 분석자료 참조 및 개선과제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이행계획 산출물 검토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SzPct val="120000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1.2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기능분류 정의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기능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/2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차 기능 정의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SzPct val="120000"/>
              <a:buFontTx/>
              <a:buAutoNum type="arabicPeriod"/>
            </a:pPr>
            <a:endParaRPr lang="en-US" altLang="zh-CN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73" name="TextBox 14"/>
          <p:cNvSpPr txBox="1">
            <a:spLocks noChangeArrowheads="1"/>
          </p:cNvSpPr>
          <p:nvPr/>
        </p:nvSpPr>
        <p:spPr bwMode="auto">
          <a:xfrm>
            <a:off x="504825" y="2143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CV2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정보기술아키텍처원칙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RV2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서비스컴포넌트 참조모델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RV4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기술참조모델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현행응용아키텍처분석서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목표아키텍처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개선과제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이행계획 산출물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AV1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구성도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정의서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AV3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응용기능 분할도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분할기술서</a:t>
            </a:r>
          </a:p>
        </p:txBody>
      </p:sp>
      <p:sp>
        <p:nvSpPr>
          <p:cNvPr id="32774" name="TextBox 15"/>
          <p:cNvSpPr txBox="1">
            <a:spLocks noChangeArrowheads="1"/>
          </p:cNvSpPr>
          <p:nvPr/>
        </p:nvSpPr>
        <p:spPr bwMode="auto">
          <a:xfrm>
            <a:off x="7296150" y="2133600"/>
            <a:ext cx="2085975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AV1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구성도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정의서 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AV3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응용기능분할도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분할기술서</a:t>
            </a:r>
          </a:p>
        </p:txBody>
      </p:sp>
      <p:sp>
        <p:nvSpPr>
          <p:cNvPr id="14" name="AutoShape 73"/>
          <p:cNvSpPr>
            <a:spLocks noChangeArrowheads="1"/>
          </p:cNvSpPr>
          <p:nvPr/>
        </p:nvSpPr>
        <p:spPr bwMode="auto">
          <a:xfrm>
            <a:off x="3505200" y="5591175"/>
            <a:ext cx="2971800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IT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부서 </a:t>
            </a: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EA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담당자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32776" name="TextBox 14"/>
          <p:cNvSpPr txBox="1">
            <a:spLocks noChangeArrowheads="1"/>
          </p:cNvSpPr>
          <p:nvPr/>
        </p:nvSpPr>
        <p:spPr bwMode="auto">
          <a:xfrm>
            <a:off x="504825" y="4905375"/>
            <a:ext cx="216217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EA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구축이 진행 중이거나 완료되어 목표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EA 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산출물이 존재함 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조직의 정보기술아키텍처 원칙 중 응용시스템 분야의 원칙이 수립되어 있어야 함</a:t>
            </a:r>
          </a:p>
        </p:txBody>
      </p:sp>
      <p:sp>
        <p:nvSpPr>
          <p:cNvPr id="32777" name="TextBox 15"/>
          <p:cNvSpPr txBox="1">
            <a:spLocks noChangeArrowheads="1"/>
          </p:cNvSpPr>
          <p:nvPr/>
        </p:nvSpPr>
        <p:spPr bwMode="auto">
          <a:xfrm>
            <a:off x="7296150" y="4886325"/>
            <a:ext cx="210502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산출물에 대한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담당자의 검토 합의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관련자들에게 소개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설명</a:t>
            </a:r>
          </a:p>
        </p:txBody>
      </p:sp>
      <p:sp>
        <p:nvSpPr>
          <p:cNvPr id="32778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800350" y="2665413"/>
            <a:ext cx="533400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32779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564313" y="2665413"/>
            <a:ext cx="598487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23" name="위쪽/아래쪽 화살표 22"/>
          <p:cNvSpPr/>
          <p:nvPr/>
        </p:nvSpPr>
        <p:spPr bwMode="auto">
          <a:xfrm>
            <a:off x="4648200" y="5153025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3494088" y="1828800"/>
            <a:ext cx="2952750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506413" y="1855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Input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7288213" y="1839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Output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506413" y="4625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Prerequisite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7288213" y="4618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  <a:latin typeface="Arial" charset="0"/>
              </a:rPr>
              <a:t>Criteria</a:t>
            </a:r>
            <a:endParaRPr lang="en-US" altLang="zh-CN" sz="1400" dirty="0">
              <a:solidFill>
                <a:schemeClr val="bg1"/>
              </a:solidFill>
              <a:latin typeface="Arial" charset="0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 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1.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기능체계 수립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r>
              <a:rPr lang="en-US" altLang="ko-KR" sz="1800" smtClean="0"/>
              <a:t>&gt; 1.1 </a:t>
            </a:r>
            <a:r>
              <a:rPr lang="ko-KR" altLang="en-US" sz="1800" smtClean="0"/>
              <a:t>전사 응용시스템 아키텍처 분석</a:t>
            </a:r>
            <a:endParaRPr lang="en-US" altLang="ko-KR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16430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전사 응용시스템 아키텍처 분석을 위해서는 조직의 정보기술아키텍처원칙과 참조모델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(SRM,TRM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등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존재해야만이 이를 바탕으로 목표 응용시스템의 모습을 정확히 구현할 수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그런데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를 기 구축하여 운영 중인 조직이라면 응용 아키텍처 원칙과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SRM(Service Component Reference Model), TRM(Technical Reference Model)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존재하지만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구축되어 있지 않는 조직이나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구축되어 있어도 일부산출물이 부실할 경우 이 단계에서의 수행작업에는 한계가 존재한다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후자의 경우는 이의 대체작업으로 나름의 연관 있는 산출물을 고객으로부터 확보하여 진행한 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반대로 향 후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를 구축하거나 고도화 할 경우를 감안하여 이를 위한 기초자료로서 역할을 할 수 있게 제공해 준다면 상당히 의미 있는 작업이 될 것이다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379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925" y="2178050"/>
            <a:ext cx="5272088" cy="278447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7" name="모서리가 둥근 직사각형 6"/>
          <p:cNvSpPr>
            <a:spLocks noChangeArrowheads="1"/>
          </p:cNvSpPr>
          <p:nvPr/>
        </p:nvSpPr>
        <p:spPr bwMode="auto">
          <a:xfrm>
            <a:off x="6467475" y="2857500"/>
            <a:ext cx="2876550" cy="8191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1500"/>
          </a:p>
        </p:txBody>
      </p:sp>
      <p:sp>
        <p:nvSpPr>
          <p:cNvPr id="8" name="직사각형 7"/>
          <p:cNvSpPr/>
          <p:nvPr/>
        </p:nvSpPr>
        <p:spPr>
          <a:xfrm>
            <a:off x="320675" y="2089150"/>
            <a:ext cx="4003675" cy="29733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수행업무 설명</a:t>
            </a: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오른쪽 그림에서 보듯이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를 구축하면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원칙과 각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관점별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아키텍처 원칙이 존재한다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중 응용아키텍처 원칙은 구축될 응용시스템의 품질요소 중 가장 중요한 부분으로서 반드시 이를 염두하여 응용시스템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구축시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활용할 모든 기준에 적용해야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만일 목표 응용시스템의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AV1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응용시스템구성도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정의서와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AV3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응용기능분할도 정보가 존재한다면 이 정보를 적극 참조하되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구축시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재정의되는 부분을 향 후 반영한다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전사 응용시스템 아키텍처 분석 후의 산출물은 재정의된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AV1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 구성도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정의서이다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여기에 구축되어야 할 응용시스템의 기초정보가 반영되도록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20675" y="4943475"/>
            <a:ext cx="9304338" cy="19018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 startAt="2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유의 사항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문서에는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과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사례를 포함하지 않았다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그러나 구축된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과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정보가 존재한다면 반드시 참조하여 응용시스템의 전체 구조를 결정하는데 기초자료로 활용하여야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경우는 응용시스템의 컴포넌트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모듈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구성을 위해 참조해야 하며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TRM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경우는 응용시스템에 적용해야 하는 기술요소를 선정하는데 필요하다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즉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과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 근거하지 않은 새로운 구조나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기술요소를 적용할 경우는 반드시 향 후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과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 반영되어야 함을 염두에 두어야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만일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컨설팅을 이전에 수행하였었다면 현행 응용아키텍처 분석서 및 이행과제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목표응용아키텍처 산출물이 있을 것이므로 이를 적극 참조하여 시스템에 반영하여야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800" name="TextBox 9"/>
          <p:cNvSpPr txBox="1">
            <a:spLocks noChangeArrowheads="1"/>
          </p:cNvSpPr>
          <p:nvPr/>
        </p:nvSpPr>
        <p:spPr bwMode="auto">
          <a:xfrm>
            <a:off x="5410200" y="5000625"/>
            <a:ext cx="35433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원칙 또는 정보기술아키텍처원칙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1.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기능체계 수립</a:t>
            </a:r>
            <a:r>
              <a:rPr lang="en-US" altLang="ko-KR" sz="1800" smtClean="0">
                <a:solidFill>
                  <a:srgbClr val="000000"/>
                </a:solidFill>
              </a:rPr>
              <a:t> &gt; 1.1 </a:t>
            </a:r>
            <a:r>
              <a:rPr lang="ko-KR" altLang="en-US" sz="1800" smtClean="0">
                <a:solidFill>
                  <a:srgbClr val="000000"/>
                </a:solidFill>
              </a:rPr>
              <a:t>전사 응용시스템 아키텍처 분석</a:t>
            </a:r>
            <a:endParaRPr lang="en-US" altLang="ko-KR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904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전사 응용시스템 아키텍처 분석의 핵심 산출물로서 확정된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AV1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 구성도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정의서의 내용은 다음과 같다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보통 제안서에서 볼 수 있는 응용시스템구성도 또는 전사시스템이미지와 유사한 형태의 그림으로 표현이 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30200" y="1358900"/>
            <a:ext cx="4518025" cy="3378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수행업무 설명</a:t>
            </a: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전사 응용시스템 구성을 한 장의 이미지로 표현하기 위해 먼저 도출된 모든 응용시스템에 대해 도메인 영역을 나누고 각 영역에 포함되는 응용시스템을 배치한다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신규로 구축되는 응용시스템에 대해서 별도의 표시로 구분하고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응용시스템에 대한 기본정보를 정의해 둔다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하단 표 참조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 startAt="2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유의 사항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일반적으로 여러 개의 단위 응용시스템을 묶어 하나의 응용시스템으로 표현하는 경우가 많다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이럴 경우에는 어떤 크기로 응용시스템을 정의할 것인지 신중히 고려해야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왜냐하면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관점에서는 개별 응용시스템 단위로만 관리가 되므로 서브 시스템이 포함된 복합시스템을 하나의 응용시스템으로 정의할 경우 서브 시스템들은 기능분류의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대기능으로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흡수되기 때문이다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20675" y="4638675"/>
            <a:ext cx="9304338" cy="6826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AV1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에서 관리하는 응용시스템 상세정보가 구축된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별로 다를 수 있으므로 아래 항목 외에 추가정보가 있는지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담당자를 통해 항목을 조사한다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4822" name="그룹 220"/>
          <p:cNvGrpSpPr>
            <a:grpSpLocks/>
          </p:cNvGrpSpPr>
          <p:nvPr/>
        </p:nvGrpSpPr>
        <p:grpSpPr bwMode="auto">
          <a:xfrm>
            <a:off x="4908550" y="1457325"/>
            <a:ext cx="4716463" cy="2967038"/>
            <a:chOff x="1119188" y="982663"/>
            <a:chExt cx="7676145" cy="5227432"/>
          </a:xfrm>
        </p:grpSpPr>
        <p:sp>
          <p:nvSpPr>
            <p:cNvPr id="34852" name="AutoShape 34"/>
            <p:cNvSpPr>
              <a:spLocks noChangeArrowheads="1"/>
            </p:cNvSpPr>
            <p:nvPr/>
          </p:nvSpPr>
          <p:spPr bwMode="auto">
            <a:xfrm rot="-5400000">
              <a:off x="2667794" y="1826419"/>
              <a:ext cx="147638" cy="431800"/>
            </a:xfrm>
            <a:prstGeom prst="can">
              <a:avLst>
                <a:gd name="adj" fmla="val 22802"/>
              </a:avLst>
            </a:prstGeom>
            <a:gradFill rotWithShape="1">
              <a:gsLst>
                <a:gs pos="0">
                  <a:srgbClr val="808080"/>
                </a:gs>
                <a:gs pos="50000">
                  <a:srgbClr val="EAEAEA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666699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latinLnBrk="1" hangingPunct="1">
                <a:spcBef>
                  <a:spcPct val="0"/>
                </a:spcBef>
              </a:pPr>
              <a:endParaRPr lang="ko-KR" altLang="en-US" sz="400" b="0">
                <a:solidFill>
                  <a:srgbClr val="000000"/>
                </a:solidFill>
                <a:latin typeface="산돌고딕 M" pitchFamily="50" charset="-127"/>
                <a:ea typeface="산돌고딕 M" pitchFamily="50" charset="-127"/>
              </a:endParaRPr>
            </a:p>
          </p:txBody>
        </p:sp>
        <p:sp>
          <p:nvSpPr>
            <p:cNvPr id="34853" name="AutoShape 34"/>
            <p:cNvSpPr>
              <a:spLocks noChangeArrowheads="1"/>
            </p:cNvSpPr>
            <p:nvPr/>
          </p:nvSpPr>
          <p:spPr bwMode="auto">
            <a:xfrm rot="-5400000">
              <a:off x="2667794" y="5039519"/>
              <a:ext cx="147638" cy="431800"/>
            </a:xfrm>
            <a:prstGeom prst="can">
              <a:avLst>
                <a:gd name="adj" fmla="val 22802"/>
              </a:avLst>
            </a:prstGeom>
            <a:gradFill rotWithShape="1">
              <a:gsLst>
                <a:gs pos="0">
                  <a:srgbClr val="808080"/>
                </a:gs>
                <a:gs pos="50000">
                  <a:srgbClr val="EAEAEA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666699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latinLnBrk="1" hangingPunct="1">
                <a:spcBef>
                  <a:spcPct val="0"/>
                </a:spcBef>
              </a:pPr>
              <a:endParaRPr lang="ko-KR" altLang="en-US" sz="400" b="0">
                <a:solidFill>
                  <a:srgbClr val="000000"/>
                </a:solidFill>
                <a:latin typeface="산돌고딕 M" pitchFamily="50" charset="-127"/>
                <a:ea typeface="산돌고딕 M" pitchFamily="50" charset="-127"/>
              </a:endParaRPr>
            </a:p>
          </p:txBody>
        </p:sp>
        <p:sp>
          <p:nvSpPr>
            <p:cNvPr id="34854" name="AutoShape 34"/>
            <p:cNvSpPr>
              <a:spLocks noChangeArrowheads="1"/>
            </p:cNvSpPr>
            <p:nvPr/>
          </p:nvSpPr>
          <p:spPr bwMode="auto">
            <a:xfrm rot="-5400000">
              <a:off x="2667794" y="3540919"/>
              <a:ext cx="147638" cy="431800"/>
            </a:xfrm>
            <a:prstGeom prst="can">
              <a:avLst>
                <a:gd name="adj" fmla="val 22802"/>
              </a:avLst>
            </a:prstGeom>
            <a:gradFill rotWithShape="1">
              <a:gsLst>
                <a:gs pos="0">
                  <a:srgbClr val="808080"/>
                </a:gs>
                <a:gs pos="50000">
                  <a:srgbClr val="EAEAEA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666699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latinLnBrk="1" hangingPunct="1">
                <a:spcBef>
                  <a:spcPct val="0"/>
                </a:spcBef>
              </a:pPr>
              <a:endParaRPr lang="ko-KR" altLang="en-US" sz="400" b="0">
                <a:solidFill>
                  <a:srgbClr val="000000"/>
                </a:solidFill>
                <a:latin typeface="산돌고딕 M" pitchFamily="50" charset="-127"/>
                <a:ea typeface="산돌고딕 M" pitchFamily="50" charset="-127"/>
              </a:endParaRPr>
            </a:p>
          </p:txBody>
        </p:sp>
        <p:grpSp>
          <p:nvGrpSpPr>
            <p:cNvPr id="34855" name="Group 207"/>
            <p:cNvGrpSpPr>
              <a:grpSpLocks/>
            </p:cNvGrpSpPr>
            <p:nvPr/>
          </p:nvGrpSpPr>
          <p:grpSpPr bwMode="auto">
            <a:xfrm>
              <a:off x="2798763" y="1674813"/>
              <a:ext cx="5951537" cy="2484437"/>
              <a:chOff x="881" y="2697"/>
              <a:chExt cx="1024" cy="483"/>
            </a:xfrm>
          </p:grpSpPr>
          <p:sp>
            <p:nvSpPr>
              <p:cNvPr id="34946" name="AutoShape 208"/>
              <p:cNvSpPr>
                <a:spLocks noChangeArrowheads="1"/>
              </p:cNvSpPr>
              <p:nvPr/>
            </p:nvSpPr>
            <p:spPr bwMode="auto">
              <a:xfrm>
                <a:off x="881" y="2697"/>
                <a:ext cx="1024" cy="483"/>
              </a:xfrm>
              <a:prstGeom prst="roundRect">
                <a:avLst>
                  <a:gd name="adj" fmla="val 5796"/>
                </a:avLst>
              </a:prstGeom>
              <a:gradFill rotWithShape="0">
                <a:gsLst>
                  <a:gs pos="0">
                    <a:srgbClr val="D2E1F0"/>
                  </a:gs>
                  <a:gs pos="100000">
                    <a:srgbClr val="F5F8FC"/>
                  </a:gs>
                </a:gsLst>
                <a:lin ang="5400000" scaled="1"/>
              </a:gradFill>
              <a:ln w="19050">
                <a:solidFill>
                  <a:srgbClr val="94B8DC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en-US" altLang="ko-KR" sz="400">
                  <a:solidFill>
                    <a:srgbClr val="000000"/>
                  </a:solidFill>
                  <a:latin typeface="산돌고딕 M" pitchFamily="50" charset="-127"/>
                  <a:ea typeface="산돌고딕 M" pitchFamily="50" charset="-127"/>
                </a:endParaRPr>
              </a:p>
            </p:txBody>
          </p:sp>
          <p:sp>
            <p:nvSpPr>
              <p:cNvPr id="34947" name="AutoShape 209"/>
              <p:cNvSpPr>
                <a:spLocks noChangeArrowheads="1"/>
              </p:cNvSpPr>
              <p:nvPr/>
            </p:nvSpPr>
            <p:spPr bwMode="auto">
              <a:xfrm>
                <a:off x="893" y="2703"/>
                <a:ext cx="966" cy="26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F5F8FC"/>
                  </a:gs>
                  <a:gs pos="100000">
                    <a:srgbClr val="D2E1F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ko-KR" altLang="en-US" sz="400">
                  <a:solidFill>
                    <a:srgbClr val="000000"/>
                  </a:solidFill>
                  <a:latin typeface="산돌고딕 M" pitchFamily="50" charset="-127"/>
                  <a:ea typeface="산돌고딕 M" pitchFamily="50" charset="-127"/>
                </a:endParaRPr>
              </a:p>
            </p:txBody>
          </p:sp>
        </p:grpSp>
        <p:grpSp>
          <p:nvGrpSpPr>
            <p:cNvPr id="34856" name="Group 207"/>
            <p:cNvGrpSpPr>
              <a:grpSpLocks/>
            </p:cNvGrpSpPr>
            <p:nvPr/>
          </p:nvGrpSpPr>
          <p:grpSpPr bwMode="auto">
            <a:xfrm>
              <a:off x="1184275" y="982663"/>
              <a:ext cx="1506538" cy="1789112"/>
              <a:chOff x="881" y="2697"/>
              <a:chExt cx="1024" cy="552"/>
            </a:xfrm>
          </p:grpSpPr>
          <p:sp>
            <p:nvSpPr>
              <p:cNvPr id="34944" name="AutoShape 208"/>
              <p:cNvSpPr>
                <a:spLocks noChangeArrowheads="1"/>
              </p:cNvSpPr>
              <p:nvPr/>
            </p:nvSpPr>
            <p:spPr bwMode="auto">
              <a:xfrm>
                <a:off x="881" y="2697"/>
                <a:ext cx="1024" cy="552"/>
              </a:xfrm>
              <a:prstGeom prst="roundRect">
                <a:avLst>
                  <a:gd name="adj" fmla="val 5796"/>
                </a:avLst>
              </a:prstGeom>
              <a:gradFill rotWithShape="0">
                <a:gsLst>
                  <a:gs pos="0">
                    <a:srgbClr val="D2E1F0"/>
                  </a:gs>
                  <a:gs pos="100000">
                    <a:srgbClr val="F5F8FC"/>
                  </a:gs>
                </a:gsLst>
                <a:lin ang="5400000" scaled="1"/>
              </a:gradFill>
              <a:ln w="19050">
                <a:solidFill>
                  <a:srgbClr val="94B8DC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en-US" altLang="ko-KR" sz="400">
                  <a:solidFill>
                    <a:srgbClr val="000000"/>
                  </a:solidFill>
                  <a:latin typeface="산돌고딕 M" pitchFamily="50" charset="-127"/>
                  <a:ea typeface="산돌고딕 M" pitchFamily="50" charset="-127"/>
                </a:endParaRPr>
              </a:p>
            </p:txBody>
          </p:sp>
          <p:sp>
            <p:nvSpPr>
              <p:cNvPr id="34945" name="AutoShape 209"/>
              <p:cNvSpPr>
                <a:spLocks noChangeArrowheads="1"/>
              </p:cNvSpPr>
              <p:nvPr/>
            </p:nvSpPr>
            <p:spPr bwMode="auto">
              <a:xfrm>
                <a:off x="910" y="2715"/>
                <a:ext cx="966" cy="126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F5F8FC"/>
                  </a:gs>
                  <a:gs pos="100000">
                    <a:srgbClr val="D2E1F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ko-KR" altLang="en-US" sz="400">
                  <a:solidFill>
                    <a:srgbClr val="000000"/>
                  </a:solidFill>
                  <a:latin typeface="산돌고딕 M" pitchFamily="50" charset="-127"/>
                  <a:ea typeface="산돌고딕 M" pitchFamily="50" charset="-127"/>
                </a:endParaRPr>
              </a:p>
            </p:txBody>
          </p:sp>
        </p:grpSp>
        <p:grpSp>
          <p:nvGrpSpPr>
            <p:cNvPr id="34857" name="Group 207"/>
            <p:cNvGrpSpPr>
              <a:grpSpLocks/>
            </p:cNvGrpSpPr>
            <p:nvPr/>
          </p:nvGrpSpPr>
          <p:grpSpPr bwMode="auto">
            <a:xfrm>
              <a:off x="7654925" y="4232275"/>
              <a:ext cx="1140160" cy="1943100"/>
              <a:chOff x="881" y="2697"/>
              <a:chExt cx="571" cy="552"/>
            </a:xfrm>
          </p:grpSpPr>
          <p:sp>
            <p:nvSpPr>
              <p:cNvPr id="34942" name="AutoShape 208"/>
              <p:cNvSpPr>
                <a:spLocks noChangeArrowheads="1"/>
              </p:cNvSpPr>
              <p:nvPr/>
            </p:nvSpPr>
            <p:spPr bwMode="auto">
              <a:xfrm>
                <a:off x="881" y="2697"/>
                <a:ext cx="571" cy="552"/>
              </a:xfrm>
              <a:prstGeom prst="roundRect">
                <a:avLst>
                  <a:gd name="adj" fmla="val 5796"/>
                </a:avLst>
              </a:prstGeom>
              <a:gradFill rotWithShape="0">
                <a:gsLst>
                  <a:gs pos="0">
                    <a:srgbClr val="D2E1F0"/>
                  </a:gs>
                  <a:gs pos="100000">
                    <a:srgbClr val="F5F8FC"/>
                  </a:gs>
                </a:gsLst>
                <a:lin ang="5400000" scaled="1"/>
              </a:gradFill>
              <a:ln w="19050">
                <a:solidFill>
                  <a:srgbClr val="94B8DC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en-US" altLang="ko-KR" sz="400">
                  <a:solidFill>
                    <a:srgbClr val="000000"/>
                  </a:solidFill>
                  <a:latin typeface="산돌고딕 M" pitchFamily="50" charset="-127"/>
                  <a:ea typeface="산돌고딕 M" pitchFamily="50" charset="-127"/>
                </a:endParaRPr>
              </a:p>
            </p:txBody>
          </p:sp>
          <p:sp>
            <p:nvSpPr>
              <p:cNvPr id="34943" name="AutoShape 209"/>
              <p:cNvSpPr>
                <a:spLocks noChangeArrowheads="1"/>
              </p:cNvSpPr>
              <p:nvPr/>
            </p:nvSpPr>
            <p:spPr bwMode="auto">
              <a:xfrm>
                <a:off x="910" y="2715"/>
                <a:ext cx="527" cy="126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F5F8FC"/>
                  </a:gs>
                  <a:gs pos="100000">
                    <a:srgbClr val="D2E1F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ko-KR" altLang="en-US" sz="400">
                  <a:solidFill>
                    <a:srgbClr val="000000"/>
                  </a:solidFill>
                  <a:latin typeface="산돌고딕 M" pitchFamily="50" charset="-127"/>
                  <a:ea typeface="산돌고딕 M" pitchFamily="50" charset="-127"/>
                </a:endParaRPr>
              </a:p>
            </p:txBody>
          </p:sp>
        </p:grpSp>
        <p:grpSp>
          <p:nvGrpSpPr>
            <p:cNvPr id="34858" name="Group 207"/>
            <p:cNvGrpSpPr>
              <a:grpSpLocks/>
            </p:cNvGrpSpPr>
            <p:nvPr/>
          </p:nvGrpSpPr>
          <p:grpSpPr bwMode="auto">
            <a:xfrm>
              <a:off x="2798763" y="4232275"/>
              <a:ext cx="4783137" cy="1943100"/>
              <a:chOff x="881" y="2697"/>
              <a:chExt cx="1024" cy="552"/>
            </a:xfrm>
          </p:grpSpPr>
          <p:sp>
            <p:nvSpPr>
              <p:cNvPr id="34940" name="AutoShape 208"/>
              <p:cNvSpPr>
                <a:spLocks noChangeArrowheads="1"/>
              </p:cNvSpPr>
              <p:nvPr/>
            </p:nvSpPr>
            <p:spPr bwMode="auto">
              <a:xfrm>
                <a:off x="881" y="2697"/>
                <a:ext cx="1024" cy="552"/>
              </a:xfrm>
              <a:prstGeom prst="roundRect">
                <a:avLst>
                  <a:gd name="adj" fmla="val 5796"/>
                </a:avLst>
              </a:prstGeom>
              <a:gradFill rotWithShape="0">
                <a:gsLst>
                  <a:gs pos="0">
                    <a:srgbClr val="D2E1F0"/>
                  </a:gs>
                  <a:gs pos="100000">
                    <a:srgbClr val="F5F8FC"/>
                  </a:gs>
                </a:gsLst>
                <a:lin ang="5400000" scaled="1"/>
              </a:gradFill>
              <a:ln w="19050">
                <a:solidFill>
                  <a:srgbClr val="94B8DC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en-US" altLang="ko-KR" sz="400">
                  <a:solidFill>
                    <a:srgbClr val="000000"/>
                  </a:solidFill>
                  <a:latin typeface="산돌고딕 M" pitchFamily="50" charset="-127"/>
                  <a:ea typeface="산돌고딕 M" pitchFamily="50" charset="-127"/>
                </a:endParaRPr>
              </a:p>
            </p:txBody>
          </p:sp>
          <p:sp>
            <p:nvSpPr>
              <p:cNvPr id="34941" name="AutoShape 209"/>
              <p:cNvSpPr>
                <a:spLocks noChangeArrowheads="1"/>
              </p:cNvSpPr>
              <p:nvPr/>
            </p:nvSpPr>
            <p:spPr bwMode="auto">
              <a:xfrm>
                <a:off x="910" y="2715"/>
                <a:ext cx="966" cy="126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F5F8FC"/>
                  </a:gs>
                  <a:gs pos="100000">
                    <a:srgbClr val="D2E1F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ko-KR" altLang="en-US" sz="400">
                  <a:solidFill>
                    <a:srgbClr val="000000"/>
                  </a:solidFill>
                  <a:latin typeface="산돌고딕 M" pitchFamily="50" charset="-127"/>
                  <a:ea typeface="산돌고딕 M" pitchFamily="50" charset="-127"/>
                </a:endParaRPr>
              </a:p>
            </p:txBody>
          </p:sp>
        </p:grpSp>
        <p:grpSp>
          <p:nvGrpSpPr>
            <p:cNvPr id="34859" name="Group 207"/>
            <p:cNvGrpSpPr>
              <a:grpSpLocks/>
            </p:cNvGrpSpPr>
            <p:nvPr/>
          </p:nvGrpSpPr>
          <p:grpSpPr bwMode="auto">
            <a:xfrm>
              <a:off x="1184275" y="2808288"/>
              <a:ext cx="1504950" cy="3367087"/>
              <a:chOff x="881" y="2697"/>
              <a:chExt cx="1024" cy="552"/>
            </a:xfrm>
          </p:grpSpPr>
          <p:sp>
            <p:nvSpPr>
              <p:cNvPr id="34938" name="AutoShape 208"/>
              <p:cNvSpPr>
                <a:spLocks noChangeArrowheads="1"/>
              </p:cNvSpPr>
              <p:nvPr/>
            </p:nvSpPr>
            <p:spPr bwMode="auto">
              <a:xfrm>
                <a:off x="881" y="2697"/>
                <a:ext cx="1024" cy="552"/>
              </a:xfrm>
              <a:prstGeom prst="roundRect">
                <a:avLst>
                  <a:gd name="adj" fmla="val 5796"/>
                </a:avLst>
              </a:prstGeom>
              <a:gradFill rotWithShape="0">
                <a:gsLst>
                  <a:gs pos="0">
                    <a:srgbClr val="D2E1F0"/>
                  </a:gs>
                  <a:gs pos="100000">
                    <a:srgbClr val="F5F8FC"/>
                  </a:gs>
                </a:gsLst>
                <a:lin ang="5400000" scaled="1"/>
              </a:gradFill>
              <a:ln w="19050">
                <a:solidFill>
                  <a:srgbClr val="94B8DC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en-US" altLang="ko-KR" sz="400">
                  <a:solidFill>
                    <a:srgbClr val="000000"/>
                  </a:solidFill>
                  <a:latin typeface="산돌고딕 M" pitchFamily="50" charset="-127"/>
                  <a:ea typeface="산돌고딕 M" pitchFamily="50" charset="-127"/>
                </a:endParaRPr>
              </a:p>
            </p:txBody>
          </p:sp>
          <p:sp>
            <p:nvSpPr>
              <p:cNvPr id="34939" name="AutoShape 209"/>
              <p:cNvSpPr>
                <a:spLocks noChangeArrowheads="1"/>
              </p:cNvSpPr>
              <p:nvPr/>
            </p:nvSpPr>
            <p:spPr bwMode="auto">
              <a:xfrm>
                <a:off x="910" y="2703"/>
                <a:ext cx="966" cy="126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F5F8FC"/>
                  </a:gs>
                  <a:gs pos="100000">
                    <a:srgbClr val="D2E1F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ko-KR" altLang="en-US" sz="400">
                  <a:solidFill>
                    <a:srgbClr val="000000"/>
                  </a:solidFill>
                  <a:latin typeface="산돌고딕 M" pitchFamily="50" charset="-127"/>
                  <a:ea typeface="산돌고딕 M" pitchFamily="50" charset="-127"/>
                </a:endParaRPr>
              </a:p>
            </p:txBody>
          </p:sp>
        </p:grpSp>
        <p:sp>
          <p:nvSpPr>
            <p:cNvPr id="142" name="Rectangle 226"/>
            <p:cNvSpPr>
              <a:spLocks noChangeArrowheads="1"/>
            </p:cNvSpPr>
            <p:nvPr/>
          </p:nvSpPr>
          <p:spPr bwMode="auto">
            <a:xfrm>
              <a:off x="1712880" y="3648078"/>
              <a:ext cx="900000" cy="292100"/>
            </a:xfrm>
            <a:prstGeom prst="rect">
              <a:avLst/>
            </a:prstGeom>
            <a:solidFill>
              <a:srgbClr val="3399FF"/>
            </a:soli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지식관리시스템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</p:txBody>
        </p:sp>
        <p:sp>
          <p:nvSpPr>
            <p:cNvPr id="143" name="Rectangle 226"/>
            <p:cNvSpPr>
              <a:spLocks noChangeArrowheads="1"/>
            </p:cNvSpPr>
            <p:nvPr/>
          </p:nvSpPr>
          <p:spPr bwMode="auto">
            <a:xfrm>
              <a:off x="1713437" y="4744512"/>
              <a:ext cx="899124" cy="327238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인터넷방송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44" name="Rectangle 226"/>
            <p:cNvSpPr>
              <a:spLocks noChangeArrowheads="1"/>
            </p:cNvSpPr>
            <p:nvPr/>
          </p:nvSpPr>
          <p:spPr bwMode="auto">
            <a:xfrm>
              <a:off x="1713437" y="1354653"/>
              <a:ext cx="899124" cy="28528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>
                  <a:solidFill>
                    <a:srgbClr val="000000"/>
                  </a:solidFill>
                  <a:latin typeface="HY울릉도M"/>
                  <a:ea typeface="HY울릉도M"/>
                </a:rPr>
                <a:t>인터넷방송</a:t>
              </a:r>
              <a:endParaRPr kumimoji="0" lang="en-US" altLang="ko-KR" sz="300" b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>
                  <a:solidFill>
                    <a:srgbClr val="000000"/>
                  </a:solidFill>
                  <a:latin typeface="HY울릉도M"/>
                  <a:ea typeface="HY울릉도M"/>
                </a:rPr>
                <a:t>홈페이지</a:t>
              </a:r>
              <a:endParaRPr kumimoji="0" lang="en-US" altLang="ko-KR" sz="300" b="0">
                <a:solidFill>
                  <a:srgbClr val="000000"/>
                </a:solidFill>
                <a:latin typeface="HY울릉도M"/>
                <a:ea typeface="HY울릉도M"/>
              </a:endParaRPr>
            </a:p>
          </p:txBody>
        </p:sp>
        <p:sp>
          <p:nvSpPr>
            <p:cNvPr id="34865" name="Rectangle 122"/>
            <p:cNvSpPr>
              <a:spLocks noChangeArrowheads="1"/>
            </p:cNvSpPr>
            <p:nvPr/>
          </p:nvSpPr>
          <p:spPr bwMode="auto">
            <a:xfrm>
              <a:off x="1119188" y="5911850"/>
              <a:ext cx="1570037" cy="298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latinLnBrk="1">
                <a:spcBef>
                  <a:spcPct val="0"/>
                </a:spcBef>
              </a:pPr>
              <a:r>
                <a:rPr lang="ko-KR" altLang="en-US" sz="500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의사소통 및 협업서비스</a:t>
              </a:r>
            </a:p>
          </p:txBody>
        </p:sp>
        <p:sp>
          <p:nvSpPr>
            <p:cNvPr id="34866" name="Rectangle 122"/>
            <p:cNvSpPr>
              <a:spLocks noChangeArrowheads="1"/>
            </p:cNvSpPr>
            <p:nvPr/>
          </p:nvSpPr>
          <p:spPr bwMode="auto">
            <a:xfrm>
              <a:off x="1255713" y="1031876"/>
              <a:ext cx="857251" cy="298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latinLnBrk="1">
                <a:spcBef>
                  <a:spcPct val="0"/>
                </a:spcBef>
              </a:pPr>
              <a:r>
                <a:rPr lang="ko-KR" altLang="en-US" sz="500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대외서비스</a:t>
              </a:r>
            </a:p>
          </p:txBody>
        </p:sp>
        <p:sp>
          <p:nvSpPr>
            <p:cNvPr id="152" name="Rectangle 226"/>
            <p:cNvSpPr>
              <a:spLocks noChangeArrowheads="1"/>
            </p:cNvSpPr>
            <p:nvPr/>
          </p:nvSpPr>
          <p:spPr bwMode="auto">
            <a:xfrm>
              <a:off x="1712880" y="4367216"/>
              <a:ext cx="900000" cy="292100"/>
            </a:xfrm>
            <a:prstGeom prst="rect">
              <a:avLst/>
            </a:prstGeom>
            <a:solidFill>
              <a:srgbClr val="3399FF"/>
            </a:soli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전자도서관시스템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</p:txBody>
        </p:sp>
        <p:sp>
          <p:nvSpPr>
            <p:cNvPr id="153" name="Rectangle 226"/>
            <p:cNvSpPr>
              <a:spLocks noChangeArrowheads="1"/>
            </p:cNvSpPr>
            <p:nvPr/>
          </p:nvSpPr>
          <p:spPr bwMode="auto">
            <a:xfrm>
              <a:off x="1713437" y="5127689"/>
              <a:ext cx="899124" cy="28528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내부여론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파악시스템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</p:txBody>
        </p:sp>
        <p:sp>
          <p:nvSpPr>
            <p:cNvPr id="154" name="Rectangle 226"/>
            <p:cNvSpPr>
              <a:spLocks noChangeArrowheads="1"/>
            </p:cNvSpPr>
            <p:nvPr/>
          </p:nvSpPr>
          <p:spPr bwMode="auto">
            <a:xfrm>
              <a:off x="1713437" y="5474506"/>
              <a:ext cx="899124" cy="290879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EA</a:t>
              </a: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관리시스템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</p:txBody>
        </p:sp>
        <p:grpSp>
          <p:nvGrpSpPr>
            <p:cNvPr id="34872" name="Group 207"/>
            <p:cNvGrpSpPr>
              <a:grpSpLocks/>
            </p:cNvGrpSpPr>
            <p:nvPr/>
          </p:nvGrpSpPr>
          <p:grpSpPr bwMode="auto">
            <a:xfrm>
              <a:off x="2792413" y="1003300"/>
              <a:ext cx="5957887" cy="571500"/>
              <a:chOff x="881" y="2697"/>
              <a:chExt cx="1024" cy="552"/>
            </a:xfrm>
          </p:grpSpPr>
          <p:sp>
            <p:nvSpPr>
              <p:cNvPr id="34936" name="AutoShape 208"/>
              <p:cNvSpPr>
                <a:spLocks noChangeArrowheads="1"/>
              </p:cNvSpPr>
              <p:nvPr/>
            </p:nvSpPr>
            <p:spPr bwMode="auto">
              <a:xfrm>
                <a:off x="881" y="2697"/>
                <a:ext cx="1024" cy="552"/>
              </a:xfrm>
              <a:prstGeom prst="roundRect">
                <a:avLst>
                  <a:gd name="adj" fmla="val 5796"/>
                </a:avLst>
              </a:prstGeom>
              <a:gradFill rotWithShape="0">
                <a:gsLst>
                  <a:gs pos="0">
                    <a:srgbClr val="D2E1F0"/>
                  </a:gs>
                  <a:gs pos="100000">
                    <a:srgbClr val="F5F8FC"/>
                  </a:gs>
                </a:gsLst>
                <a:lin ang="5400000" scaled="1"/>
              </a:gradFill>
              <a:ln w="19050">
                <a:solidFill>
                  <a:srgbClr val="94B8DC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en-US" altLang="ko-KR" sz="400">
                  <a:solidFill>
                    <a:srgbClr val="000000"/>
                  </a:solidFill>
                  <a:latin typeface="산돌고딕 M" pitchFamily="50" charset="-127"/>
                  <a:ea typeface="산돌고딕 M" pitchFamily="50" charset="-127"/>
                </a:endParaRPr>
              </a:p>
            </p:txBody>
          </p:sp>
          <p:sp>
            <p:nvSpPr>
              <p:cNvPr id="34937" name="AutoShape 209"/>
              <p:cNvSpPr>
                <a:spLocks noChangeArrowheads="1"/>
              </p:cNvSpPr>
              <p:nvPr/>
            </p:nvSpPr>
            <p:spPr bwMode="auto">
              <a:xfrm>
                <a:off x="891" y="2712"/>
                <a:ext cx="995" cy="129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F5F8FC"/>
                  </a:gs>
                  <a:gs pos="100000">
                    <a:srgbClr val="D2E1F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l" eaLnBrk="1" latinLnBrk="1" hangingPunct="1">
                  <a:spcBef>
                    <a:spcPct val="0"/>
                  </a:spcBef>
                </a:pPr>
                <a:endParaRPr lang="ko-KR" altLang="en-US" sz="400">
                  <a:solidFill>
                    <a:srgbClr val="000000"/>
                  </a:solidFill>
                  <a:latin typeface="산돌고딕 M" pitchFamily="50" charset="-127"/>
                  <a:ea typeface="산돌고딕 M" pitchFamily="50" charset="-127"/>
                </a:endParaRPr>
              </a:p>
            </p:txBody>
          </p:sp>
        </p:grpSp>
        <p:sp>
          <p:nvSpPr>
            <p:cNvPr id="158" name="Rectangle 190"/>
            <p:cNvSpPr>
              <a:spLocks noChangeArrowheads="1"/>
            </p:cNvSpPr>
            <p:nvPr/>
          </p:nvSpPr>
          <p:spPr bwMode="auto">
            <a:xfrm>
              <a:off x="1713437" y="2079053"/>
              <a:ext cx="4919347" cy="1496350"/>
            </a:xfrm>
            <a:prstGeom prst="rect">
              <a:avLst/>
            </a:prstGeom>
            <a:solidFill>
              <a:srgbClr val="969696"/>
            </a:solidFill>
            <a:ln w="9525" cap="flat" cmpd="sng" algn="ctr">
              <a:noFill/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0" tIns="36000" rIns="0" bIns="0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en-US" altLang="ko-KR" sz="400" dirty="0">
                  <a:solidFill>
                    <a:srgbClr val="FFFFFF"/>
                  </a:solidFill>
                  <a:latin typeface="HY울릉도M"/>
                  <a:ea typeface="HY울릉도M"/>
                </a:rPr>
                <a:t>XX</a:t>
              </a:r>
              <a:r>
                <a:rPr kumimoji="0" lang="ko-KR" altLang="en-US" sz="400" dirty="0">
                  <a:solidFill>
                    <a:srgbClr val="FFFFFF"/>
                  </a:solidFill>
                  <a:latin typeface="HY울릉도M"/>
                  <a:ea typeface="HY울릉도M"/>
                </a:rPr>
                <a:t>통합정보시스템</a:t>
              </a:r>
            </a:p>
          </p:txBody>
        </p:sp>
        <p:sp>
          <p:nvSpPr>
            <p:cNvPr id="159" name="Rectangle 175"/>
            <p:cNvSpPr>
              <a:spLocks noChangeArrowheads="1"/>
            </p:cNvSpPr>
            <p:nvPr/>
          </p:nvSpPr>
          <p:spPr bwMode="auto">
            <a:xfrm>
              <a:off x="6705127" y="2890158"/>
              <a:ext cx="935296" cy="324442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LL</a:t>
              </a: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60" name="Rectangle 160"/>
            <p:cNvSpPr>
              <a:spLocks noChangeArrowheads="1"/>
            </p:cNvSpPr>
            <p:nvPr/>
          </p:nvSpPr>
          <p:spPr bwMode="auto">
            <a:xfrm>
              <a:off x="7723101" y="2492996"/>
              <a:ext cx="937880" cy="324442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DD</a:t>
              </a:r>
            </a:p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(RFID)</a:t>
              </a:r>
            </a:p>
          </p:txBody>
        </p:sp>
        <p:sp>
          <p:nvSpPr>
            <p:cNvPr id="161" name="Rectangle 170"/>
            <p:cNvSpPr>
              <a:spLocks noChangeArrowheads="1"/>
            </p:cNvSpPr>
            <p:nvPr/>
          </p:nvSpPr>
          <p:spPr bwMode="auto">
            <a:xfrm>
              <a:off x="3808811" y="2725141"/>
              <a:ext cx="875870" cy="316050"/>
            </a:xfrm>
            <a:prstGeom prst="rect">
              <a:avLst/>
            </a:prstGeom>
            <a:solidFill>
              <a:srgbClr val="0033CC"/>
            </a:solidFill>
            <a:ln w="28575" cap="flat" cmpd="sng" algn="ctr">
              <a:solidFill>
                <a:srgbClr val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ko-KR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YY</a:t>
              </a: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62" name="Rectangle 170"/>
            <p:cNvSpPr>
              <a:spLocks noChangeArrowheads="1"/>
            </p:cNvSpPr>
            <p:nvPr/>
          </p:nvSpPr>
          <p:spPr bwMode="auto">
            <a:xfrm>
              <a:off x="4746689" y="3099927"/>
              <a:ext cx="875872" cy="330036"/>
            </a:xfrm>
            <a:prstGeom prst="rect">
              <a:avLst/>
            </a:prstGeom>
            <a:solidFill>
              <a:srgbClr val="0033CC"/>
            </a:solidFill>
            <a:ln w="28575" cap="flat" cmpd="sng" algn="ctr">
              <a:solidFill>
                <a:srgbClr val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대국민서비스</a:t>
              </a:r>
              <a:endParaRPr kumimoji="0" lang="en-US" altLang="ko-KR" sz="300" b="0" dirty="0">
                <a:solidFill>
                  <a:srgbClr val="FFFFFF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63" name="Rectangle 165"/>
            <p:cNvSpPr>
              <a:spLocks noChangeArrowheads="1"/>
            </p:cNvSpPr>
            <p:nvPr/>
          </p:nvSpPr>
          <p:spPr bwMode="auto">
            <a:xfrm>
              <a:off x="2870930" y="3113911"/>
              <a:ext cx="875872" cy="321646"/>
            </a:xfrm>
            <a:prstGeom prst="rect">
              <a:avLst/>
            </a:prstGeom>
            <a:solidFill>
              <a:srgbClr val="0033CC"/>
            </a:solidFill>
            <a:ln w="28575" cap="flat" cmpd="sng" algn="ctr">
              <a:solidFill>
                <a:srgbClr val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전자문서관리</a:t>
              </a:r>
              <a:endParaRPr kumimoji="0" lang="en-US" altLang="ko-KR" sz="300" b="0" dirty="0">
                <a:solidFill>
                  <a:srgbClr val="FFFFFF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64" name="Rectangle 169"/>
            <p:cNvSpPr>
              <a:spLocks noChangeArrowheads="1"/>
            </p:cNvSpPr>
            <p:nvPr/>
          </p:nvSpPr>
          <p:spPr bwMode="auto">
            <a:xfrm>
              <a:off x="2870930" y="2302806"/>
              <a:ext cx="3689510" cy="321646"/>
            </a:xfrm>
            <a:prstGeom prst="rect">
              <a:avLst/>
            </a:prstGeom>
            <a:solidFill>
              <a:srgbClr val="0033CC"/>
            </a:solidFill>
            <a:ln w="28575" cap="flat" cmpd="sng" algn="ctr">
              <a:solidFill>
                <a:srgbClr val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결정관리</a:t>
              </a:r>
              <a:endParaRPr kumimoji="0" lang="en-US" altLang="ko-KR" sz="300" b="0" dirty="0">
                <a:solidFill>
                  <a:srgbClr val="FFFFFF"/>
                </a:solidFill>
                <a:latin typeface="HY울릉도M"/>
                <a:ea typeface="HY울릉도M"/>
              </a:endParaRPr>
            </a:p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65" name="Rectangle 169"/>
            <p:cNvSpPr>
              <a:spLocks noChangeArrowheads="1"/>
            </p:cNvSpPr>
            <p:nvPr/>
          </p:nvSpPr>
          <p:spPr bwMode="auto">
            <a:xfrm>
              <a:off x="2870930" y="2716749"/>
              <a:ext cx="875872" cy="321646"/>
            </a:xfrm>
            <a:prstGeom prst="rect">
              <a:avLst/>
            </a:prstGeom>
            <a:solidFill>
              <a:srgbClr val="0033CC"/>
            </a:solidFill>
            <a:ln w="28575" cap="flat" cmpd="sng" algn="ctr">
              <a:solidFill>
                <a:srgbClr val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관리</a:t>
              </a:r>
              <a:endParaRPr kumimoji="0" lang="en-US" altLang="ko-KR" sz="300" b="0" dirty="0">
                <a:solidFill>
                  <a:srgbClr val="FFFFFF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66" name="Rectangle 177"/>
            <p:cNvSpPr>
              <a:spLocks noChangeArrowheads="1"/>
            </p:cNvSpPr>
            <p:nvPr/>
          </p:nvSpPr>
          <p:spPr bwMode="auto">
            <a:xfrm>
              <a:off x="7723101" y="3276132"/>
              <a:ext cx="937880" cy="321646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BB</a:t>
              </a: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관리시스템</a:t>
              </a:r>
            </a:p>
          </p:txBody>
        </p:sp>
        <p:sp>
          <p:nvSpPr>
            <p:cNvPr id="167" name="Rectangle 172"/>
            <p:cNvSpPr>
              <a:spLocks noChangeArrowheads="1"/>
            </p:cNvSpPr>
            <p:nvPr/>
          </p:nvSpPr>
          <p:spPr bwMode="auto">
            <a:xfrm>
              <a:off x="6705127" y="3270538"/>
              <a:ext cx="935296" cy="324442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디지털정보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68" name="Rectangle 172"/>
            <p:cNvSpPr>
              <a:spLocks noChangeArrowheads="1"/>
            </p:cNvSpPr>
            <p:nvPr/>
          </p:nvSpPr>
          <p:spPr bwMode="auto">
            <a:xfrm>
              <a:off x="7723101" y="2084647"/>
              <a:ext cx="937880" cy="324442"/>
            </a:xfrm>
            <a:prstGeom prst="rect">
              <a:avLst/>
            </a:prstGeom>
            <a:gradFill rotWithShape="1">
              <a:gsLst>
                <a:gs pos="0">
                  <a:srgbClr val="00CC99">
                    <a:tint val="50000"/>
                    <a:satMod val="300000"/>
                  </a:srgbClr>
                </a:gs>
                <a:gs pos="35000">
                  <a:srgbClr val="00CC99">
                    <a:tint val="37000"/>
                    <a:satMod val="300000"/>
                  </a:srgbClr>
                </a:gs>
                <a:gs pos="100000">
                  <a:srgbClr val="00CC9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MM</a:t>
              </a: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69" name="Rectangle 155"/>
            <p:cNvSpPr>
              <a:spLocks noChangeArrowheads="1"/>
            </p:cNvSpPr>
            <p:nvPr/>
          </p:nvSpPr>
          <p:spPr bwMode="auto">
            <a:xfrm>
              <a:off x="4418561" y="1133696"/>
              <a:ext cx="899124" cy="360803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통계시스템</a:t>
              </a:r>
            </a:p>
          </p:txBody>
        </p:sp>
        <p:sp>
          <p:nvSpPr>
            <p:cNvPr id="34885" name="Rectangle 122"/>
            <p:cNvSpPr>
              <a:spLocks noChangeArrowheads="1"/>
            </p:cNvSpPr>
            <p:nvPr/>
          </p:nvSpPr>
          <p:spPr bwMode="auto">
            <a:xfrm>
              <a:off x="2759075" y="1028701"/>
              <a:ext cx="1500189" cy="298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latinLnBrk="1">
                <a:spcBef>
                  <a:spcPct val="0"/>
                </a:spcBef>
              </a:pPr>
              <a:r>
                <a:rPr lang="ko-KR" altLang="en-US" sz="500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정책지원정보서비스</a:t>
              </a:r>
            </a:p>
          </p:txBody>
        </p:sp>
        <p:sp>
          <p:nvSpPr>
            <p:cNvPr id="34886" name="Rectangle 122"/>
            <p:cNvSpPr>
              <a:spLocks noChangeArrowheads="1"/>
            </p:cNvSpPr>
            <p:nvPr/>
          </p:nvSpPr>
          <p:spPr bwMode="auto">
            <a:xfrm>
              <a:off x="2795589" y="1684337"/>
              <a:ext cx="1500185" cy="298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latinLnBrk="1">
                <a:spcBef>
                  <a:spcPct val="0"/>
                </a:spcBef>
              </a:pPr>
              <a:r>
                <a:rPr lang="ko-KR" altLang="en-US" sz="500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업무서비스</a:t>
              </a:r>
            </a:p>
          </p:txBody>
        </p:sp>
        <p:sp>
          <p:nvSpPr>
            <p:cNvPr id="173" name="Rectangle 189"/>
            <p:cNvSpPr>
              <a:spLocks noChangeArrowheads="1"/>
            </p:cNvSpPr>
            <p:nvPr/>
          </p:nvSpPr>
          <p:spPr bwMode="auto">
            <a:xfrm>
              <a:off x="3793308" y="4719339"/>
              <a:ext cx="896540" cy="35800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출입관리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74" name="Rectangle 183"/>
            <p:cNvSpPr>
              <a:spLocks noChangeArrowheads="1"/>
            </p:cNvSpPr>
            <p:nvPr/>
          </p:nvSpPr>
          <p:spPr bwMode="auto">
            <a:xfrm>
              <a:off x="5671650" y="4708152"/>
              <a:ext cx="896541" cy="358005"/>
            </a:xfrm>
            <a:prstGeom prst="rect">
              <a:avLst/>
            </a:prstGeom>
            <a:gradFill rotWithShape="1">
              <a:gsLst>
                <a:gs pos="0">
                  <a:srgbClr val="00CC99">
                    <a:tint val="50000"/>
                    <a:satMod val="300000"/>
                  </a:srgbClr>
                </a:gs>
                <a:gs pos="35000">
                  <a:srgbClr val="00CC99">
                    <a:tint val="37000"/>
                    <a:satMod val="300000"/>
                  </a:srgbClr>
                </a:gs>
                <a:gs pos="100000">
                  <a:srgbClr val="00CC9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>
                  <a:solidFill>
                    <a:srgbClr val="000000"/>
                  </a:solidFill>
                  <a:latin typeface="HY울릉도M"/>
                  <a:ea typeface="HY울릉도M"/>
                </a:rPr>
                <a:t>기록관리시스템</a:t>
              </a:r>
            </a:p>
          </p:txBody>
        </p:sp>
        <p:sp>
          <p:nvSpPr>
            <p:cNvPr id="175" name="Rectangle 182"/>
            <p:cNvSpPr>
              <a:spLocks noChangeArrowheads="1"/>
            </p:cNvSpPr>
            <p:nvPr/>
          </p:nvSpPr>
          <p:spPr bwMode="auto">
            <a:xfrm>
              <a:off x="4731187" y="5189221"/>
              <a:ext cx="899124" cy="358005"/>
            </a:xfrm>
            <a:prstGeom prst="rect">
              <a:avLst/>
            </a:prstGeom>
            <a:gradFill rotWithShape="1">
              <a:gsLst>
                <a:gs pos="0">
                  <a:srgbClr val="00CC99">
                    <a:tint val="50000"/>
                    <a:satMod val="300000"/>
                  </a:srgbClr>
                </a:gs>
                <a:gs pos="35000">
                  <a:srgbClr val="00CC99">
                    <a:tint val="37000"/>
                    <a:satMod val="300000"/>
                  </a:srgbClr>
                </a:gs>
                <a:gs pos="100000">
                  <a:srgbClr val="00CC9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인사관리시스템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(e-</a:t>
              </a: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사람</a:t>
              </a: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)</a:t>
              </a:r>
              <a:endParaRPr kumimoji="0" lang="ko-KR" altLang="en-US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</p:txBody>
        </p:sp>
        <p:sp>
          <p:nvSpPr>
            <p:cNvPr id="176" name="Rectangle 180"/>
            <p:cNvSpPr>
              <a:spLocks noChangeArrowheads="1"/>
            </p:cNvSpPr>
            <p:nvPr/>
          </p:nvSpPr>
          <p:spPr bwMode="auto">
            <a:xfrm>
              <a:off x="4731187" y="5661900"/>
              <a:ext cx="899124" cy="360801"/>
            </a:xfrm>
            <a:prstGeom prst="rect">
              <a:avLst/>
            </a:prstGeom>
            <a:gradFill rotWithShape="1">
              <a:gsLst>
                <a:gs pos="0">
                  <a:srgbClr val="00CC99">
                    <a:tint val="50000"/>
                    <a:satMod val="300000"/>
                  </a:srgbClr>
                </a:gs>
                <a:gs pos="35000">
                  <a:srgbClr val="00CC99">
                    <a:tint val="37000"/>
                    <a:satMod val="300000"/>
                  </a:srgbClr>
                </a:gs>
                <a:gs pos="100000">
                  <a:srgbClr val="00CC9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 err="1">
                  <a:solidFill>
                    <a:srgbClr val="000000"/>
                  </a:solidFill>
                  <a:latin typeface="HY울릉도M"/>
                  <a:ea typeface="HY울릉도M"/>
                </a:rPr>
                <a:t>온나라시스템</a:t>
              </a:r>
              <a:endParaRPr kumimoji="0" lang="ko-KR" altLang="en-US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</p:txBody>
        </p:sp>
        <p:sp>
          <p:nvSpPr>
            <p:cNvPr id="177" name="Rectangle 154"/>
            <p:cNvSpPr>
              <a:spLocks noChangeArrowheads="1"/>
            </p:cNvSpPr>
            <p:nvPr/>
          </p:nvSpPr>
          <p:spPr bwMode="auto">
            <a:xfrm>
              <a:off x="3793308" y="5661900"/>
              <a:ext cx="896540" cy="360801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신문제작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78" name="Rectangle 153"/>
            <p:cNvSpPr>
              <a:spLocks noChangeArrowheads="1"/>
            </p:cNvSpPr>
            <p:nvPr/>
          </p:nvSpPr>
          <p:spPr bwMode="auto">
            <a:xfrm>
              <a:off x="2855428" y="5189221"/>
              <a:ext cx="901709" cy="35800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복지시스템</a:t>
              </a:r>
            </a:p>
          </p:txBody>
        </p:sp>
        <p:sp>
          <p:nvSpPr>
            <p:cNvPr id="179" name="Rectangle 163"/>
            <p:cNvSpPr>
              <a:spLocks noChangeArrowheads="1"/>
            </p:cNvSpPr>
            <p:nvPr/>
          </p:nvSpPr>
          <p:spPr bwMode="auto">
            <a:xfrm>
              <a:off x="4731187" y="4708152"/>
              <a:ext cx="899124" cy="358005"/>
            </a:xfrm>
            <a:prstGeom prst="rect">
              <a:avLst/>
            </a:prstGeom>
            <a:gradFill rotWithShape="1">
              <a:gsLst>
                <a:gs pos="0">
                  <a:srgbClr val="00CC99">
                    <a:tint val="50000"/>
                    <a:satMod val="300000"/>
                  </a:srgbClr>
                </a:gs>
                <a:gs pos="35000">
                  <a:srgbClr val="00CC99">
                    <a:tint val="37000"/>
                    <a:satMod val="300000"/>
                  </a:srgbClr>
                </a:gs>
                <a:gs pos="100000">
                  <a:srgbClr val="00CC9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정책고객관리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81" name="Rectangle 172"/>
            <p:cNvSpPr>
              <a:spLocks noChangeArrowheads="1"/>
            </p:cNvSpPr>
            <p:nvPr/>
          </p:nvSpPr>
          <p:spPr bwMode="auto">
            <a:xfrm>
              <a:off x="5671650" y="5189221"/>
              <a:ext cx="896541" cy="358005"/>
            </a:xfrm>
            <a:prstGeom prst="rect">
              <a:avLst/>
            </a:prstGeom>
            <a:gradFill rotWithShape="1">
              <a:gsLst>
                <a:gs pos="0">
                  <a:srgbClr val="00CC99">
                    <a:tint val="50000"/>
                    <a:satMod val="300000"/>
                  </a:srgbClr>
                </a:gs>
                <a:gs pos="35000">
                  <a:srgbClr val="00CC99">
                    <a:tint val="37000"/>
                    <a:satMod val="300000"/>
                  </a:srgbClr>
                </a:gs>
                <a:gs pos="100000">
                  <a:srgbClr val="00CC9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디지털예산회계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82" name="Rectangle 172"/>
            <p:cNvSpPr>
              <a:spLocks noChangeArrowheads="1"/>
            </p:cNvSpPr>
            <p:nvPr/>
          </p:nvSpPr>
          <p:spPr bwMode="auto">
            <a:xfrm>
              <a:off x="5671650" y="5661900"/>
              <a:ext cx="896541" cy="360801"/>
            </a:xfrm>
            <a:prstGeom prst="rect">
              <a:avLst/>
            </a:prstGeom>
            <a:gradFill rotWithShape="1">
              <a:gsLst>
                <a:gs pos="0">
                  <a:srgbClr val="00CC99">
                    <a:tint val="50000"/>
                    <a:satMod val="300000"/>
                  </a:srgbClr>
                </a:gs>
                <a:gs pos="35000">
                  <a:srgbClr val="00CC99">
                    <a:tint val="37000"/>
                    <a:satMod val="300000"/>
                  </a:srgbClr>
                </a:gs>
                <a:gs pos="100000">
                  <a:srgbClr val="00CC9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복무관리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83" name="Rectangle 172"/>
            <p:cNvSpPr>
              <a:spLocks noChangeArrowheads="1"/>
            </p:cNvSpPr>
            <p:nvPr/>
          </p:nvSpPr>
          <p:spPr bwMode="auto">
            <a:xfrm>
              <a:off x="6609531" y="5661900"/>
              <a:ext cx="899124" cy="360801"/>
            </a:xfrm>
            <a:prstGeom prst="rect">
              <a:avLst/>
            </a:prstGeom>
            <a:gradFill rotWithShape="1">
              <a:gsLst>
                <a:gs pos="0">
                  <a:srgbClr val="00CC99">
                    <a:tint val="50000"/>
                    <a:satMod val="300000"/>
                  </a:srgbClr>
                </a:gs>
                <a:gs pos="35000">
                  <a:srgbClr val="00CC99">
                    <a:tint val="37000"/>
                    <a:satMod val="300000"/>
                  </a:srgbClr>
                </a:gs>
                <a:gs pos="100000">
                  <a:srgbClr val="00CC9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급여관리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84" name="Rectangle 172"/>
            <p:cNvSpPr>
              <a:spLocks noChangeArrowheads="1"/>
            </p:cNvSpPr>
            <p:nvPr/>
          </p:nvSpPr>
          <p:spPr bwMode="auto">
            <a:xfrm>
              <a:off x="6609531" y="4708152"/>
              <a:ext cx="899124" cy="358005"/>
            </a:xfrm>
            <a:prstGeom prst="rect">
              <a:avLst/>
            </a:prstGeom>
            <a:gradFill rotWithShape="1">
              <a:gsLst>
                <a:gs pos="0">
                  <a:srgbClr val="00CC99">
                    <a:tint val="50000"/>
                    <a:satMod val="300000"/>
                  </a:srgbClr>
                </a:gs>
                <a:gs pos="35000">
                  <a:srgbClr val="00CC99">
                    <a:tint val="37000"/>
                    <a:satMod val="300000"/>
                  </a:srgbClr>
                </a:gs>
                <a:gs pos="100000">
                  <a:srgbClr val="00CC9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>
                  <a:solidFill>
                    <a:srgbClr val="000000"/>
                  </a:solidFill>
                  <a:latin typeface="HY울릉도M"/>
                  <a:ea typeface="HY울릉도M"/>
                </a:rPr>
                <a:t>공직자재산등록</a:t>
              </a:r>
              <a:endParaRPr kumimoji="0" lang="en-US" altLang="ko-KR" sz="300" b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86" name="Rectangle 153"/>
            <p:cNvSpPr>
              <a:spLocks noChangeArrowheads="1"/>
            </p:cNvSpPr>
            <p:nvPr/>
          </p:nvSpPr>
          <p:spPr bwMode="auto">
            <a:xfrm>
              <a:off x="2852845" y="4719339"/>
              <a:ext cx="899124" cy="35800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업무관리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87" name="Rectangle 172"/>
            <p:cNvSpPr>
              <a:spLocks noChangeArrowheads="1"/>
            </p:cNvSpPr>
            <p:nvPr/>
          </p:nvSpPr>
          <p:spPr bwMode="auto">
            <a:xfrm>
              <a:off x="6609531" y="5189221"/>
              <a:ext cx="899124" cy="358005"/>
            </a:xfrm>
            <a:prstGeom prst="rect">
              <a:avLst/>
            </a:prstGeom>
            <a:gradFill rotWithShape="1">
              <a:gsLst>
                <a:gs pos="0">
                  <a:srgbClr val="00CC99">
                    <a:tint val="50000"/>
                    <a:satMod val="300000"/>
                  </a:srgbClr>
                </a:gs>
                <a:gs pos="35000">
                  <a:srgbClr val="00CC99">
                    <a:tint val="37000"/>
                    <a:satMod val="300000"/>
                  </a:srgbClr>
                </a:gs>
                <a:gs pos="100000">
                  <a:srgbClr val="00CC9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다면평가시스템</a:t>
              </a:r>
            </a:p>
          </p:txBody>
        </p:sp>
        <p:sp>
          <p:nvSpPr>
            <p:cNvPr id="34900" name="Rectangle 122"/>
            <p:cNvSpPr>
              <a:spLocks noChangeArrowheads="1"/>
            </p:cNvSpPr>
            <p:nvPr/>
          </p:nvSpPr>
          <p:spPr bwMode="auto">
            <a:xfrm>
              <a:off x="2835274" y="4305300"/>
              <a:ext cx="1500189" cy="298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latinLnBrk="1">
                <a:spcBef>
                  <a:spcPct val="0"/>
                </a:spcBef>
              </a:pPr>
              <a:r>
                <a:rPr lang="ko-KR" altLang="en-US" sz="500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행정지원서비스</a:t>
              </a:r>
            </a:p>
          </p:txBody>
        </p:sp>
        <p:sp>
          <p:nvSpPr>
            <p:cNvPr id="34901" name="Rectangle 122"/>
            <p:cNvSpPr>
              <a:spLocks noChangeArrowheads="1"/>
            </p:cNvSpPr>
            <p:nvPr/>
          </p:nvSpPr>
          <p:spPr bwMode="auto">
            <a:xfrm>
              <a:off x="7721600" y="4305474"/>
              <a:ext cx="1073733" cy="298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latinLnBrk="1">
                <a:spcBef>
                  <a:spcPct val="0"/>
                </a:spcBef>
              </a:pPr>
              <a:r>
                <a:rPr lang="en-US" altLang="ko-KR" sz="500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IT</a:t>
              </a:r>
              <a:r>
                <a:rPr lang="ko-KR" altLang="en-US" sz="500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 인프라 서비스</a:t>
              </a:r>
            </a:p>
          </p:txBody>
        </p:sp>
        <p:sp>
          <p:nvSpPr>
            <p:cNvPr id="190" name="Rectangle 165"/>
            <p:cNvSpPr>
              <a:spLocks noChangeArrowheads="1"/>
            </p:cNvSpPr>
            <p:nvPr/>
          </p:nvSpPr>
          <p:spPr bwMode="auto">
            <a:xfrm>
              <a:off x="4746689" y="2722343"/>
              <a:ext cx="875872" cy="321646"/>
            </a:xfrm>
            <a:prstGeom prst="rect">
              <a:avLst/>
            </a:prstGeom>
            <a:solidFill>
              <a:srgbClr val="0033CC"/>
            </a:solidFill>
            <a:ln w="28575" cap="flat" cmpd="sng" algn="ctr">
              <a:solidFill>
                <a:srgbClr val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ko-KR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ZZ</a:t>
              </a: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91" name="Rectangle 169"/>
            <p:cNvSpPr>
              <a:spLocks noChangeArrowheads="1"/>
            </p:cNvSpPr>
            <p:nvPr/>
          </p:nvSpPr>
          <p:spPr bwMode="auto">
            <a:xfrm>
              <a:off x="6705127" y="2079053"/>
              <a:ext cx="935296" cy="324442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JJ</a:t>
              </a:r>
            </a:p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98" name="Rectangle 163"/>
            <p:cNvSpPr>
              <a:spLocks noChangeArrowheads="1"/>
            </p:cNvSpPr>
            <p:nvPr/>
          </p:nvSpPr>
          <p:spPr bwMode="auto">
            <a:xfrm>
              <a:off x="7723101" y="2890158"/>
              <a:ext cx="937880" cy="324442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CC</a:t>
              </a: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199" name="Rectangle 172"/>
            <p:cNvSpPr>
              <a:spLocks noChangeArrowheads="1"/>
            </p:cNvSpPr>
            <p:nvPr/>
          </p:nvSpPr>
          <p:spPr bwMode="auto">
            <a:xfrm>
              <a:off x="6705127" y="3670498"/>
              <a:ext cx="935296" cy="324442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운영지원시스템</a:t>
              </a:r>
            </a:p>
          </p:txBody>
        </p:sp>
        <p:sp>
          <p:nvSpPr>
            <p:cNvPr id="205" name="Rectangle 165"/>
            <p:cNvSpPr>
              <a:spLocks noChangeArrowheads="1"/>
            </p:cNvSpPr>
            <p:nvPr/>
          </p:nvSpPr>
          <p:spPr bwMode="auto">
            <a:xfrm>
              <a:off x="3808811" y="3116709"/>
              <a:ext cx="875870" cy="310457"/>
            </a:xfrm>
            <a:prstGeom prst="rect">
              <a:avLst/>
            </a:prstGeom>
            <a:solidFill>
              <a:srgbClr val="0033CC"/>
            </a:solidFill>
            <a:ln w="28575" cap="flat" cmpd="sng" algn="ctr">
              <a:solidFill>
                <a:srgbClr val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ko-KR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QQ</a:t>
              </a: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시스템</a:t>
              </a:r>
              <a:endParaRPr kumimoji="0" lang="en-US" altLang="ko-KR" sz="300" b="0" dirty="0">
                <a:solidFill>
                  <a:srgbClr val="FFFFFF"/>
                </a:solidFill>
                <a:latin typeface="HY울릉도M"/>
                <a:ea typeface="HY울릉도M"/>
              </a:endParaRPr>
            </a:p>
          </p:txBody>
        </p:sp>
        <p:sp>
          <p:nvSpPr>
            <p:cNvPr id="206" name="Rectangle 153"/>
            <p:cNvSpPr>
              <a:spLocks noChangeArrowheads="1"/>
            </p:cNvSpPr>
            <p:nvPr/>
          </p:nvSpPr>
          <p:spPr bwMode="auto">
            <a:xfrm>
              <a:off x="2852845" y="5656306"/>
              <a:ext cx="899124" cy="360801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>
                  <a:solidFill>
                    <a:srgbClr val="000000"/>
                  </a:solidFill>
                  <a:latin typeface="HY울릉도M"/>
                  <a:ea typeface="HY울릉도M"/>
                </a:rPr>
                <a:t>성과관리시스템</a:t>
              </a:r>
            </a:p>
          </p:txBody>
        </p:sp>
        <p:sp>
          <p:nvSpPr>
            <p:cNvPr id="207" name="Rectangle 178"/>
            <p:cNvSpPr>
              <a:spLocks noChangeArrowheads="1"/>
            </p:cNvSpPr>
            <p:nvPr/>
          </p:nvSpPr>
          <p:spPr bwMode="auto">
            <a:xfrm>
              <a:off x="5681985" y="2722343"/>
              <a:ext cx="878455" cy="324442"/>
            </a:xfrm>
            <a:prstGeom prst="rect">
              <a:avLst/>
            </a:prstGeom>
            <a:solidFill>
              <a:srgbClr val="0033CC"/>
            </a:solidFill>
            <a:ln w="28575" cap="flat" cmpd="sng" algn="ctr">
              <a:solidFill>
                <a:srgbClr val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ko-KR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AA</a:t>
              </a: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208" name="Rectangle 192"/>
            <p:cNvSpPr>
              <a:spLocks noChangeArrowheads="1"/>
            </p:cNvSpPr>
            <p:nvPr/>
          </p:nvSpPr>
          <p:spPr bwMode="auto">
            <a:xfrm>
              <a:off x="7777326" y="5729319"/>
              <a:ext cx="900000" cy="360000"/>
            </a:xfrm>
            <a:prstGeom prst="rect">
              <a:avLst/>
            </a:prstGeom>
            <a:solidFill>
              <a:srgbClr val="3399FF"/>
            </a:soli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메타데이터시스템</a:t>
              </a:r>
            </a:p>
          </p:txBody>
        </p:sp>
        <p:sp>
          <p:nvSpPr>
            <p:cNvPr id="209" name="Rectangle 192"/>
            <p:cNvSpPr>
              <a:spLocks noChangeArrowheads="1"/>
            </p:cNvSpPr>
            <p:nvPr/>
          </p:nvSpPr>
          <p:spPr bwMode="auto">
            <a:xfrm>
              <a:off x="7777326" y="4950375"/>
              <a:ext cx="900000" cy="360000"/>
            </a:xfrm>
            <a:prstGeom prst="rect">
              <a:avLst/>
            </a:prstGeom>
            <a:solidFill>
              <a:srgbClr val="3399FF"/>
            </a:soli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IT</a:t>
              </a: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서비스운영관리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210" name="Rectangle 192"/>
            <p:cNvSpPr>
              <a:spLocks noChangeArrowheads="1"/>
            </p:cNvSpPr>
            <p:nvPr/>
          </p:nvSpPr>
          <p:spPr bwMode="auto">
            <a:xfrm>
              <a:off x="7777326" y="5339847"/>
              <a:ext cx="900000" cy="360000"/>
            </a:xfrm>
            <a:prstGeom prst="rect">
              <a:avLst/>
            </a:prstGeom>
            <a:solidFill>
              <a:srgbClr val="3399FF"/>
            </a:soli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IT</a:t>
              </a: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투자성과관리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211" name="Rectangle 172"/>
            <p:cNvSpPr>
              <a:spLocks noChangeArrowheads="1"/>
            </p:cNvSpPr>
            <p:nvPr/>
          </p:nvSpPr>
          <p:spPr bwMode="auto">
            <a:xfrm>
              <a:off x="7723398" y="3689208"/>
              <a:ext cx="936000" cy="324000"/>
            </a:xfrm>
            <a:prstGeom prst="rect">
              <a:avLst/>
            </a:prstGeom>
            <a:solidFill>
              <a:srgbClr val="3399FF"/>
            </a:soli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전문가포털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212" name="Rectangle 226"/>
            <p:cNvSpPr>
              <a:spLocks noChangeArrowheads="1"/>
            </p:cNvSpPr>
            <p:nvPr/>
          </p:nvSpPr>
          <p:spPr bwMode="auto">
            <a:xfrm>
              <a:off x="1712880" y="4002091"/>
              <a:ext cx="900000" cy="292100"/>
            </a:xfrm>
            <a:prstGeom prst="rect">
              <a:avLst/>
            </a:prstGeom>
            <a:solidFill>
              <a:srgbClr val="3399FF"/>
            </a:soli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통합커뮤니케이션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</p:txBody>
        </p:sp>
        <p:sp>
          <p:nvSpPr>
            <p:cNvPr id="213" name="Rectangle 226"/>
            <p:cNvSpPr>
              <a:spLocks noChangeArrowheads="1"/>
            </p:cNvSpPr>
            <p:nvPr/>
          </p:nvSpPr>
          <p:spPr bwMode="auto">
            <a:xfrm>
              <a:off x="1227703" y="1349060"/>
              <a:ext cx="439227" cy="1275393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홈페이지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포털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</p:txBody>
        </p:sp>
        <p:sp>
          <p:nvSpPr>
            <p:cNvPr id="214" name="Rectangle 226"/>
            <p:cNvSpPr>
              <a:spLocks noChangeArrowheads="1"/>
            </p:cNvSpPr>
            <p:nvPr/>
          </p:nvSpPr>
          <p:spPr bwMode="auto">
            <a:xfrm>
              <a:off x="1228724" y="2954332"/>
              <a:ext cx="438105" cy="2811500"/>
            </a:xfrm>
            <a:prstGeom prst="rect">
              <a:avLst/>
            </a:prstGeom>
            <a:solidFill>
              <a:srgbClr val="3399FF"/>
            </a:soli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e-Pros</a:t>
              </a: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포털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</p:txBody>
        </p:sp>
        <p:sp>
          <p:nvSpPr>
            <p:cNvPr id="215" name="Rectangle 226"/>
            <p:cNvSpPr>
              <a:spLocks noChangeArrowheads="1"/>
            </p:cNvSpPr>
            <p:nvPr/>
          </p:nvSpPr>
          <p:spPr bwMode="auto">
            <a:xfrm>
              <a:off x="1713437" y="1712658"/>
              <a:ext cx="899124" cy="29367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지식공개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서비스시스템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</p:txBody>
        </p:sp>
        <p:sp>
          <p:nvSpPr>
            <p:cNvPr id="216" name="Rectangle 169"/>
            <p:cNvSpPr>
              <a:spLocks noChangeArrowheads="1"/>
            </p:cNvSpPr>
            <p:nvPr/>
          </p:nvSpPr>
          <p:spPr bwMode="auto">
            <a:xfrm>
              <a:off x="6705127" y="2490200"/>
              <a:ext cx="935296" cy="321644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en-US" altLang="ko-KR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KK</a:t>
              </a:r>
            </a:p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217" name="Rectangle 154"/>
            <p:cNvSpPr>
              <a:spLocks noChangeArrowheads="1"/>
            </p:cNvSpPr>
            <p:nvPr/>
          </p:nvSpPr>
          <p:spPr bwMode="auto">
            <a:xfrm>
              <a:off x="3793308" y="5189221"/>
              <a:ext cx="896540" cy="35800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정보제공시스템</a:t>
              </a:r>
            </a:p>
          </p:txBody>
        </p:sp>
        <p:sp>
          <p:nvSpPr>
            <p:cNvPr id="218" name="Rectangle 192"/>
            <p:cNvSpPr>
              <a:spLocks noChangeArrowheads="1"/>
            </p:cNvSpPr>
            <p:nvPr/>
          </p:nvSpPr>
          <p:spPr bwMode="auto">
            <a:xfrm>
              <a:off x="7777326" y="4560903"/>
              <a:ext cx="900000" cy="360000"/>
            </a:xfrm>
            <a:prstGeom prst="rect">
              <a:avLst/>
            </a:prstGeom>
            <a:solidFill>
              <a:srgbClr val="3399FF"/>
            </a:soli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응용프레임워크</a:t>
              </a:r>
              <a:endParaRPr kumimoji="0" lang="en-US" altLang="ko-KR" sz="300" b="0" dirty="0">
                <a:solidFill>
                  <a:srgbClr val="000000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000000"/>
                  </a:solidFill>
                  <a:latin typeface="HY울릉도M"/>
                  <a:ea typeface="HY울릉도M"/>
                </a:rPr>
                <a:t>운영시스템</a:t>
              </a:r>
            </a:p>
          </p:txBody>
        </p:sp>
        <p:sp>
          <p:nvSpPr>
            <p:cNvPr id="219" name="Rectangle 165"/>
            <p:cNvSpPr>
              <a:spLocks noChangeArrowheads="1"/>
            </p:cNvSpPr>
            <p:nvPr/>
          </p:nvSpPr>
          <p:spPr bwMode="auto">
            <a:xfrm>
              <a:off x="1775445" y="2302806"/>
              <a:ext cx="950798" cy="321646"/>
            </a:xfrm>
            <a:prstGeom prst="rect">
              <a:avLst/>
            </a:prstGeom>
            <a:solidFill>
              <a:srgbClr val="0033CC"/>
            </a:solidFill>
            <a:ln w="28575" cap="flat" cmpd="sng" algn="ctr">
              <a:solidFill>
                <a:srgbClr val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>
                  <a:solidFill>
                    <a:srgbClr val="FFFFFF"/>
                  </a:solidFill>
                  <a:latin typeface="HY울릉도M"/>
                  <a:ea typeface="HY울릉도M"/>
                </a:rPr>
                <a:t>대국민포털</a:t>
              </a:r>
              <a:endParaRPr kumimoji="0" lang="en-US" altLang="ko-KR" sz="300" b="0" dirty="0">
                <a:solidFill>
                  <a:srgbClr val="FFFFFF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시스템</a:t>
              </a:r>
            </a:p>
          </p:txBody>
        </p:sp>
        <p:sp>
          <p:nvSpPr>
            <p:cNvPr id="220" name="Rectangle 165"/>
            <p:cNvSpPr>
              <a:spLocks noChangeArrowheads="1"/>
            </p:cNvSpPr>
            <p:nvPr/>
          </p:nvSpPr>
          <p:spPr bwMode="auto">
            <a:xfrm>
              <a:off x="1775445" y="3111115"/>
              <a:ext cx="950798" cy="321644"/>
            </a:xfrm>
            <a:prstGeom prst="rect">
              <a:avLst/>
            </a:prstGeom>
            <a:solidFill>
              <a:srgbClr val="0033CC"/>
            </a:solidFill>
            <a:ln w="28575" cap="flat" cmpd="sng" algn="ctr">
              <a:solidFill>
                <a:srgbClr val="FFFFFF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ko-KR" altLang="en-US" sz="300" b="0" dirty="0">
                  <a:solidFill>
                    <a:srgbClr val="FFFFFF"/>
                  </a:solidFill>
                  <a:latin typeface="HY울릉도M"/>
                  <a:ea typeface="HY울릉도M"/>
                </a:rPr>
                <a:t>내부</a:t>
              </a:r>
              <a:endParaRPr kumimoji="0" lang="en-US" altLang="ko-KR" sz="300" b="0" dirty="0">
                <a:solidFill>
                  <a:srgbClr val="FFFFFF"/>
                </a:solidFill>
                <a:latin typeface="HY울릉도M"/>
                <a:ea typeface="HY울릉도M"/>
              </a:endParaRPr>
            </a:p>
            <a:p>
              <a:pPr algn="ctr">
                <a:defRPr/>
              </a:pPr>
              <a:r>
                <a:rPr kumimoji="0" lang="ko-KR" altLang="en-US" sz="300" b="0" dirty="0" err="1">
                  <a:solidFill>
                    <a:srgbClr val="FFFFFF"/>
                  </a:solidFill>
                  <a:latin typeface="HY울릉도M"/>
                  <a:ea typeface="HY울릉도M"/>
                </a:rPr>
                <a:t>포털시스템</a:t>
              </a:r>
              <a:endParaRPr kumimoji="0" lang="ko-KR" altLang="en-US" sz="300" b="0" dirty="0">
                <a:solidFill>
                  <a:srgbClr val="FFFFFF"/>
                </a:solidFill>
                <a:latin typeface="HY울릉도M"/>
                <a:ea typeface="HY울릉도M"/>
              </a:endParaRPr>
            </a:p>
          </p:txBody>
        </p:sp>
      </p:grpSp>
      <p:sp>
        <p:nvSpPr>
          <p:cNvPr id="34823" name="모서리가 둥근 직사각형 6"/>
          <p:cNvSpPr>
            <a:spLocks noChangeArrowheads="1"/>
          </p:cNvSpPr>
          <p:nvPr/>
        </p:nvSpPr>
        <p:spPr bwMode="auto">
          <a:xfrm>
            <a:off x="5214938" y="2057400"/>
            <a:ext cx="3152775" cy="8858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1500"/>
          </a:p>
        </p:txBody>
      </p:sp>
      <p:graphicFrame>
        <p:nvGraphicFramePr>
          <p:cNvPr id="222" name="Group 57"/>
          <p:cNvGraphicFramePr>
            <a:graphicFrameLocks noGrp="1"/>
          </p:cNvGraphicFramePr>
          <p:nvPr>
            <p:ph sz="half" idx="4294967295"/>
          </p:nvPr>
        </p:nvGraphicFramePr>
        <p:xfrm>
          <a:off x="320675" y="5105400"/>
          <a:ext cx="9304338" cy="1195443"/>
        </p:xfrm>
        <a:graphic>
          <a:graphicData uri="http://schemas.openxmlformats.org/drawingml/2006/table">
            <a:tbl>
              <a:tblPr/>
              <a:tblGrid>
                <a:gridCol w="1039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91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9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응용시스템명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약어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영문명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설명 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상태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시스템유형 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개발기간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개발비용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개발언어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프로그램수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개발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업체 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관련데이터그룹 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0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YY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관리시스템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약어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: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INAS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영문명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: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Interagency Nationality Affairs System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협업형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웹서비스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기술을 이용하여 관련부처와 협업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협조체계의 확립으로 효율적인 대민 서비스를 제공하고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실시간처리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통합환경 시스템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상태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: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개발완료 및 </a:t>
                      </a: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운용중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시스템유형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: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Web based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개발기간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: 2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005.5.10 ~ 2005.11.9.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개발비용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: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485,000,000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개발언어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:</a:t>
                      </a:r>
                      <a:r>
                        <a:rPr kumimoji="1" lang="en-US" altLang="ko-KR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JSP,Java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프로그램수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: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261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SK C&amp;C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YY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관리데이터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850" name="TextBox 222"/>
          <p:cNvSpPr txBox="1">
            <a:spLocks noChangeArrowheads="1"/>
          </p:cNvSpPr>
          <p:nvPr/>
        </p:nvSpPr>
        <p:spPr bwMode="auto">
          <a:xfrm>
            <a:off x="5429250" y="4429125"/>
            <a:ext cx="35433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AV1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응용아키텍처 구성도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51" name="TextBox 223"/>
          <p:cNvSpPr txBox="1">
            <a:spLocks noChangeArrowheads="1"/>
          </p:cNvSpPr>
          <p:nvPr/>
        </p:nvSpPr>
        <p:spPr bwMode="auto">
          <a:xfrm>
            <a:off x="3343275" y="6318250"/>
            <a:ext cx="35433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 응용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레벨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 AV1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응용아키텍처 정의서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1.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기능체계 수립</a:t>
            </a:r>
            <a:r>
              <a:rPr lang="en-US" altLang="ko-KR" sz="1800" smtClean="0">
                <a:solidFill>
                  <a:srgbClr val="000000"/>
                </a:solidFill>
              </a:rPr>
              <a:t> &gt; 1.2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기능분류 정의</a:t>
            </a:r>
            <a:endParaRPr lang="en-US" altLang="ko-KR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17176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수행업무 설명</a:t>
            </a: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응용시스템의 기능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분류시에는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먼저 응용시스템의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차 기능을 도출하고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차 기능의 하위기능으로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차 기능을 도출한다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아래 그림처럼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가지 종류의 응용기능도가 모두 가능한데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시스템의 규모나 특성에 따라 정의된 기능의 레벨이 달라진다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분류 기능의 확정은 요구사항분석모델 업무 수행 중에 상세화가 완료되므로 이 시점에서는 일반적으로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차 기능까지 정의한다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기능도출과 컴포넌트 도출의 구체적인 수행방법은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요구사항 분석모델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리딩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’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수행작업에서 언급한다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유의 사항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 기능정의에서는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분할도를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직접 작성하지 않고 하단의 예처럼 엑셀로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분할기술서를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관리하는 것이 편리하다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844" name="Rectangle 16"/>
          <p:cNvSpPr>
            <a:spLocks noChangeArrowheads="1"/>
          </p:cNvSpPr>
          <p:nvPr/>
        </p:nvSpPr>
        <p:spPr bwMode="auto">
          <a:xfrm>
            <a:off x="630238" y="3179763"/>
            <a:ext cx="719137" cy="323850"/>
          </a:xfrm>
          <a:prstGeom prst="rect">
            <a:avLst/>
          </a:prstGeom>
          <a:solidFill>
            <a:srgbClr val="B2B2B2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1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cxnSp>
        <p:nvCxnSpPr>
          <p:cNvPr id="35845" name="AutoShape 18"/>
          <p:cNvCxnSpPr>
            <a:cxnSpLocks noChangeShapeType="1"/>
            <a:endCxn id="35844" idx="0"/>
          </p:cNvCxnSpPr>
          <p:nvPr/>
        </p:nvCxnSpPr>
        <p:spPr bwMode="auto">
          <a:xfrm rot="5400000">
            <a:off x="1212850" y="2700338"/>
            <a:ext cx="247650" cy="692150"/>
          </a:xfrm>
          <a:prstGeom prst="bentConnector3">
            <a:avLst>
              <a:gd name="adj1" fmla="val 43588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6" name="Rectangle 19"/>
          <p:cNvSpPr>
            <a:spLocks noChangeArrowheads="1"/>
          </p:cNvSpPr>
          <p:nvPr/>
        </p:nvSpPr>
        <p:spPr bwMode="auto">
          <a:xfrm>
            <a:off x="2008188" y="3179763"/>
            <a:ext cx="719137" cy="323850"/>
          </a:xfrm>
          <a:prstGeom prst="rect">
            <a:avLst/>
          </a:prstGeom>
          <a:solidFill>
            <a:srgbClr val="B2B2B2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1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cxnSp>
        <p:nvCxnSpPr>
          <p:cNvPr id="35847" name="AutoShape 20"/>
          <p:cNvCxnSpPr>
            <a:cxnSpLocks noChangeShapeType="1"/>
            <a:endCxn id="35846" idx="0"/>
          </p:cNvCxnSpPr>
          <p:nvPr/>
        </p:nvCxnSpPr>
        <p:spPr bwMode="auto">
          <a:xfrm rot="16200000" flipH="1">
            <a:off x="1901825" y="2703513"/>
            <a:ext cx="247650" cy="685800"/>
          </a:xfrm>
          <a:prstGeom prst="bentConnector3">
            <a:avLst>
              <a:gd name="adj1" fmla="val 43588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8" name="Rectangle 21"/>
          <p:cNvSpPr>
            <a:spLocks noChangeArrowheads="1"/>
          </p:cNvSpPr>
          <p:nvPr/>
        </p:nvSpPr>
        <p:spPr bwMode="auto">
          <a:xfrm>
            <a:off x="3251200" y="3163888"/>
            <a:ext cx="719138" cy="323850"/>
          </a:xfrm>
          <a:prstGeom prst="rect">
            <a:avLst/>
          </a:prstGeom>
          <a:solidFill>
            <a:srgbClr val="B2B2B2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1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sp>
        <p:nvSpPr>
          <p:cNvPr id="35849" name="Rectangle 22"/>
          <p:cNvSpPr>
            <a:spLocks noChangeArrowheads="1"/>
          </p:cNvSpPr>
          <p:nvPr/>
        </p:nvSpPr>
        <p:spPr bwMode="auto">
          <a:xfrm>
            <a:off x="3551238" y="3611563"/>
            <a:ext cx="900112" cy="252412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2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  <a:endParaRPr kumimoji="0" lang="en-US" altLang="ko-KR" b="0">
              <a:solidFill>
                <a:srgbClr val="000000"/>
              </a:solidFill>
              <a:latin typeface="굴림" panose="020B0600000101010101" pitchFamily="50" charset="-127"/>
              <a:sym typeface="Symbol" panose="05050102010706020507" pitchFamily="18" charset="2"/>
            </a:endParaRPr>
          </a:p>
        </p:txBody>
      </p:sp>
      <p:cxnSp>
        <p:nvCxnSpPr>
          <p:cNvPr id="35850" name="AutoShape 23"/>
          <p:cNvCxnSpPr>
            <a:cxnSpLocks noChangeShapeType="1"/>
            <a:stCxn id="35849" idx="1"/>
            <a:endCxn id="35851" idx="1"/>
          </p:cNvCxnSpPr>
          <p:nvPr/>
        </p:nvCxnSpPr>
        <p:spPr bwMode="auto">
          <a:xfrm rot="10800000" flipH="1" flipV="1">
            <a:off x="3551238" y="3738563"/>
            <a:ext cx="1587" cy="312737"/>
          </a:xfrm>
          <a:prstGeom prst="bentConnector3">
            <a:avLst>
              <a:gd name="adj1" fmla="val -14400005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1" name="Rectangle 24"/>
          <p:cNvSpPr>
            <a:spLocks noChangeArrowheads="1"/>
          </p:cNvSpPr>
          <p:nvPr/>
        </p:nvSpPr>
        <p:spPr bwMode="auto">
          <a:xfrm>
            <a:off x="3551238" y="3924300"/>
            <a:ext cx="900112" cy="252413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2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sp>
        <p:nvSpPr>
          <p:cNvPr id="35852" name="Rectangle 25"/>
          <p:cNvSpPr>
            <a:spLocks noChangeArrowheads="1"/>
          </p:cNvSpPr>
          <p:nvPr/>
        </p:nvSpPr>
        <p:spPr bwMode="auto">
          <a:xfrm>
            <a:off x="3551238" y="4244975"/>
            <a:ext cx="900112" cy="252413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2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cxnSp>
        <p:nvCxnSpPr>
          <p:cNvPr id="35853" name="AutoShape 26"/>
          <p:cNvCxnSpPr>
            <a:cxnSpLocks noChangeShapeType="1"/>
            <a:stCxn id="35851" idx="1"/>
            <a:endCxn id="35852" idx="1"/>
          </p:cNvCxnSpPr>
          <p:nvPr/>
        </p:nvCxnSpPr>
        <p:spPr bwMode="auto">
          <a:xfrm rot="10800000" flipH="1" flipV="1">
            <a:off x="3551238" y="4051300"/>
            <a:ext cx="1587" cy="320675"/>
          </a:xfrm>
          <a:prstGeom prst="bentConnector3">
            <a:avLst>
              <a:gd name="adj1" fmla="val -14400005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4" name="AutoShape 27"/>
          <p:cNvCxnSpPr>
            <a:cxnSpLocks noChangeShapeType="1"/>
          </p:cNvCxnSpPr>
          <p:nvPr/>
        </p:nvCxnSpPr>
        <p:spPr bwMode="auto">
          <a:xfrm rot="16200000" flipH="1">
            <a:off x="3302793" y="3501232"/>
            <a:ext cx="252413" cy="222250"/>
          </a:xfrm>
          <a:prstGeom prst="bentConnector2">
            <a:avLst/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5" name="AutoShape 29"/>
          <p:cNvCxnSpPr>
            <a:cxnSpLocks noChangeShapeType="1"/>
            <a:endCxn id="35848" idx="0"/>
          </p:cNvCxnSpPr>
          <p:nvPr/>
        </p:nvCxnSpPr>
        <p:spPr bwMode="auto">
          <a:xfrm rot="5400000">
            <a:off x="3827463" y="2687638"/>
            <a:ext cx="250825" cy="682625"/>
          </a:xfrm>
          <a:prstGeom prst="bentConnector3">
            <a:avLst>
              <a:gd name="adj1" fmla="val 43671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6" name="Rectangle 30"/>
          <p:cNvSpPr>
            <a:spLocks noChangeArrowheads="1"/>
          </p:cNvSpPr>
          <p:nvPr/>
        </p:nvSpPr>
        <p:spPr bwMode="auto">
          <a:xfrm>
            <a:off x="4629150" y="3163888"/>
            <a:ext cx="719138" cy="323850"/>
          </a:xfrm>
          <a:prstGeom prst="rect">
            <a:avLst/>
          </a:prstGeom>
          <a:solidFill>
            <a:srgbClr val="B2B2B2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1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sp>
        <p:nvSpPr>
          <p:cNvPr id="35857" name="Rectangle 31"/>
          <p:cNvSpPr>
            <a:spLocks noChangeArrowheads="1"/>
          </p:cNvSpPr>
          <p:nvPr/>
        </p:nvSpPr>
        <p:spPr bwMode="auto">
          <a:xfrm>
            <a:off x="4919663" y="3611563"/>
            <a:ext cx="900112" cy="252412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2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  <a:endParaRPr kumimoji="0" lang="en-US" altLang="ko-KR" b="0">
              <a:solidFill>
                <a:srgbClr val="000000"/>
              </a:solidFill>
              <a:latin typeface="굴림" panose="020B0600000101010101" pitchFamily="50" charset="-127"/>
              <a:sym typeface="Symbol" panose="05050102010706020507" pitchFamily="18" charset="2"/>
            </a:endParaRPr>
          </a:p>
        </p:txBody>
      </p:sp>
      <p:cxnSp>
        <p:nvCxnSpPr>
          <p:cNvPr id="35858" name="AutoShape 32"/>
          <p:cNvCxnSpPr>
            <a:cxnSpLocks noChangeShapeType="1"/>
            <a:stCxn id="35857" idx="1"/>
            <a:endCxn id="35859" idx="1"/>
          </p:cNvCxnSpPr>
          <p:nvPr/>
        </p:nvCxnSpPr>
        <p:spPr bwMode="auto">
          <a:xfrm rot="10800000" flipH="1" flipV="1">
            <a:off x="4919663" y="3738563"/>
            <a:ext cx="1587" cy="312737"/>
          </a:xfrm>
          <a:prstGeom prst="bentConnector3">
            <a:avLst>
              <a:gd name="adj1" fmla="val -14400005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9" name="Rectangle 33"/>
          <p:cNvSpPr>
            <a:spLocks noChangeArrowheads="1"/>
          </p:cNvSpPr>
          <p:nvPr/>
        </p:nvSpPr>
        <p:spPr bwMode="auto">
          <a:xfrm>
            <a:off x="4919663" y="3924300"/>
            <a:ext cx="900112" cy="252413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2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sp>
        <p:nvSpPr>
          <p:cNvPr id="35860" name="Rectangle 34"/>
          <p:cNvSpPr>
            <a:spLocks noChangeArrowheads="1"/>
          </p:cNvSpPr>
          <p:nvPr/>
        </p:nvSpPr>
        <p:spPr bwMode="auto">
          <a:xfrm>
            <a:off x="4919663" y="4244975"/>
            <a:ext cx="900112" cy="252413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2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cxnSp>
        <p:nvCxnSpPr>
          <p:cNvPr id="35861" name="AutoShape 35"/>
          <p:cNvCxnSpPr>
            <a:cxnSpLocks noChangeShapeType="1"/>
            <a:stCxn id="35859" idx="1"/>
            <a:endCxn id="35860" idx="1"/>
          </p:cNvCxnSpPr>
          <p:nvPr/>
        </p:nvCxnSpPr>
        <p:spPr bwMode="auto">
          <a:xfrm rot="10800000" flipH="1" flipV="1">
            <a:off x="4919663" y="4051300"/>
            <a:ext cx="1587" cy="320675"/>
          </a:xfrm>
          <a:prstGeom prst="bentConnector3">
            <a:avLst>
              <a:gd name="adj1" fmla="val -14400005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2" name="AutoShape 36"/>
          <p:cNvCxnSpPr>
            <a:cxnSpLocks noChangeShapeType="1"/>
          </p:cNvCxnSpPr>
          <p:nvPr/>
        </p:nvCxnSpPr>
        <p:spPr bwMode="auto">
          <a:xfrm rot="16200000" flipH="1">
            <a:off x="4680743" y="3501232"/>
            <a:ext cx="252413" cy="222250"/>
          </a:xfrm>
          <a:prstGeom prst="bentConnector2">
            <a:avLst/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3" name="AutoShape 37"/>
          <p:cNvCxnSpPr>
            <a:cxnSpLocks noChangeShapeType="1"/>
            <a:endCxn id="35856" idx="0"/>
          </p:cNvCxnSpPr>
          <p:nvPr/>
        </p:nvCxnSpPr>
        <p:spPr bwMode="auto">
          <a:xfrm rot="16200000" flipH="1">
            <a:off x="4516438" y="2681288"/>
            <a:ext cx="250825" cy="695325"/>
          </a:xfrm>
          <a:prstGeom prst="bentConnector3">
            <a:avLst>
              <a:gd name="adj1" fmla="val 43671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" name="Rectangle 68"/>
          <p:cNvSpPr>
            <a:spLocks noChangeArrowheads="1"/>
          </p:cNvSpPr>
          <p:nvPr/>
        </p:nvSpPr>
        <p:spPr bwMode="auto">
          <a:xfrm>
            <a:off x="3754438" y="2613025"/>
            <a:ext cx="1044575" cy="287338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 cmpd="tri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buFont typeface="Wingdings" pitchFamily="2" charset="2"/>
              <a:buNone/>
              <a:defRPr/>
            </a:pPr>
            <a:r>
              <a:rPr kumimoji="0" lang="ko-KR" altLang="en-US" b="0">
                <a:solidFill>
                  <a:srgbClr val="000000"/>
                </a:solidFill>
                <a:latin typeface="굴림" pitchFamily="50" charset="-127"/>
                <a:sym typeface="Symbol" pitchFamily="18" charset="2"/>
              </a:rPr>
              <a:t>응용시스템</a:t>
            </a:r>
          </a:p>
        </p:txBody>
      </p:sp>
      <p:sp>
        <p:nvSpPr>
          <p:cNvPr id="93" name="Rectangle 69"/>
          <p:cNvSpPr>
            <a:spLocks noChangeArrowheads="1"/>
          </p:cNvSpPr>
          <p:nvPr/>
        </p:nvSpPr>
        <p:spPr bwMode="auto">
          <a:xfrm>
            <a:off x="1214438" y="2632075"/>
            <a:ext cx="1044575" cy="287338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 cmpd="tri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buFont typeface="Wingdings" pitchFamily="2" charset="2"/>
              <a:buNone/>
              <a:defRPr/>
            </a:pPr>
            <a:r>
              <a:rPr kumimoji="0" lang="ko-KR" altLang="en-US" b="0">
                <a:solidFill>
                  <a:srgbClr val="000000"/>
                </a:solidFill>
                <a:latin typeface="굴림" pitchFamily="50" charset="-127"/>
                <a:sym typeface="Symbol" pitchFamily="18" charset="2"/>
              </a:rPr>
              <a:t>응용시스템</a:t>
            </a:r>
          </a:p>
        </p:txBody>
      </p:sp>
      <p:sp>
        <p:nvSpPr>
          <p:cNvPr id="35866" name="Rectangle 38"/>
          <p:cNvSpPr>
            <a:spLocks noChangeArrowheads="1"/>
          </p:cNvSpPr>
          <p:nvPr/>
        </p:nvSpPr>
        <p:spPr bwMode="auto">
          <a:xfrm>
            <a:off x="6535738" y="3148013"/>
            <a:ext cx="719137" cy="323850"/>
          </a:xfrm>
          <a:prstGeom prst="rect">
            <a:avLst/>
          </a:prstGeom>
          <a:solidFill>
            <a:srgbClr val="B2B2B2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1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sp>
        <p:nvSpPr>
          <p:cNvPr id="35867" name="Rectangle 39"/>
          <p:cNvSpPr>
            <a:spLocks noChangeArrowheads="1"/>
          </p:cNvSpPr>
          <p:nvPr/>
        </p:nvSpPr>
        <p:spPr bwMode="auto">
          <a:xfrm>
            <a:off x="6835775" y="3595688"/>
            <a:ext cx="900113" cy="252412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2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  <a:endParaRPr kumimoji="0" lang="en-US" altLang="ko-KR" b="0">
              <a:solidFill>
                <a:srgbClr val="000000"/>
              </a:solidFill>
              <a:latin typeface="굴림" panose="020B0600000101010101" pitchFamily="50" charset="-127"/>
              <a:sym typeface="Symbol" panose="05050102010706020507" pitchFamily="18" charset="2"/>
            </a:endParaRPr>
          </a:p>
        </p:txBody>
      </p:sp>
      <p:cxnSp>
        <p:nvCxnSpPr>
          <p:cNvPr id="35868" name="AutoShape 40"/>
          <p:cNvCxnSpPr>
            <a:cxnSpLocks noChangeShapeType="1"/>
            <a:stCxn id="35867" idx="1"/>
            <a:endCxn id="35869" idx="1"/>
          </p:cNvCxnSpPr>
          <p:nvPr/>
        </p:nvCxnSpPr>
        <p:spPr bwMode="auto">
          <a:xfrm rot="10800000" flipH="1" flipV="1">
            <a:off x="6835775" y="3722688"/>
            <a:ext cx="1588" cy="312737"/>
          </a:xfrm>
          <a:prstGeom prst="bentConnector3">
            <a:avLst>
              <a:gd name="adj1" fmla="val -14400005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9" name="Rectangle 41"/>
          <p:cNvSpPr>
            <a:spLocks noChangeArrowheads="1"/>
          </p:cNvSpPr>
          <p:nvPr/>
        </p:nvSpPr>
        <p:spPr bwMode="auto">
          <a:xfrm>
            <a:off x="6835775" y="3908425"/>
            <a:ext cx="900113" cy="252413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2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sp>
        <p:nvSpPr>
          <p:cNvPr id="35870" name="Rectangle 42"/>
          <p:cNvSpPr>
            <a:spLocks noChangeArrowheads="1"/>
          </p:cNvSpPr>
          <p:nvPr/>
        </p:nvSpPr>
        <p:spPr bwMode="auto">
          <a:xfrm>
            <a:off x="6835775" y="4229100"/>
            <a:ext cx="900113" cy="252413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2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cxnSp>
        <p:nvCxnSpPr>
          <p:cNvPr id="35871" name="AutoShape 43"/>
          <p:cNvCxnSpPr>
            <a:cxnSpLocks noChangeShapeType="1"/>
            <a:stCxn id="35869" idx="1"/>
            <a:endCxn id="35870" idx="1"/>
          </p:cNvCxnSpPr>
          <p:nvPr/>
        </p:nvCxnSpPr>
        <p:spPr bwMode="auto">
          <a:xfrm rot="10800000" flipH="1" flipV="1">
            <a:off x="6835775" y="4035425"/>
            <a:ext cx="1588" cy="320675"/>
          </a:xfrm>
          <a:prstGeom prst="bentConnector3">
            <a:avLst>
              <a:gd name="adj1" fmla="val -14400005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72" name="AutoShape 44"/>
          <p:cNvCxnSpPr>
            <a:cxnSpLocks noChangeShapeType="1"/>
          </p:cNvCxnSpPr>
          <p:nvPr/>
        </p:nvCxnSpPr>
        <p:spPr bwMode="auto">
          <a:xfrm rot="16200000" flipH="1">
            <a:off x="6587331" y="3485357"/>
            <a:ext cx="252413" cy="222250"/>
          </a:xfrm>
          <a:prstGeom prst="bentConnector2">
            <a:avLst/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73" name="AutoShape 46"/>
          <p:cNvCxnSpPr>
            <a:cxnSpLocks noChangeShapeType="1"/>
            <a:endCxn id="35866" idx="0"/>
          </p:cNvCxnSpPr>
          <p:nvPr/>
        </p:nvCxnSpPr>
        <p:spPr bwMode="auto">
          <a:xfrm rot="5400000">
            <a:off x="7121525" y="2659063"/>
            <a:ext cx="254000" cy="704850"/>
          </a:xfrm>
          <a:prstGeom prst="bentConnector3">
            <a:avLst>
              <a:gd name="adj1" fmla="val 43750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74" name="Rectangle 47"/>
          <p:cNvSpPr>
            <a:spLocks noChangeArrowheads="1"/>
          </p:cNvSpPr>
          <p:nvPr/>
        </p:nvSpPr>
        <p:spPr bwMode="auto">
          <a:xfrm>
            <a:off x="8142288" y="4227513"/>
            <a:ext cx="900112" cy="252412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 i="1">
                <a:solidFill>
                  <a:srgbClr val="777777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3</a:t>
            </a:r>
            <a:r>
              <a:rPr kumimoji="0" lang="ko-KR" altLang="en-US" b="0" i="1">
                <a:solidFill>
                  <a:srgbClr val="777777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  <a:endParaRPr kumimoji="0" lang="en-US" altLang="ko-KR" b="0" i="1">
              <a:solidFill>
                <a:srgbClr val="777777"/>
              </a:solidFill>
              <a:latin typeface="굴림" panose="020B0600000101010101" pitchFamily="50" charset="-127"/>
              <a:sym typeface="Symbol" panose="05050102010706020507" pitchFamily="18" charset="2"/>
            </a:endParaRPr>
          </a:p>
        </p:txBody>
      </p:sp>
      <p:sp>
        <p:nvSpPr>
          <p:cNvPr id="35875" name="Rectangle 48"/>
          <p:cNvSpPr>
            <a:spLocks noChangeArrowheads="1"/>
          </p:cNvSpPr>
          <p:nvPr/>
        </p:nvSpPr>
        <p:spPr bwMode="auto">
          <a:xfrm>
            <a:off x="8142288" y="4540250"/>
            <a:ext cx="900112" cy="252413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 i="1">
                <a:solidFill>
                  <a:srgbClr val="777777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3</a:t>
            </a:r>
            <a:r>
              <a:rPr kumimoji="0" lang="ko-KR" altLang="en-US" b="0" i="1">
                <a:solidFill>
                  <a:srgbClr val="777777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sp>
        <p:nvSpPr>
          <p:cNvPr id="35876" name="Rectangle 49"/>
          <p:cNvSpPr>
            <a:spLocks noChangeArrowheads="1"/>
          </p:cNvSpPr>
          <p:nvPr/>
        </p:nvSpPr>
        <p:spPr bwMode="auto">
          <a:xfrm>
            <a:off x="8142288" y="4860925"/>
            <a:ext cx="900112" cy="252413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 i="1">
                <a:solidFill>
                  <a:srgbClr val="777777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3</a:t>
            </a:r>
            <a:r>
              <a:rPr kumimoji="0" lang="ko-KR" altLang="en-US" b="0" i="1">
                <a:solidFill>
                  <a:srgbClr val="777777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cxnSp>
        <p:nvCxnSpPr>
          <p:cNvPr id="35877" name="AutoShape 50"/>
          <p:cNvCxnSpPr>
            <a:cxnSpLocks noChangeShapeType="1"/>
            <a:stCxn id="35874" idx="1"/>
            <a:endCxn id="35875" idx="1"/>
          </p:cNvCxnSpPr>
          <p:nvPr/>
        </p:nvCxnSpPr>
        <p:spPr bwMode="auto">
          <a:xfrm rot="10800000" flipH="1" flipV="1">
            <a:off x="8142288" y="4354513"/>
            <a:ext cx="1587" cy="312737"/>
          </a:xfrm>
          <a:prstGeom prst="bentConnector3">
            <a:avLst>
              <a:gd name="adj1" fmla="val -14400005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78" name="AutoShape 51"/>
          <p:cNvCxnSpPr>
            <a:cxnSpLocks noChangeShapeType="1"/>
            <a:stCxn id="35874" idx="1"/>
            <a:endCxn id="35876" idx="1"/>
          </p:cNvCxnSpPr>
          <p:nvPr/>
        </p:nvCxnSpPr>
        <p:spPr bwMode="auto">
          <a:xfrm rot="10800000" flipH="1" flipV="1">
            <a:off x="8142288" y="4354513"/>
            <a:ext cx="1587" cy="633412"/>
          </a:xfrm>
          <a:prstGeom prst="bentConnector3">
            <a:avLst>
              <a:gd name="adj1" fmla="val -14400005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79" name="AutoShape 52"/>
          <p:cNvCxnSpPr>
            <a:cxnSpLocks noChangeShapeType="1"/>
            <a:stCxn id="35870" idx="3"/>
            <a:endCxn id="35874" idx="1"/>
          </p:cNvCxnSpPr>
          <p:nvPr/>
        </p:nvCxnSpPr>
        <p:spPr bwMode="auto">
          <a:xfrm flipV="1">
            <a:off x="7735888" y="4354513"/>
            <a:ext cx="406400" cy="1587"/>
          </a:xfrm>
          <a:prstGeom prst="bentConnector3">
            <a:avLst>
              <a:gd name="adj1" fmla="val 49611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80" name="Rectangle 53"/>
          <p:cNvSpPr>
            <a:spLocks noChangeArrowheads="1"/>
          </p:cNvSpPr>
          <p:nvPr/>
        </p:nvSpPr>
        <p:spPr bwMode="auto">
          <a:xfrm>
            <a:off x="7996238" y="3151188"/>
            <a:ext cx="719137" cy="323850"/>
          </a:xfrm>
          <a:prstGeom prst="rect">
            <a:avLst/>
          </a:prstGeom>
          <a:solidFill>
            <a:srgbClr val="B2B2B2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1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</a:p>
        </p:txBody>
      </p:sp>
      <p:sp>
        <p:nvSpPr>
          <p:cNvPr id="35881" name="Rectangle 54"/>
          <p:cNvSpPr>
            <a:spLocks noChangeArrowheads="1"/>
          </p:cNvSpPr>
          <p:nvPr/>
        </p:nvSpPr>
        <p:spPr bwMode="auto">
          <a:xfrm>
            <a:off x="8286750" y="3598863"/>
            <a:ext cx="900113" cy="252412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2</a:t>
            </a:r>
            <a:r>
              <a:rPr kumimoji="0" lang="ko-KR" altLang="en-US" b="0">
                <a:solidFill>
                  <a:srgbClr val="000000"/>
                </a:solidFill>
                <a:latin typeface="굴림" panose="020B0600000101010101" pitchFamily="50" charset="-127"/>
                <a:sym typeface="Symbol" panose="05050102010706020507" pitchFamily="18" charset="2"/>
              </a:rPr>
              <a:t>차기능</a:t>
            </a:r>
            <a:endParaRPr kumimoji="0" lang="en-US" altLang="ko-KR" b="0">
              <a:solidFill>
                <a:srgbClr val="000000"/>
              </a:solidFill>
              <a:latin typeface="굴림" panose="020B0600000101010101" pitchFamily="50" charset="-127"/>
              <a:sym typeface="Symbol" panose="05050102010706020507" pitchFamily="18" charset="2"/>
            </a:endParaRPr>
          </a:p>
        </p:txBody>
      </p:sp>
      <p:cxnSp>
        <p:nvCxnSpPr>
          <p:cNvPr id="35882" name="AutoShape 55"/>
          <p:cNvCxnSpPr>
            <a:cxnSpLocks noChangeShapeType="1"/>
          </p:cNvCxnSpPr>
          <p:nvPr/>
        </p:nvCxnSpPr>
        <p:spPr bwMode="auto">
          <a:xfrm rot="16200000" flipH="1">
            <a:off x="8047831" y="3488532"/>
            <a:ext cx="252413" cy="222250"/>
          </a:xfrm>
          <a:prstGeom prst="bentConnector2">
            <a:avLst/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83" name="AutoShape 56"/>
          <p:cNvCxnSpPr>
            <a:cxnSpLocks noChangeShapeType="1"/>
            <a:endCxn id="35880" idx="0"/>
          </p:cNvCxnSpPr>
          <p:nvPr/>
        </p:nvCxnSpPr>
        <p:spPr bwMode="auto">
          <a:xfrm rot="16200000" flipH="1">
            <a:off x="7850187" y="2635251"/>
            <a:ext cx="257175" cy="755650"/>
          </a:xfrm>
          <a:prstGeom prst="bentConnector3">
            <a:avLst>
              <a:gd name="adj1" fmla="val 43829"/>
            </a:avLst>
          </a:prstGeom>
          <a:noFill/>
          <a:ln w="12700">
            <a:solidFill>
              <a:srgbClr val="4D4D4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0" name="Rectangle 70"/>
          <p:cNvSpPr>
            <a:spLocks noChangeArrowheads="1"/>
          </p:cNvSpPr>
          <p:nvPr/>
        </p:nvSpPr>
        <p:spPr bwMode="auto">
          <a:xfrm>
            <a:off x="7096125" y="2593975"/>
            <a:ext cx="1044575" cy="287338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 cmpd="tri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buFont typeface="Wingdings" pitchFamily="2" charset="2"/>
              <a:buNone/>
              <a:defRPr/>
            </a:pPr>
            <a:r>
              <a:rPr kumimoji="0" lang="ko-KR" altLang="en-US" b="0">
                <a:solidFill>
                  <a:srgbClr val="000000"/>
                </a:solidFill>
                <a:latin typeface="굴림" pitchFamily="50" charset="-127"/>
                <a:sym typeface="Symbol" pitchFamily="18" charset="2"/>
              </a:rPr>
              <a:t>응용시스템</a:t>
            </a:r>
          </a:p>
        </p:txBody>
      </p:sp>
      <p:graphicFrame>
        <p:nvGraphicFramePr>
          <p:cNvPr id="151" name="표 150"/>
          <p:cNvGraphicFramePr>
            <a:graphicFrameLocks noGrp="1"/>
          </p:cNvGraphicFramePr>
          <p:nvPr/>
        </p:nvGraphicFramePr>
        <p:xfrm>
          <a:off x="320675" y="5195888"/>
          <a:ext cx="9304338" cy="1120774"/>
        </p:xfrm>
        <a:graphic>
          <a:graphicData uri="http://schemas.openxmlformats.org/drawingml/2006/table">
            <a:tbl>
              <a:tblPr/>
              <a:tblGrid>
                <a:gridCol w="903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5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0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51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9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7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2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latin typeface="돋움"/>
                        </a:rPr>
                        <a:t>응용시스템명</a:t>
                      </a:r>
                      <a:endParaRPr lang="ko-KR" altLang="en-US" sz="900" b="0" i="0" u="none" strike="noStrike" dirty="0">
                        <a:latin typeface="돋움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latin typeface="돋움"/>
                        </a:rPr>
                        <a:t>하위응용시스템명</a:t>
                      </a:r>
                      <a:endParaRPr lang="ko-KR" altLang="en-US" sz="900" b="0" i="0" u="none" strike="noStrike" dirty="0">
                        <a:latin typeface="돋움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돋움"/>
                        </a:rPr>
                        <a:t>응용기능</a:t>
                      </a:r>
                      <a:r>
                        <a:rPr lang="en-US" altLang="ko-KR" sz="900" b="0" i="0" u="none" strike="noStrike" dirty="0">
                          <a:latin typeface="돋움"/>
                        </a:rPr>
                        <a:t>(1</a:t>
                      </a:r>
                      <a:r>
                        <a:rPr lang="ko-KR" altLang="en-US" sz="900" b="0" i="0" u="none" strike="noStrike" dirty="0">
                          <a:latin typeface="돋움"/>
                        </a:rPr>
                        <a:t>차</a:t>
                      </a:r>
                      <a:r>
                        <a:rPr lang="en-US" altLang="ko-KR" sz="900" b="0" i="0" u="none" strike="noStrike" dirty="0">
                          <a:latin typeface="돋움"/>
                        </a:rPr>
                        <a:t>)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돋움"/>
                        </a:rPr>
                        <a:t>응용기능</a:t>
                      </a:r>
                      <a:r>
                        <a:rPr lang="en-US" altLang="ko-KR" sz="900" b="0" i="0" u="none" strike="noStrike" dirty="0">
                          <a:latin typeface="돋움"/>
                        </a:rPr>
                        <a:t>(2</a:t>
                      </a:r>
                      <a:r>
                        <a:rPr lang="ko-KR" altLang="en-US" sz="900" b="0" i="0" u="none" strike="noStrike" dirty="0">
                          <a:latin typeface="돋움"/>
                        </a:rPr>
                        <a:t>차</a:t>
                      </a:r>
                      <a:r>
                        <a:rPr lang="en-US" altLang="ko-KR" sz="900" b="0" i="0" u="none" strike="noStrike" dirty="0">
                          <a:latin typeface="돋움"/>
                        </a:rPr>
                        <a:t>)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돋움"/>
                        </a:rPr>
                        <a:t>응용기능</a:t>
                      </a:r>
                      <a:r>
                        <a:rPr lang="en-US" altLang="ko-KR" sz="900" b="0" i="0" u="none" strike="noStrike" dirty="0">
                          <a:latin typeface="돋움"/>
                        </a:rPr>
                        <a:t>(3</a:t>
                      </a:r>
                      <a:r>
                        <a:rPr lang="ko-KR" altLang="en-US" sz="900" b="0" i="0" u="none" strike="noStrike" dirty="0">
                          <a:latin typeface="돋움"/>
                        </a:rPr>
                        <a:t>차</a:t>
                      </a:r>
                      <a:r>
                        <a:rPr lang="en-US" altLang="ko-KR" sz="900" b="0" i="0" u="none" strike="noStrike" dirty="0">
                          <a:latin typeface="돋움"/>
                        </a:rPr>
                        <a:t>)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돋움"/>
                        </a:rPr>
                        <a:t>응용기능설명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돋움"/>
                        </a:rPr>
                        <a:t>응용기능수준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돋움"/>
                        </a:rPr>
                        <a:t>신규여부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0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지식관리시스템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지식사용자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0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전사포털</a:t>
                      </a:r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2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맞춤형지식</a:t>
                      </a:r>
                      <a:r>
                        <a:rPr 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Push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조직 내 지식저장소에 축적되어 있는 전체 지식 중 본인이 사전에 지정한 </a:t>
                      </a:r>
                      <a:r>
                        <a:rPr lang="ko-KR" altLang="en-US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전문영역서비스</a:t>
                      </a:r>
                      <a:r>
                        <a:rPr lang="ko-KR" alt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 기능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0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지식포털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0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latin typeface="맑은 고딕" pitchFamily="50" charset="-127"/>
                          <a:ea typeface="맑은 고딕" pitchFamily="50" charset="-127"/>
                        </a:rPr>
                        <a:t>나의지식관리</a:t>
                      </a:r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조직</a:t>
                      </a:r>
                      <a:r>
                        <a:rPr lang="en-US" altLang="ko-KR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이름</a:t>
                      </a:r>
                      <a:r>
                        <a:rPr lang="en-US" altLang="ko-KR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분야에 따른 전문가 검색 기능 </a:t>
                      </a:r>
                      <a:r>
                        <a:rPr lang="ko-KR" altLang="en-US" sz="9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9" marR="3819" marT="3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950" name="TextBox 151"/>
          <p:cNvSpPr txBox="1">
            <a:spLocks noChangeArrowheads="1"/>
          </p:cNvSpPr>
          <p:nvPr/>
        </p:nvSpPr>
        <p:spPr bwMode="auto">
          <a:xfrm>
            <a:off x="3343275" y="6318250"/>
            <a:ext cx="35433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 응용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레벨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-AV3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응용기능 분할기술서 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951" name="TextBox 151"/>
          <p:cNvSpPr txBox="1">
            <a:spLocks noChangeArrowheads="1"/>
          </p:cNvSpPr>
          <p:nvPr/>
        </p:nvSpPr>
        <p:spPr bwMode="auto">
          <a:xfrm>
            <a:off x="3324225" y="4803775"/>
            <a:ext cx="35433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 응용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레벨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-AV3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응용기능 분할도 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1.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기능체계 수립</a:t>
            </a:r>
            <a:r>
              <a:rPr lang="en-US" altLang="ko-KR" sz="1800" smtClean="0">
                <a:solidFill>
                  <a:srgbClr val="000000"/>
                </a:solidFill>
              </a:rPr>
              <a:t> &gt; </a:t>
            </a:r>
            <a:r>
              <a:rPr lang="ko-KR" altLang="en-US" sz="1800" smtClean="0"/>
              <a:t>참조 기술 요소 </a:t>
            </a:r>
            <a:r>
              <a:rPr lang="en-US" altLang="ko-KR" sz="1800" smtClean="0"/>
              <a:t>&gt; EAMS</a:t>
            </a:r>
            <a:endParaRPr lang="en-US" altLang="ko-KR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239250" cy="55959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 기능체계 수립단계에서 필요한 사전 기술 지식으로는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EAMS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모델링 툴의 연관관계이다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시스템의 물리적인 구현 및 관리형태가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EAMS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로 나타나는데 구축절차는 다음과 같다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컨설턴트가 만든 산출물을 모델링 툴을 사용하여 모델로 표현하고 그림의 각 요소에 상세정보를 입력한다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상세정보는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DB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로 저장이 되며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모델의 구성 이미지는 메타정보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(XML)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파일로 저장되어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EAMS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 이관이 되면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EAMS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웹 화면으로 조회 가능하도록 연계된다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EAMS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ITAMS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조직의 전사아키텍처를 관리할 수 있도록 전사의 정보기술아키텍처를 등록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조회 및 관리하도록 만들어진 시스템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웹 화면으로 구현되어 있고 사용자 별 권한관리를 통해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화면 별로 관리자용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일반직원용으로 구분하여 운영한다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주요기능으로는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프레임워크 관리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아키텍처 산출물 관리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아키텍처 모델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참조모델 관리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아키텍처 분석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정형질의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비정형 질의를 통해 등록된 정보를 쉽게 찾을 수 있도록 검색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기능을 제공한다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주요 벤더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이포넷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(E4NET),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지산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등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Architecting(Modeling) Tool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모델링을 위한 전문도구로서 일반적으로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C/S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환경에서 동작한다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주요 제품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QLM(</a:t>
            </a:r>
            <a:r>
              <a:rPr lang="en-US" altLang="ko-KR" sz="1200" b="0" kern="0" dirty="0" err="1">
                <a:latin typeface="맑은 고딕" pitchFamily="50" charset="-127"/>
                <a:ea typeface="맑은 고딕" pitchFamily="50" charset="-127"/>
              </a:rPr>
              <a:t>QualiWare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Lifecycle Manager)-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한더정보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SA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등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ITRMS (Information Technology Resource Management System)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조직의 정보자원을 체계적으로 관리할 수 있도록 지원하는 시스템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기업의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IT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자산을 등록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관리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사용자는 정보시스템 부서의 자원관리 담당자 및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IT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부서이다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grpSp>
        <p:nvGrpSpPr>
          <p:cNvPr id="36868" name="그룹 28"/>
          <p:cNvGrpSpPr>
            <a:grpSpLocks/>
          </p:cNvGrpSpPr>
          <p:nvPr/>
        </p:nvGrpSpPr>
        <p:grpSpPr bwMode="auto">
          <a:xfrm>
            <a:off x="2657475" y="1946275"/>
            <a:ext cx="6562725" cy="1919288"/>
            <a:chOff x="1133475" y="4886325"/>
            <a:chExt cx="6562725" cy="1919037"/>
          </a:xfrm>
        </p:grpSpPr>
        <p:sp>
          <p:nvSpPr>
            <p:cNvPr id="36872" name="Document"/>
            <p:cNvSpPr>
              <a:spLocks noEditPoints="1" noChangeArrowheads="1"/>
            </p:cNvSpPr>
            <p:nvPr/>
          </p:nvSpPr>
          <p:spPr bwMode="auto">
            <a:xfrm>
              <a:off x="4819650" y="4886325"/>
              <a:ext cx="314325" cy="457140"/>
            </a:xfrm>
            <a:custGeom>
              <a:avLst/>
              <a:gdLst>
                <a:gd name="T0" fmla="*/ 156537 w 21600"/>
                <a:gd name="T1" fmla="*/ 457817 h 21600"/>
                <a:gd name="T2" fmla="*/ 1237 w 21600"/>
                <a:gd name="T3" fmla="*/ 229607 h 21600"/>
                <a:gd name="T4" fmla="*/ 156537 w 21600"/>
                <a:gd name="T5" fmla="*/ 1714 h 21600"/>
                <a:gd name="T6" fmla="*/ 315868 w 21600"/>
                <a:gd name="T7" fmla="*/ 225438 h 21600"/>
                <a:gd name="T8" fmla="*/ 156537 w 21600"/>
                <a:gd name="T9" fmla="*/ 457817 h 21600"/>
                <a:gd name="T10" fmla="*/ 0 w 21600"/>
                <a:gd name="T11" fmla="*/ 0 h 21600"/>
                <a:gd name="T12" fmla="*/ 314325 w 21600"/>
                <a:gd name="T13" fmla="*/ 0 h 21600"/>
                <a:gd name="T14" fmla="*/ 314325 w 21600"/>
                <a:gd name="T15" fmla="*/ 45714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977 w 21600"/>
                <a:gd name="T25" fmla="*/ 818 h 21600"/>
                <a:gd name="T26" fmla="*/ 20622 w 21600"/>
                <a:gd name="T27" fmla="*/ 1642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36873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888" y="5240338"/>
              <a:ext cx="1017587" cy="531812"/>
            </a:xfrm>
            <a:prstGeom prst="rect">
              <a:avLst/>
            </a:prstGeom>
            <a:noFill/>
            <a:ln w="9525">
              <a:solidFill>
                <a:srgbClr val="26262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5" name="원통 114"/>
            <p:cNvSpPr/>
            <p:nvPr/>
          </p:nvSpPr>
          <p:spPr bwMode="auto">
            <a:xfrm>
              <a:off x="4162425" y="5643464"/>
              <a:ext cx="609600" cy="380950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1500" dirty="0">
                <a:latin typeface="Arial" charset="0"/>
                <a:ea typeface="굴림" charset="-127"/>
              </a:endParaRPr>
            </a:p>
          </p:txBody>
        </p:sp>
        <p:pic>
          <p:nvPicPr>
            <p:cNvPr id="36875" name="Picture 5" descr="C:\Documents and Settings\Administrator\Local Settings\Temporary Internet Files\Content.IE5\ZV90B0YX\MCj04325990000[1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1350" y="5049838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6" name="TextBox 115"/>
            <p:cNvSpPr txBox="1">
              <a:spLocks noChangeArrowheads="1"/>
            </p:cNvSpPr>
            <p:nvPr/>
          </p:nvSpPr>
          <p:spPr bwMode="auto">
            <a:xfrm>
              <a:off x="1633868" y="6559299"/>
              <a:ext cx="354330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</a:t>
              </a:r>
              <a:r>
                <a: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그림 </a:t>
              </a:r>
              <a:r>
                <a:rPr lang="en-US" altLang="ko-KR">
                  <a:latin typeface="맑은 고딕" panose="020B0503020000020004" pitchFamily="50" charset="-127"/>
                  <a:ea typeface="맑은 고딕" panose="020B0503020000020004" pitchFamily="50" charset="-127"/>
                </a:rPr>
                <a:t>EAMS </a:t>
              </a:r>
              <a:r>
                <a: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구축 예</a:t>
              </a:r>
              <a:r>
                <a:rPr lang="en-US" altLang="ko-KR"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</a:t>
              </a:r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877" name="TextBox 117"/>
            <p:cNvSpPr txBox="1">
              <a:spLocks noChangeArrowheads="1"/>
            </p:cNvSpPr>
            <p:nvPr/>
          </p:nvSpPr>
          <p:spPr bwMode="auto">
            <a:xfrm>
              <a:off x="3124200" y="5443538"/>
              <a:ext cx="733425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&lt;XML&gt;</a:t>
              </a:r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878" name="TextBox 118"/>
            <p:cNvSpPr txBox="1">
              <a:spLocks noChangeArrowheads="1"/>
            </p:cNvSpPr>
            <p:nvPr/>
          </p:nvSpPr>
          <p:spPr bwMode="auto">
            <a:xfrm>
              <a:off x="4076700" y="6072188"/>
              <a:ext cx="733425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879" name="TextBox 119"/>
            <p:cNvSpPr txBox="1">
              <a:spLocks noChangeArrowheads="1"/>
            </p:cNvSpPr>
            <p:nvPr/>
          </p:nvSpPr>
          <p:spPr bwMode="auto">
            <a:xfrm>
              <a:off x="3457575" y="5251450"/>
              <a:ext cx="15906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변경시 이미지정보 소스 자동 반영</a:t>
              </a:r>
            </a:p>
          </p:txBody>
        </p:sp>
        <p:pic>
          <p:nvPicPr>
            <p:cNvPr id="36880" name="Picture 9" descr="메인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69025" y="5164138"/>
              <a:ext cx="1155700" cy="788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81" name="Freeform 227"/>
            <p:cNvSpPr>
              <a:spLocks/>
            </p:cNvSpPr>
            <p:nvPr/>
          </p:nvSpPr>
          <p:spPr bwMode="auto">
            <a:xfrm rot="15734761" flipH="1">
              <a:off x="4065049" y="4704884"/>
              <a:ext cx="281404" cy="723900"/>
            </a:xfrm>
            <a:custGeom>
              <a:avLst/>
              <a:gdLst>
                <a:gd name="T0" fmla="*/ 2147483646 w 640"/>
                <a:gd name="T1" fmla="*/ 2147483646 h 816"/>
                <a:gd name="T2" fmla="*/ 2147483646 w 640"/>
                <a:gd name="T3" fmla="*/ 2147483646 h 816"/>
                <a:gd name="T4" fmla="*/ 2147483646 w 640"/>
                <a:gd name="T5" fmla="*/ 2147483646 h 816"/>
                <a:gd name="T6" fmla="*/ 2147483646 w 640"/>
                <a:gd name="T7" fmla="*/ 2147483646 h 816"/>
                <a:gd name="T8" fmla="*/ 2147483646 w 640"/>
                <a:gd name="T9" fmla="*/ 2147483646 h 816"/>
                <a:gd name="T10" fmla="*/ 2147483646 w 640"/>
                <a:gd name="T11" fmla="*/ 2147483646 h 816"/>
                <a:gd name="T12" fmla="*/ 2147483646 w 640"/>
                <a:gd name="T13" fmla="*/ 2147483646 h 816"/>
                <a:gd name="T14" fmla="*/ 2147483646 w 640"/>
                <a:gd name="T15" fmla="*/ 2147483646 h 8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40"/>
                <a:gd name="T25" fmla="*/ 0 h 816"/>
                <a:gd name="T26" fmla="*/ 640 w 640"/>
                <a:gd name="T27" fmla="*/ 816 h 8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40" h="816">
                  <a:moveTo>
                    <a:pt x="556" y="2"/>
                  </a:moveTo>
                  <a:cubicBezTo>
                    <a:pt x="563" y="4"/>
                    <a:pt x="274" y="6"/>
                    <a:pt x="137" y="257"/>
                  </a:cubicBezTo>
                  <a:cubicBezTo>
                    <a:pt x="0" y="508"/>
                    <a:pt x="306" y="720"/>
                    <a:pt x="300" y="720"/>
                  </a:cubicBezTo>
                  <a:cubicBezTo>
                    <a:pt x="304" y="725"/>
                    <a:pt x="246" y="780"/>
                    <a:pt x="240" y="816"/>
                  </a:cubicBezTo>
                  <a:cubicBezTo>
                    <a:pt x="444" y="786"/>
                    <a:pt x="632" y="757"/>
                    <a:pt x="640" y="750"/>
                  </a:cubicBezTo>
                  <a:cubicBezTo>
                    <a:pt x="538" y="606"/>
                    <a:pt x="527" y="387"/>
                    <a:pt x="527" y="387"/>
                  </a:cubicBezTo>
                  <a:cubicBezTo>
                    <a:pt x="522" y="388"/>
                    <a:pt x="478" y="510"/>
                    <a:pt x="466" y="486"/>
                  </a:cubicBezTo>
                  <a:cubicBezTo>
                    <a:pt x="28" y="92"/>
                    <a:pt x="557" y="0"/>
                    <a:pt x="556" y="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B7D"/>
                </a:gs>
                <a:gs pos="100000">
                  <a:srgbClr val="FF9900"/>
                </a:gs>
              </a:gsLst>
              <a:lin ang="5400000" scaled="1"/>
            </a:gradFill>
            <a:ln w="9525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36882" name="직선 화살표 연결선 124"/>
            <p:cNvCxnSpPr>
              <a:cxnSpLocks noChangeShapeType="1"/>
            </p:cNvCxnSpPr>
            <p:nvPr/>
          </p:nvCxnSpPr>
          <p:spPr bwMode="auto">
            <a:xfrm flipV="1">
              <a:off x="2647950" y="5278438"/>
              <a:ext cx="533400" cy="236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3" name="직선 화살표 연결선 125"/>
            <p:cNvCxnSpPr>
              <a:cxnSpLocks noChangeShapeType="1"/>
            </p:cNvCxnSpPr>
            <p:nvPr/>
          </p:nvCxnSpPr>
          <p:spPr bwMode="auto">
            <a:xfrm>
              <a:off x="2647950" y="5724525"/>
              <a:ext cx="1466850" cy="17145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884" name="TextBox 128"/>
            <p:cNvSpPr txBox="1">
              <a:spLocks noChangeArrowheads="1"/>
            </p:cNvSpPr>
            <p:nvPr/>
          </p:nvSpPr>
          <p:spPr bwMode="auto">
            <a:xfrm>
              <a:off x="1171575" y="6070600"/>
              <a:ext cx="17240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Design Tool</a:t>
              </a:r>
              <a:r>
                <a: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통해 구성도</a:t>
              </a:r>
              <a:r>
                <a:rPr lang="en-US" altLang="ko-KR"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관계도 등을 관리</a:t>
              </a:r>
            </a:p>
          </p:txBody>
        </p:sp>
        <p:sp>
          <p:nvSpPr>
            <p:cNvPr id="36885" name="TextBox 129"/>
            <p:cNvSpPr txBox="1">
              <a:spLocks noChangeArrowheads="1"/>
            </p:cNvSpPr>
            <p:nvPr/>
          </p:nvSpPr>
          <p:spPr bwMode="auto">
            <a:xfrm>
              <a:off x="1133475" y="5803900"/>
              <a:ext cx="1724025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모델링 툴</a:t>
              </a:r>
            </a:p>
          </p:txBody>
        </p:sp>
        <p:cxnSp>
          <p:nvCxnSpPr>
            <p:cNvPr id="36886" name="직선 화살표 연결선 130"/>
            <p:cNvCxnSpPr>
              <a:cxnSpLocks noChangeShapeType="1"/>
            </p:cNvCxnSpPr>
            <p:nvPr/>
          </p:nvCxnSpPr>
          <p:spPr bwMode="auto">
            <a:xfrm rot="10800000" flipV="1">
              <a:off x="4905375" y="5638802"/>
              <a:ext cx="1123950" cy="26669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887" name="TextBox 135"/>
            <p:cNvSpPr txBox="1">
              <a:spLocks noChangeArrowheads="1"/>
            </p:cNvSpPr>
            <p:nvPr/>
          </p:nvSpPr>
          <p:spPr bwMode="auto">
            <a:xfrm>
              <a:off x="5972175" y="5937250"/>
              <a:ext cx="1724025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 EAMS </a:t>
              </a:r>
              <a:r>
                <a: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시스템에서 조회</a:t>
              </a:r>
            </a:p>
          </p:txBody>
        </p:sp>
        <p:cxnSp>
          <p:nvCxnSpPr>
            <p:cNvPr id="36888" name="직선 화살표 연결선 136"/>
            <p:cNvCxnSpPr>
              <a:cxnSpLocks noChangeShapeType="1"/>
            </p:cNvCxnSpPr>
            <p:nvPr/>
          </p:nvCxnSpPr>
          <p:spPr bwMode="auto">
            <a:xfrm rot="10800000">
              <a:off x="5267326" y="5143501"/>
              <a:ext cx="762003" cy="171453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36869" name="Picture 22" descr="C:\Documents and Settings\Administrator\Local Settings\Temporary Internet Files\Content.IE5\MS2FFM9P\MCj04260580000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763" y="2174875"/>
            <a:ext cx="1004887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TextBox 128"/>
          <p:cNvSpPr txBox="1">
            <a:spLocks noChangeArrowheads="1"/>
          </p:cNvSpPr>
          <p:nvPr/>
        </p:nvSpPr>
        <p:spPr bwMode="auto">
          <a:xfrm>
            <a:off x="638175" y="3130550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전사 아키텍처 분석 산출물 생성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(PPT, Excel)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오른쪽 화살표 31"/>
          <p:cNvSpPr/>
          <p:nvPr/>
        </p:nvSpPr>
        <p:spPr bwMode="auto">
          <a:xfrm>
            <a:off x="2247900" y="2422525"/>
            <a:ext cx="533400" cy="57150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1.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기능체계 수립</a:t>
            </a:r>
            <a:r>
              <a:rPr lang="en-US" altLang="ko-KR" sz="1800" smtClean="0">
                <a:solidFill>
                  <a:srgbClr val="000000"/>
                </a:solidFill>
              </a:rPr>
              <a:t> &gt; </a:t>
            </a:r>
            <a:r>
              <a:rPr lang="ko-KR" altLang="en-US" sz="1800" smtClean="0">
                <a:solidFill>
                  <a:srgbClr val="000000"/>
                </a:solidFill>
              </a:rPr>
              <a:t>참조 기술 요소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en-US" altLang="ko-KR" sz="1800" smtClean="0"/>
              <a:t>SRM</a:t>
            </a:r>
            <a:r>
              <a:rPr lang="ko-KR" altLang="en-US" sz="1800" smtClean="0"/>
              <a:t>의 활용</a:t>
            </a:r>
            <a:endParaRPr lang="en-US" altLang="ko-KR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58547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여기서는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 2.0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을 기준으로 설명한다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 SRM(Service Component Reference Model)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은 서비스도메인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서비스타입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서비스컴포넌트의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단계로 구성된다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위와 같이 서비스도메인은 세가지로 구분된다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서비스도메인 별로 서비스타입과 서비스 컴포넌트로 구성된다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서비스타입은 서비스컴포넌트 들의 묶음이다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구축하는 응용시스템의 응용기능은 반드시 업무서비스 또는 공통업무서비스 도메인의 서비스타입 또는 서비스 컴포넌트에 일치되어야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이러한 조직의 전사 아키텍처에서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이미 구축되어 있으므로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이를 참조하여 응용시스템의 구현에 있어 중복개발을 방지하고 서비스의 연계 및 재사용을 효과적으로 실행하도록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의 활용 분야</a:t>
            </a: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은 크게 정보화 기획 및 사업계획 수립시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 설계 및 구축 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그리고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IT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서비스에 대한 관리 시에 활용된다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 중 응용시스템 설계 및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구축시에는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259550" lvl="3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lphaUcPeriod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공통업무 및 공통기술서비스 등으로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부터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재사용 가능한 서비스 식별 및 정제 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259550" lvl="3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lphaUcPeriod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공통업무 및 공통기술서비스 등 재사용 가능한 서비스를 활용하여 시스템 설계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개발 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259550" lvl="3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lphaUcPeriod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서비스 타입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서비스 컴포넌트에 해당하는 응용시스템 또는 응용기능의 표준화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259550" lvl="3" indent="-342900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등에 활용한다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타원 4"/>
          <p:cNvSpPr/>
          <p:nvPr/>
        </p:nvSpPr>
        <p:spPr bwMode="auto">
          <a:xfrm>
            <a:off x="415925" y="1647825"/>
            <a:ext cx="742950" cy="48895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36000" tIns="0" rIns="36000" bIns="0"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서비스도메인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 5"/>
          <p:cNvSpPr/>
          <p:nvPr/>
        </p:nvSpPr>
        <p:spPr bwMode="auto">
          <a:xfrm>
            <a:off x="1093788" y="2017713"/>
            <a:ext cx="742950" cy="48895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36000" tIns="0" rIns="36000" bIns="0"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서비스타입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타원 6"/>
          <p:cNvSpPr/>
          <p:nvPr/>
        </p:nvSpPr>
        <p:spPr bwMode="auto">
          <a:xfrm>
            <a:off x="1727200" y="2389188"/>
            <a:ext cx="862013" cy="48895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36000" tIns="0" rIns="36000" bIns="0"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서비스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>
              <a:spcBef>
                <a:spcPts val="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컴포넌트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895" name="Shape 8"/>
          <p:cNvCxnSpPr>
            <a:cxnSpLocks noChangeShapeType="1"/>
            <a:stCxn id="5" idx="4"/>
            <a:endCxn id="6" idx="2"/>
          </p:cNvCxnSpPr>
          <p:nvPr/>
        </p:nvCxnSpPr>
        <p:spPr bwMode="auto">
          <a:xfrm rot="16200000" flipH="1">
            <a:off x="877887" y="2046288"/>
            <a:ext cx="125413" cy="306388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6" name="Shape 10"/>
          <p:cNvCxnSpPr>
            <a:cxnSpLocks noChangeShapeType="1"/>
            <a:stCxn id="6" idx="4"/>
            <a:endCxn id="7" idx="2"/>
          </p:cNvCxnSpPr>
          <p:nvPr/>
        </p:nvCxnSpPr>
        <p:spPr bwMode="auto">
          <a:xfrm rot="16200000" flipH="1">
            <a:off x="1532732" y="2439194"/>
            <a:ext cx="127000" cy="261937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7" name="직선 연결선 13"/>
          <p:cNvCxnSpPr>
            <a:cxnSpLocks noChangeShapeType="1"/>
          </p:cNvCxnSpPr>
          <p:nvPr/>
        </p:nvCxnSpPr>
        <p:spPr bwMode="auto">
          <a:xfrm>
            <a:off x="987425" y="2271713"/>
            <a:ext cx="161925" cy="1270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8" name="직선 연결선 14"/>
          <p:cNvCxnSpPr>
            <a:cxnSpLocks noChangeShapeType="1"/>
          </p:cNvCxnSpPr>
          <p:nvPr/>
        </p:nvCxnSpPr>
        <p:spPr bwMode="auto">
          <a:xfrm flipV="1">
            <a:off x="987425" y="2127250"/>
            <a:ext cx="161925" cy="10953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9" name="직선 연결선 17"/>
          <p:cNvCxnSpPr>
            <a:cxnSpLocks noChangeShapeType="1"/>
          </p:cNvCxnSpPr>
          <p:nvPr/>
        </p:nvCxnSpPr>
        <p:spPr bwMode="auto">
          <a:xfrm rot="16200000" flipH="1">
            <a:off x="851693" y="2282032"/>
            <a:ext cx="271463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0" name="직선 연결선 26"/>
          <p:cNvCxnSpPr>
            <a:cxnSpLocks noChangeShapeType="1"/>
          </p:cNvCxnSpPr>
          <p:nvPr/>
        </p:nvCxnSpPr>
        <p:spPr bwMode="auto">
          <a:xfrm>
            <a:off x="1636713" y="2651125"/>
            <a:ext cx="163512" cy="1270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1" name="직선 연결선 27"/>
          <p:cNvCxnSpPr>
            <a:cxnSpLocks noChangeShapeType="1"/>
          </p:cNvCxnSpPr>
          <p:nvPr/>
        </p:nvCxnSpPr>
        <p:spPr bwMode="auto">
          <a:xfrm flipV="1">
            <a:off x="1636713" y="2506663"/>
            <a:ext cx="163512" cy="10795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2" name="직선 연결선 28"/>
          <p:cNvCxnSpPr>
            <a:cxnSpLocks noChangeShapeType="1"/>
          </p:cNvCxnSpPr>
          <p:nvPr/>
        </p:nvCxnSpPr>
        <p:spPr bwMode="auto">
          <a:xfrm rot="16200000" flipH="1">
            <a:off x="1500981" y="2659857"/>
            <a:ext cx="271463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3" name="직선 연결선 30"/>
          <p:cNvCxnSpPr>
            <a:cxnSpLocks noChangeShapeType="1"/>
          </p:cNvCxnSpPr>
          <p:nvPr/>
        </p:nvCxnSpPr>
        <p:spPr bwMode="auto">
          <a:xfrm>
            <a:off x="1357313" y="2525713"/>
            <a:ext cx="217487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4" name="직선 연결선 31"/>
          <p:cNvCxnSpPr>
            <a:cxnSpLocks noChangeShapeType="1"/>
          </p:cNvCxnSpPr>
          <p:nvPr/>
        </p:nvCxnSpPr>
        <p:spPr bwMode="auto">
          <a:xfrm>
            <a:off x="677863" y="2162175"/>
            <a:ext cx="21748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Box 33"/>
          <p:cNvSpPr txBox="1"/>
          <p:nvPr/>
        </p:nvSpPr>
        <p:spPr>
          <a:xfrm>
            <a:off x="3594100" y="1593850"/>
            <a:ext cx="1285875" cy="358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업무서비스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4100" y="1990725"/>
            <a:ext cx="1277938" cy="358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공통업무서비스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94100" y="2459038"/>
            <a:ext cx="1277938" cy="360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공통기술서비스</a:t>
            </a:r>
          </a:p>
        </p:txBody>
      </p:sp>
      <p:sp>
        <p:nvSpPr>
          <p:cNvPr id="37908" name="직사각형 36"/>
          <p:cNvSpPr>
            <a:spLocks noChangeArrowheads="1"/>
          </p:cNvSpPr>
          <p:nvPr/>
        </p:nvSpPr>
        <p:spPr bwMode="auto">
          <a:xfrm>
            <a:off x="3540125" y="1566863"/>
            <a:ext cx="2136775" cy="814387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1500"/>
          </a:p>
        </p:txBody>
      </p:sp>
      <p:sp>
        <p:nvSpPr>
          <p:cNvPr id="37909" name="직사각형 37"/>
          <p:cNvSpPr>
            <a:spLocks noChangeArrowheads="1"/>
          </p:cNvSpPr>
          <p:nvPr/>
        </p:nvSpPr>
        <p:spPr bwMode="auto">
          <a:xfrm>
            <a:off x="3538538" y="2417763"/>
            <a:ext cx="2138362" cy="423862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1500"/>
          </a:p>
        </p:txBody>
      </p:sp>
      <p:sp>
        <p:nvSpPr>
          <p:cNvPr id="37910" name="TextBox 38"/>
          <p:cNvSpPr txBox="1">
            <a:spLocks noChangeArrowheads="1"/>
          </p:cNvSpPr>
          <p:nvPr/>
        </p:nvSpPr>
        <p:spPr bwMode="auto">
          <a:xfrm>
            <a:off x="2435225" y="2046288"/>
            <a:ext cx="10683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유형 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업무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기술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에 따른 구분</a:t>
            </a:r>
          </a:p>
        </p:txBody>
      </p:sp>
      <p:sp>
        <p:nvSpPr>
          <p:cNvPr id="37911" name="TextBox 39"/>
          <p:cNvSpPr txBox="1">
            <a:spLocks noChangeArrowheads="1"/>
          </p:cNvSpPr>
          <p:nvPr/>
        </p:nvSpPr>
        <p:spPr bwMode="auto">
          <a:xfrm>
            <a:off x="4824413" y="1736725"/>
            <a:ext cx="8604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대상 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고유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에 따른 구분</a:t>
            </a:r>
          </a:p>
        </p:txBody>
      </p:sp>
      <p:cxnSp>
        <p:nvCxnSpPr>
          <p:cNvPr id="37912" name="Shape 41"/>
          <p:cNvCxnSpPr>
            <a:cxnSpLocks noChangeShapeType="1"/>
            <a:stCxn id="37910" idx="0"/>
          </p:cNvCxnSpPr>
          <p:nvPr/>
        </p:nvCxnSpPr>
        <p:spPr bwMode="auto">
          <a:xfrm rot="5400000" flipH="1" flipV="1">
            <a:off x="3136900" y="1662113"/>
            <a:ext cx="217488" cy="550862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3" name="Shape 42"/>
          <p:cNvCxnSpPr>
            <a:cxnSpLocks noChangeShapeType="1"/>
            <a:stCxn id="37910" idx="2"/>
          </p:cNvCxnSpPr>
          <p:nvPr/>
        </p:nvCxnSpPr>
        <p:spPr bwMode="auto">
          <a:xfrm rot="16200000" flipH="1">
            <a:off x="3210719" y="2313782"/>
            <a:ext cx="60325" cy="541337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4" name="Shape 47"/>
          <p:cNvCxnSpPr>
            <a:cxnSpLocks noChangeShapeType="1"/>
            <a:stCxn id="37911" idx="0"/>
          </p:cNvCxnSpPr>
          <p:nvPr/>
        </p:nvCxnSpPr>
        <p:spPr bwMode="auto">
          <a:xfrm rot="16200000" flipV="1">
            <a:off x="5027612" y="1509713"/>
            <a:ext cx="79375" cy="374650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5" name="Shape 51"/>
          <p:cNvCxnSpPr>
            <a:cxnSpLocks noChangeShapeType="1"/>
            <a:endCxn id="37911" idx="2"/>
          </p:cNvCxnSpPr>
          <p:nvPr/>
        </p:nvCxnSpPr>
        <p:spPr bwMode="auto">
          <a:xfrm flipV="1">
            <a:off x="4879975" y="2244725"/>
            <a:ext cx="374650" cy="46038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" name="TextBox 59"/>
          <p:cNvSpPr txBox="1"/>
          <p:nvPr/>
        </p:nvSpPr>
        <p:spPr>
          <a:xfrm>
            <a:off x="5973763" y="1655763"/>
            <a:ext cx="1143000" cy="236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업무서비스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2175" y="2097088"/>
            <a:ext cx="1144588" cy="236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공통업무서비스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00925" y="1851025"/>
            <a:ext cx="1136650" cy="2365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공통 기술서비스</a:t>
            </a:r>
          </a:p>
        </p:txBody>
      </p:sp>
      <p:sp>
        <p:nvSpPr>
          <p:cNvPr id="37919" name="TextBox 64"/>
          <p:cNvSpPr txBox="1">
            <a:spLocks noChangeArrowheads="1"/>
          </p:cNvSpPr>
          <p:nvPr/>
        </p:nvSpPr>
        <p:spPr bwMode="auto">
          <a:xfrm>
            <a:off x="5857875" y="2444750"/>
            <a:ext cx="1393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서비스가 제공하는 기능</a:t>
            </a:r>
          </a:p>
        </p:txBody>
      </p:sp>
      <p:sp>
        <p:nvSpPr>
          <p:cNvPr id="37920" name="TextBox 65"/>
          <p:cNvSpPr txBox="1">
            <a:spLocks noChangeArrowheads="1"/>
          </p:cNvSpPr>
          <p:nvPr/>
        </p:nvSpPr>
        <p:spPr bwMode="auto">
          <a:xfrm>
            <a:off x="6942138" y="1773238"/>
            <a:ext cx="598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/>
              <a:t>+</a:t>
            </a:r>
            <a:endParaRPr lang="ko-KR" altLang="en-US" sz="2000"/>
          </a:p>
        </p:txBody>
      </p:sp>
      <p:sp>
        <p:nvSpPr>
          <p:cNvPr id="37921" name="TextBox 66"/>
          <p:cNvSpPr txBox="1">
            <a:spLocks noChangeArrowheads="1"/>
          </p:cNvSpPr>
          <p:nvPr/>
        </p:nvSpPr>
        <p:spPr bwMode="auto">
          <a:xfrm>
            <a:off x="7196138" y="2443163"/>
            <a:ext cx="15382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제공하는 기술</a:t>
            </a:r>
          </a:p>
        </p:txBody>
      </p:sp>
      <p:sp>
        <p:nvSpPr>
          <p:cNvPr id="37922" name="TextBox 67"/>
          <p:cNvSpPr txBox="1">
            <a:spLocks noChangeArrowheads="1"/>
          </p:cNvSpPr>
          <p:nvPr/>
        </p:nvSpPr>
        <p:spPr bwMode="auto">
          <a:xfrm>
            <a:off x="8691563" y="2460625"/>
            <a:ext cx="10160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구현된 서비스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24900" y="1849438"/>
            <a:ext cx="873125" cy="2381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>
                <a:latin typeface="맑은 고딕" pitchFamily="50" charset="-127"/>
                <a:ea typeface="맑은 고딕" pitchFamily="50" charset="-127"/>
              </a:rPr>
              <a:t>응용기능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924" name="직선 연결선 70"/>
          <p:cNvCxnSpPr>
            <a:cxnSpLocks noChangeShapeType="1"/>
          </p:cNvCxnSpPr>
          <p:nvPr/>
        </p:nvCxnSpPr>
        <p:spPr bwMode="auto">
          <a:xfrm rot="10800000">
            <a:off x="8799513" y="2398713"/>
            <a:ext cx="798512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25" name="직선 연결선 71"/>
          <p:cNvCxnSpPr>
            <a:cxnSpLocks noChangeShapeType="1"/>
          </p:cNvCxnSpPr>
          <p:nvPr/>
        </p:nvCxnSpPr>
        <p:spPr bwMode="auto">
          <a:xfrm rot="10800000">
            <a:off x="5956300" y="2397125"/>
            <a:ext cx="119697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26" name="직선 연결선 72"/>
          <p:cNvCxnSpPr>
            <a:cxnSpLocks noChangeShapeType="1"/>
          </p:cNvCxnSpPr>
          <p:nvPr/>
        </p:nvCxnSpPr>
        <p:spPr bwMode="auto">
          <a:xfrm rot="10800000">
            <a:off x="7359650" y="2389188"/>
            <a:ext cx="1196975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7" name="직사각형 74"/>
          <p:cNvSpPr>
            <a:spLocks noChangeArrowheads="1"/>
          </p:cNvSpPr>
          <p:nvPr/>
        </p:nvSpPr>
        <p:spPr bwMode="auto">
          <a:xfrm>
            <a:off x="5910263" y="1573213"/>
            <a:ext cx="3733800" cy="1277937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1500"/>
          </a:p>
        </p:txBody>
      </p:sp>
      <p:sp>
        <p:nvSpPr>
          <p:cNvPr id="37928" name="TextBox 9"/>
          <p:cNvSpPr txBox="1">
            <a:spLocks noChangeArrowheads="1"/>
          </p:cNvSpPr>
          <p:nvPr/>
        </p:nvSpPr>
        <p:spPr bwMode="auto">
          <a:xfrm>
            <a:off x="320675" y="2873375"/>
            <a:ext cx="23764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SRM 2.0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구성요소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929" name="TextBox 9"/>
          <p:cNvSpPr txBox="1">
            <a:spLocks noChangeArrowheads="1"/>
          </p:cNvSpPr>
          <p:nvPr/>
        </p:nvSpPr>
        <p:spPr bwMode="auto">
          <a:xfrm>
            <a:off x="2368550" y="2854325"/>
            <a:ext cx="35433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 서비스도메인 구분기준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930" name="TextBox 9"/>
          <p:cNvSpPr txBox="1">
            <a:spLocks noChangeArrowheads="1"/>
          </p:cNvSpPr>
          <p:nvPr/>
        </p:nvSpPr>
        <p:spPr bwMode="auto">
          <a:xfrm>
            <a:off x="5943600" y="2862263"/>
            <a:ext cx="35433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 서비스 도메인을 활용한 응용기능 구현 체계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/>
          <p:cNvSpPr>
            <a:spLocks noGrp="1"/>
          </p:cNvSpPr>
          <p:nvPr>
            <p:ph type="title"/>
          </p:nvPr>
        </p:nvSpPr>
        <p:spPr>
          <a:xfrm>
            <a:off x="341313" y="206375"/>
            <a:ext cx="7878762" cy="457200"/>
          </a:xfrm>
        </p:spPr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1.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기능체계 수립</a:t>
            </a:r>
            <a:r>
              <a:rPr lang="en-US" altLang="ko-KR" sz="1800" smtClean="0">
                <a:solidFill>
                  <a:srgbClr val="000000"/>
                </a:solidFill>
              </a:rPr>
              <a:t> &gt; </a:t>
            </a:r>
            <a:r>
              <a:rPr lang="ko-KR" altLang="en-US" sz="1800" smtClean="0">
                <a:solidFill>
                  <a:srgbClr val="000000"/>
                </a:solidFill>
              </a:rPr>
              <a:t>참조 기술 요소 </a:t>
            </a:r>
            <a:r>
              <a:rPr lang="en-US" altLang="ko-KR" sz="1800" smtClean="0"/>
              <a:t>&gt; SRM </a:t>
            </a:r>
            <a:r>
              <a:rPr lang="ko-KR" altLang="en-US" sz="1800" smtClean="0"/>
              <a:t>활용 시나리오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269413" cy="65182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rgbClr val="3333CC"/>
              </a:buClr>
              <a:defRPr/>
            </a:pP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기본적으로 응용아키텍처의 수립은 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EA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구축 시 응용시스템 영역의 담당자가 수행하여야 할 일이다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그러나 목표아키텍처의 경우 수립된 응용아키텍처의 수준과 현실성은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그다지 기대할 바가 되지 못한다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따라서 응용시스템의 설계 및 구현과정에서 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는 이에 대해 재검증을 수행한다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수립된 목표아키텍처는 프로젝트 구축이 완료되고 응용시스템이 적용되는 시점에서는 현행 아키텍처로 전환되기 때문이다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아래 내용의 구체적인 사례 및 설명은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범정부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서비스 컴포넌트 참조모델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2.0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문서를 참조하도록 한다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응용아키텍처 수립 시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SRM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적용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응용시스템 및 응용기능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vs. SRM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서비스 컴포넌트간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Matrix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작성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응용아키텍처를 수립할 때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을 활용하는 가장 중요한 부분은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서비스컴포넌트에 대한 응용시스템 및 응용기능의 매핑이다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이는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응응시스템 및 응용기능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vs. SRM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서비스컴포넌트 간의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Matrix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를 생성하고 관리할 수 있도록 정보를 등록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이러한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Matrix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정보의 변동이 발생한 경우 현황을 업데이트하여 지속적으로 유지 관리할 수 있도록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담당자를 지원한다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중복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연계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재사용 및 공동 활용 가능한 서비스컴포넌트를 식별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위에서 작성한 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응용시스템 및 응용기능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vs. SRM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서비스 컴포넌트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Matrix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에 구축 진행 중인 신규응용시스템 열을 추가하여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과 비교하면 중복요소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재사용 또는 연계 가능한 응용시스템 및 응용기능을 찾을 수 있으므로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이에 대한 활용가능 여부를 조사한다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여러 시스템에서 공통으로 사용 가능한 서비스 컴포넌트의 식별 및 활성화 촉진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하나의 응용시스템 및 응용기능에 하나 또는 그 이상의 서비스컴포넌트가 연관된다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따라서 위에서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작성한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Matrix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를 통해 공통으로 사용 가능한 것을 필요성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실현가능성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, ROI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등을 분석하여 선정 한 후 표준화 작업을 통하여 구현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이를 공통으로 사용가능한 서비스 컴포넌트로 활용한다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정보시스템에서 제공하는 응용기능의 표준화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결국은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레벨에서 정의하는 응용기능의 크기와 깊이가 응용시스템 별로 차이가 생기게 되면 응용시스템 기획 뿐만 아니라 설계 개발 시에도 개발 업체에 따라 각기 다른 수준과 규모의 응용시스템 및 기능을 만들게 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이를 해결 하기 위해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서비스 컴포넌트가 응용기능들의 수준 조정 기준이 되어야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각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응용기능들을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의 서비스 컴포넌트 들과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M:N </a:t>
            </a:r>
            <a:r>
              <a:rPr lang="ko-KR" altLang="en-US" sz="1200" kern="0" dirty="0" err="1">
                <a:latin typeface="맑은 고딕" pitchFamily="50" charset="-127"/>
                <a:ea typeface="맑은 고딕" pitchFamily="50" charset="-127"/>
              </a:rPr>
              <a:t>매핑을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 수행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때 응용기능의 어떤레벨을 서비스 컴포넌트와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매핑할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것인지 표준화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2. </a:t>
            </a:r>
            <a:r>
              <a:rPr lang="ko-KR" altLang="en-US" sz="1800" smtClean="0">
                <a:solidFill>
                  <a:srgbClr val="000000"/>
                </a:solidFill>
              </a:rPr>
              <a:t>개발시스템 요구사항 이해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14954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소프트웨어 아키텍처 수립 프로세스의 필수 수행업무로서 개발시스템 요구사항 이해 수행시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로서 동일한 과정을 수행 지원함으로써 업무수행 생산성을 높이고 이로 인한 산출물을 활용한다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산출물의 내용은 응용시스템기능체계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수립시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작성한 산출물과 내용적으로 일관성이 있어야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이는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하나의 응용시스템을 구축하는데에 서로 다른 역할을 수행함에도 </a:t>
            </a:r>
            <a:r>
              <a:rPr lang="en-US" altLang="ko-KR" sz="1200" b="0" kern="0" dirty="0" err="1">
                <a:latin typeface="맑은 고딕" pitchFamily="50" charset="-127"/>
                <a:ea typeface="맑은 고딕" pitchFamily="50" charset="-127"/>
              </a:rPr>
              <a:t>Concensus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를 유지하도록 하는 중요한 작업이 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940" name="Rectangle 6"/>
          <p:cNvSpPr>
            <a:spLocks noChangeArrowheads="1"/>
          </p:cNvSpPr>
          <p:nvPr/>
        </p:nvSpPr>
        <p:spPr bwMode="auto">
          <a:xfrm>
            <a:off x="3505200" y="2124075"/>
            <a:ext cx="2933700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358775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SzPct val="120000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2.1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비즈니스 전략 및 목표 이해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RFP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및 제안서를 통한 사업의 목표 이해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SzPct val="120000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2.2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범위 이해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제안서 및 요구사항 목록을 통한 프로젝트의 범위 파악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SzPct val="120000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2.3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이해관계자 파악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계획서에 기록된 프로젝트 이해관계자 목록 및 역할 파악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SzPct val="120000"/>
              <a:buFontTx/>
              <a:buAutoNum type="arabicPeriod"/>
            </a:pPr>
            <a:endParaRPr lang="en-US" altLang="zh-CN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941" name="TextBox 14"/>
          <p:cNvSpPr txBox="1">
            <a:spLocks noChangeArrowheads="1"/>
          </p:cNvSpPr>
          <p:nvPr/>
        </p:nvSpPr>
        <p:spPr bwMode="auto">
          <a:xfrm>
            <a:off x="504825" y="2143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제안요청서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(RFP)</a:t>
            </a: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제안서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목록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계획서</a:t>
            </a:r>
          </a:p>
        </p:txBody>
      </p:sp>
      <p:sp>
        <p:nvSpPr>
          <p:cNvPr id="27657" name="TextBox 15"/>
          <p:cNvSpPr txBox="1">
            <a:spLocks noChangeArrowheads="1"/>
          </p:cNvSpPr>
          <p:nvPr/>
        </p:nvSpPr>
        <p:spPr bwMode="auto">
          <a:xfrm>
            <a:off x="7296150" y="2133600"/>
            <a:ext cx="2085975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Context Diagram (SA)</a:t>
            </a: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이해관계자 목록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(SA)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AutoShape 73"/>
          <p:cNvSpPr>
            <a:spLocks noChangeArrowheads="1"/>
          </p:cNvSpPr>
          <p:nvPr/>
        </p:nvSpPr>
        <p:spPr bwMode="auto">
          <a:xfrm>
            <a:off x="3505200" y="5591175"/>
            <a:ext cx="1857375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SA</a:t>
            </a:r>
          </a:p>
        </p:txBody>
      </p:sp>
      <p:sp>
        <p:nvSpPr>
          <p:cNvPr id="39944" name="TextBox 14"/>
          <p:cNvSpPr txBox="1">
            <a:spLocks noChangeArrowheads="1"/>
          </p:cNvSpPr>
          <p:nvPr/>
        </p:nvSpPr>
        <p:spPr bwMode="auto">
          <a:xfrm>
            <a:off x="504825" y="4905375"/>
            <a:ext cx="216217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착수 및 계획의 완료</a:t>
            </a:r>
          </a:p>
        </p:txBody>
      </p:sp>
      <p:sp>
        <p:nvSpPr>
          <p:cNvPr id="39945" name="TextBox 15"/>
          <p:cNvSpPr txBox="1">
            <a:spLocks noChangeArrowheads="1"/>
          </p:cNvSpPr>
          <p:nvPr/>
        </p:nvSpPr>
        <p:spPr bwMode="auto">
          <a:xfrm>
            <a:off x="7296150" y="4886325"/>
            <a:ext cx="210502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SA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의 표준수행활동을 지원 및 이로 인한 산출물의 활용</a:t>
            </a:r>
          </a:p>
        </p:txBody>
      </p:sp>
      <p:sp>
        <p:nvSpPr>
          <p:cNvPr id="39946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800350" y="2665413"/>
            <a:ext cx="533400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39947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564313" y="2665413"/>
            <a:ext cx="598487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23" name="위쪽/아래쪽 화살표 22"/>
          <p:cNvSpPr/>
          <p:nvPr/>
        </p:nvSpPr>
        <p:spPr bwMode="auto">
          <a:xfrm>
            <a:off x="4648200" y="5153025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19" name="AutoShape 73"/>
          <p:cNvSpPr>
            <a:spLocks noChangeArrowheads="1"/>
          </p:cNvSpPr>
          <p:nvPr/>
        </p:nvSpPr>
        <p:spPr bwMode="auto">
          <a:xfrm>
            <a:off x="5467350" y="5591175"/>
            <a:ext cx="1000125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PM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3494088" y="1828800"/>
            <a:ext cx="2952750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506413" y="1855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Input</a:t>
            </a: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7288213" y="1839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Output</a:t>
            </a: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506413" y="4625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Prerequisite</a:t>
            </a: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7288213" y="4618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  <a:latin typeface="Arial" charset="0"/>
              </a:rPr>
              <a:t>Criteria</a:t>
            </a:r>
            <a:endParaRPr lang="en-US" altLang="zh-CN" sz="1400" dirty="0">
              <a:solidFill>
                <a:schemeClr val="bg1"/>
              </a:solidFill>
              <a:latin typeface="Arial" charset="0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3.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대내외 연계정의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8683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상위수준의 응용서비스간 관계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및 연관정보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연관된 외부서비스 및 기관을 정의하여 응용시스템의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타시스템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연계기능을 원활히 구현하도록 준비하는 단계이다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수행영역은 응용시스템의 완성도에 큰 영향을 미치는 부분이면서 다양한 이해당사자가 관련이 되고 정책결정이 수반되기 때문에 업무 수행시 신중을 기해야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964" name="Rectangle 6"/>
          <p:cNvSpPr>
            <a:spLocks noChangeArrowheads="1"/>
          </p:cNvSpPr>
          <p:nvPr/>
        </p:nvSpPr>
        <p:spPr bwMode="auto">
          <a:xfrm>
            <a:off x="3505200" y="2124075"/>
            <a:ext cx="2933700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358775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SzPct val="120000"/>
              <a:buFont typeface="휴먼모음T" panose="02030504000101010101" pitchFamily="18" charset="-127"/>
              <a:buAutoNum type="arabi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연계기능 요건 정의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대내외 연계관련 기능요건 분석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SzPct val="120000"/>
              <a:buFont typeface="휴먼모음T" panose="02030504000101010101" pitchFamily="18" charset="-127"/>
              <a:buAutoNum type="arabi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연계목록 작성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적용 기술 선정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연계방안 수립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Diagram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Description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965" name="TextBox 14"/>
          <p:cNvSpPr txBox="1">
            <a:spLocks noChangeArrowheads="1"/>
          </p:cNvSpPr>
          <p:nvPr/>
        </p:nvSpPr>
        <p:spPr bwMode="auto">
          <a:xfrm>
            <a:off x="504825" y="2143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Context Diagram</a:t>
            </a: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목표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AV1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구성도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AV2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관계도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관계기술서 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목표아키텍처 정의서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업무기능요건 중 대내외연계 부분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l" eaLnBrk="1" hangingPunct="1">
              <a:buFontTx/>
              <a:buAutoNum type="alphaUcPeriod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AV3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응용기능분할도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TRM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중 연계관련 기술 </a:t>
            </a:r>
          </a:p>
        </p:txBody>
      </p:sp>
      <p:sp>
        <p:nvSpPr>
          <p:cNvPr id="40966" name="TextBox 15"/>
          <p:cNvSpPr txBox="1">
            <a:spLocks noChangeArrowheads="1"/>
          </p:cNvSpPr>
          <p:nvPr/>
        </p:nvSpPr>
        <p:spPr bwMode="auto">
          <a:xfrm>
            <a:off x="7296150" y="2133600"/>
            <a:ext cx="2085975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AV2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관계도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(Diagram) (optional)</a:t>
            </a:r>
          </a:p>
          <a:p>
            <a:pPr algn="l" eaLnBrk="1" hangingPunct="1">
              <a:buFontTx/>
              <a:buAutoNum type="alphaUcPeriod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AV2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관계기술서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(Description)</a:t>
            </a:r>
            <a:endParaRPr lang="ko-KR" altLang="en-US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AutoShape 73"/>
          <p:cNvSpPr>
            <a:spLocks noChangeArrowheads="1"/>
          </p:cNvSpPr>
          <p:nvPr/>
        </p:nvSpPr>
        <p:spPr bwMode="auto">
          <a:xfrm>
            <a:off x="4152900" y="5591175"/>
            <a:ext cx="809625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SA</a:t>
            </a:r>
          </a:p>
        </p:txBody>
      </p:sp>
      <p:sp>
        <p:nvSpPr>
          <p:cNvPr id="40968" name="TextBox 14"/>
          <p:cNvSpPr txBox="1">
            <a:spLocks noChangeArrowheads="1"/>
          </p:cNvSpPr>
          <p:nvPr/>
        </p:nvSpPr>
        <p:spPr bwMode="auto">
          <a:xfrm>
            <a:off x="504825" y="4905375"/>
            <a:ext cx="216217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목표아키텍처로서 전사 시스템 연계에 대한 정책적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기술적 기준이나 원칙이 사전에 존재해야 함</a:t>
            </a:r>
          </a:p>
        </p:txBody>
      </p:sp>
      <p:sp>
        <p:nvSpPr>
          <p:cNvPr id="40969" name="TextBox 15"/>
          <p:cNvSpPr txBox="1">
            <a:spLocks noChangeArrowheads="1"/>
          </p:cNvSpPr>
          <p:nvPr/>
        </p:nvSpPr>
        <p:spPr bwMode="auto">
          <a:xfrm>
            <a:off x="7296150" y="4886325"/>
            <a:ext cx="210502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SA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및 고객과 리뷰 검증 합의</a:t>
            </a:r>
          </a:p>
        </p:txBody>
      </p:sp>
      <p:sp>
        <p:nvSpPr>
          <p:cNvPr id="40970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800350" y="2665413"/>
            <a:ext cx="533400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40971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564313" y="2665413"/>
            <a:ext cx="598487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23" name="위쪽/아래쪽 화살표 22"/>
          <p:cNvSpPr/>
          <p:nvPr/>
        </p:nvSpPr>
        <p:spPr bwMode="auto">
          <a:xfrm>
            <a:off x="4648200" y="5153025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19" name="AutoShape 73"/>
          <p:cNvSpPr>
            <a:spLocks noChangeArrowheads="1"/>
          </p:cNvSpPr>
          <p:nvPr/>
        </p:nvSpPr>
        <p:spPr bwMode="auto">
          <a:xfrm>
            <a:off x="5886450" y="5591175"/>
            <a:ext cx="828675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고객 </a:t>
            </a: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IT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부서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연계담당자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20" name="AutoShape 73"/>
          <p:cNvSpPr>
            <a:spLocks noChangeArrowheads="1"/>
          </p:cNvSpPr>
          <p:nvPr/>
        </p:nvSpPr>
        <p:spPr bwMode="auto">
          <a:xfrm>
            <a:off x="5029200" y="5591175"/>
            <a:ext cx="790575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TA, DA</a:t>
            </a:r>
          </a:p>
        </p:txBody>
      </p:sp>
      <p:sp>
        <p:nvSpPr>
          <p:cNvPr id="21" name="AutoShape 73"/>
          <p:cNvSpPr>
            <a:spLocks noChangeArrowheads="1"/>
          </p:cNvSpPr>
          <p:nvPr/>
        </p:nvSpPr>
        <p:spPr bwMode="auto">
          <a:xfrm>
            <a:off x="3276600" y="5591175"/>
            <a:ext cx="809625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업무 </a:t>
            </a: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PL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3494088" y="1828800"/>
            <a:ext cx="2952750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506413" y="1855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Input</a:t>
            </a: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7288213" y="1839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Output</a:t>
            </a: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06413" y="4625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Prerequisite</a:t>
            </a: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7288213" y="4618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  <a:latin typeface="Arial" charset="0"/>
              </a:rPr>
              <a:t>Criteria</a:t>
            </a:r>
            <a:endParaRPr lang="en-US" altLang="zh-CN" sz="1400" dirty="0">
              <a:solidFill>
                <a:schemeClr val="bg1"/>
              </a:solidFill>
              <a:latin typeface="Arial" charset="0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3.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대내외 연계정의 </a:t>
            </a:r>
            <a:r>
              <a:rPr lang="en-US" altLang="ko-KR" sz="1800" smtClean="0">
                <a:solidFill>
                  <a:srgbClr val="000000"/>
                </a:solidFill>
              </a:rPr>
              <a:t>&gt; 3.1 </a:t>
            </a:r>
            <a:r>
              <a:rPr lang="ko-KR" altLang="en-US" sz="1800" smtClean="0">
                <a:solidFill>
                  <a:srgbClr val="000000"/>
                </a:solidFill>
              </a:rPr>
              <a:t>연계기능 요건정의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5410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수행업무 설명</a:t>
            </a: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연계기능 요건정의를 위해서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사전에 파악해야 하는 항목은 다음과 같다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부분에서는 기술요소를 정의하는 것이 아니라 업무적인 측면에서 요건을 정의하는 작업이다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업무명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출발응용시스템 명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도착응용시스템 명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자료전송 내용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연계주기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얼마나 자주 정보가 전송되어야 하는가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특정한 시점에 정보가 전송되는가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예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주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회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야간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회 일괄전송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수시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실시간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등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데이터 종류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형태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전송되는 정보의 형태가 정해져 있는가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예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학교코드파일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대용량 파일로 이미 생성된 정보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메일본문파일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단순메세지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등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  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데이터 목적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용도가 무엇인가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데이터 크기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전송되는 데이터의 평균 크기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예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1MByte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10MByte~ 50MByte(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평균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5000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건의 레코드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등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Sync, </a:t>
            </a:r>
            <a:r>
              <a:rPr lang="en-US" altLang="ko-KR" sz="1200" b="0" kern="0" dirty="0" err="1">
                <a:latin typeface="맑은 고딕" pitchFamily="50" charset="-127"/>
                <a:ea typeface="맑은 고딕" pitchFamily="50" charset="-127"/>
              </a:rPr>
              <a:t>Async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여부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요청에 대한 응답으로 즉시 이루어 져야 하는지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요청과 처리 시점의 시차가 존재해도 되는 것인지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단방향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양방향 여부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요청에 의한 응답인가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일방적인 정보의 제공인가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기타 특징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기타 업무적 특징이 있으면 기술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제약사항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연계기관의 업무적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기술적 제약사항 기술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구축해야 할 응용시스템의 모든 연계기능 요소를 도출하기 위해서는 사전에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PL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들에 공지하여 요구사항 분석을 진행하는 동안 자료를 취합한다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유의사항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금융권의 경우는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위와 같은 연계기능 요건정의 외에 대내외 인터페이스 전문정의 라는 형태로 분석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설계를 진행하므로 이에 대한 업무절차와 내용을 파악해 둘 필요가 있다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endParaRPr lang="en-US" altLang="ko-KR" sz="12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3.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대내외 연계정의 </a:t>
            </a:r>
            <a:r>
              <a:rPr lang="en-US" altLang="ko-KR" sz="1800" smtClean="0">
                <a:solidFill>
                  <a:srgbClr val="000000"/>
                </a:solidFill>
              </a:rPr>
              <a:t>&gt; 3.2 </a:t>
            </a:r>
            <a:r>
              <a:rPr lang="ko-KR" altLang="en-US" sz="1800" smtClean="0">
                <a:solidFill>
                  <a:srgbClr val="000000"/>
                </a:solidFill>
              </a:rPr>
              <a:t>시스템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r>
              <a:rPr lang="ko-KR" altLang="en-US" sz="1800" smtClean="0">
                <a:solidFill>
                  <a:srgbClr val="000000"/>
                </a:solidFill>
              </a:rPr>
              <a:t>연계목록 작성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2492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수행업무 설명</a:t>
            </a: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기능요건 정의가 완료되었으면 업무요건에 대한 적용기술을 선정하는 작업을 시스템 인터페이스 전담 솔루션 업체 및 소프트웨어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아키텍트와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협의한다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적용기술을 선정하기 위해서는 현재 시스템 연계 기술에 대한 참조모델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(TRM)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을 참고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만일 여기에 등록되지 않은 기술을 적용하고자 하는 경우라면 고객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담당자와 협의 후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을 변경해야 함을 고려해야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시스템연계와 관련한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기술분야는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서비스통합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]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을 참조한다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세부기술분야로는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미들웨어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EAI,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웹서비스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BPM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자세한 표준기술은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범정부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표준 프로파일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(Standard Profile)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일람표를 참조한다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세부기술을 선정하기 위해서는 업무기능의 특성을 파악하여 가장 적절한 기술을 선정하여야 하는데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때 소프트웨어 아키텍트와 협업하여 최적의 기술을 선정하기 위해 시스템 연동과 관련한 다양한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Asset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을 참조한다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소프트웨어 아키텍처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시스템대내외연동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Asset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참조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상세한 기술요소나 방향에 대한 선정은 소프트웨어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아키텍트가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주관하여 결정한다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기술선정이 완료되었으면 아래와 같이 표로 연계목록을 작성한다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[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연계방식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]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란에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구체적인 연계기술을 표현한다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Group 57"/>
          <p:cNvGraphicFramePr>
            <a:graphicFrameLocks noGrp="1"/>
          </p:cNvGraphicFramePr>
          <p:nvPr>
            <p:ph sz="half" idx="4294967295"/>
          </p:nvPr>
        </p:nvGraphicFramePr>
        <p:xfrm>
          <a:off x="339725" y="3514725"/>
          <a:ext cx="9304339" cy="836622"/>
        </p:xfrm>
        <a:graphic>
          <a:graphicData uri="http://schemas.openxmlformats.org/drawingml/2006/table">
            <a:tbl>
              <a:tblPr/>
              <a:tblGrid>
                <a:gridCol w="1018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6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5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9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73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3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출발응용시스템명칭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도착응용시스템명칭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응용시스템간 정보명칭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응용시스템간 정보설명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연계주기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연계방식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외부시스템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외부기관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평생대학원학사관리시스템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PG</a:t>
                      </a: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사시스템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전형료결제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전형료를 결제하기 위한 결제 관련 필수 정보 전송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인증정보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금액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…)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실시간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웹서비스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(SOAP over HTTP)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PG</a:t>
                      </a: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사시스템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753" name="Rectangle 15"/>
          <p:cNvSpPr>
            <a:spLocks noChangeArrowheads="1"/>
          </p:cNvSpPr>
          <p:nvPr/>
        </p:nvSpPr>
        <p:spPr bwMode="auto">
          <a:xfrm>
            <a:off x="4287838" y="4656138"/>
            <a:ext cx="1584325" cy="1144587"/>
          </a:xfrm>
          <a:prstGeom prst="rect">
            <a:avLst/>
          </a:prstGeom>
          <a:solidFill>
            <a:schemeClr val="bg1">
              <a:lumMod val="85000"/>
            </a:schemeClr>
          </a:solidFill>
          <a:ln w="76200" cmpd="tri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1" hangingPunct="1">
              <a:buFont typeface="Wingdings" pitchFamily="2" charset="2"/>
              <a:buNone/>
              <a:defRPr/>
            </a:pPr>
            <a:r>
              <a:rPr kumimoji="0" lang="ko-KR" altLang="en-US" sz="1400">
                <a:latin typeface="맑은 고딕" pitchFamily="50" charset="-127"/>
                <a:ea typeface="맑은 고딕" pitchFamily="50" charset="-127"/>
              </a:rPr>
              <a:t>평생대학원학사관리시스템</a:t>
            </a:r>
            <a:endParaRPr kumimoji="0" lang="en-US" altLang="ko-KR" sz="14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754" name="Rectangle 19"/>
          <p:cNvSpPr>
            <a:spLocks noChangeArrowheads="1"/>
          </p:cNvSpPr>
          <p:nvPr/>
        </p:nvSpPr>
        <p:spPr bwMode="auto">
          <a:xfrm>
            <a:off x="7404100" y="5218113"/>
            <a:ext cx="1800225" cy="363537"/>
          </a:xfrm>
          <a:prstGeom prst="rect">
            <a:avLst/>
          </a:prstGeom>
          <a:solidFill>
            <a:schemeClr val="bg1">
              <a:lumMod val="85000"/>
            </a:schemeClr>
          </a:solidFill>
          <a:ln w="76200" cmpd="tri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1" hangingPunct="1">
              <a:buFont typeface="Wingdings" pitchFamily="2" charset="2"/>
              <a:buNone/>
              <a:defRPr/>
            </a:pPr>
            <a:r>
              <a:rPr kumimoji="0" lang="ko-KR" altLang="en-US">
                <a:latin typeface="맑은 고딕" pitchFamily="50" charset="-127"/>
                <a:ea typeface="맑은 고딕" pitchFamily="50" charset="-127"/>
              </a:rPr>
              <a:t>인적자원관리시스템</a:t>
            </a:r>
          </a:p>
        </p:txBody>
      </p:sp>
      <p:sp>
        <p:nvSpPr>
          <p:cNvPr id="43043" name="Line 20"/>
          <p:cNvSpPr>
            <a:spLocks noChangeShapeType="1"/>
          </p:cNvSpPr>
          <p:nvPr/>
        </p:nvSpPr>
        <p:spPr bwMode="auto">
          <a:xfrm>
            <a:off x="6000750" y="5454650"/>
            <a:ext cx="1295400" cy="0"/>
          </a:xfrm>
          <a:prstGeom prst="line">
            <a:avLst/>
          </a:prstGeom>
          <a:noFill/>
          <a:ln w="28575">
            <a:solidFill>
              <a:srgbClr val="5F5F5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44" name="Text Box 21"/>
          <p:cNvSpPr txBox="1">
            <a:spLocks noChangeArrowheads="1"/>
          </p:cNvSpPr>
          <p:nvPr/>
        </p:nvSpPr>
        <p:spPr bwMode="auto">
          <a:xfrm>
            <a:off x="6396038" y="5237163"/>
            <a:ext cx="8001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0"/>
              </a:spcBef>
            </a:pPr>
            <a:r>
              <a:rPr kumimoji="0" lang="ko-KR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교수정보</a:t>
            </a:r>
            <a:r>
              <a:rPr kumimoji="0"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제공</a:t>
            </a:r>
            <a:endParaRPr kumimoji="0" lang="en-US" altLang="ko-KR" sz="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045" name="Rectangle 22"/>
          <p:cNvSpPr>
            <a:spLocks noChangeArrowheads="1"/>
          </p:cNvSpPr>
          <p:nvPr/>
        </p:nvSpPr>
        <p:spPr bwMode="auto">
          <a:xfrm>
            <a:off x="7407275" y="5702300"/>
            <a:ext cx="1800225" cy="2413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PG</a:t>
            </a:r>
            <a:r>
              <a:rPr kumimoji="0"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사시스템</a:t>
            </a:r>
          </a:p>
        </p:txBody>
      </p:sp>
      <p:sp>
        <p:nvSpPr>
          <p:cNvPr id="43046" name="Line 23"/>
          <p:cNvSpPr>
            <a:spLocks noChangeShapeType="1"/>
          </p:cNvSpPr>
          <p:nvPr/>
        </p:nvSpPr>
        <p:spPr bwMode="auto">
          <a:xfrm>
            <a:off x="6003925" y="5795963"/>
            <a:ext cx="1295400" cy="0"/>
          </a:xfrm>
          <a:prstGeom prst="line">
            <a:avLst/>
          </a:prstGeom>
          <a:noFill/>
          <a:ln w="28575">
            <a:solidFill>
              <a:srgbClr val="5F5F5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47" name="Text Box 24"/>
          <p:cNvSpPr txBox="1">
            <a:spLocks noChangeArrowheads="1"/>
          </p:cNvSpPr>
          <p:nvPr/>
        </p:nvSpPr>
        <p:spPr bwMode="auto">
          <a:xfrm>
            <a:off x="6230938" y="5578475"/>
            <a:ext cx="735012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0"/>
              </a:spcBef>
            </a:pPr>
            <a:r>
              <a:rPr kumimoji="0" lang="ko-KR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전형료 결제</a:t>
            </a:r>
            <a:endParaRPr kumimoji="0" lang="en-US" altLang="ko-KR" sz="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60" name="Rectangle 25"/>
          <p:cNvSpPr>
            <a:spLocks noChangeArrowheads="1"/>
          </p:cNvSpPr>
          <p:nvPr/>
        </p:nvSpPr>
        <p:spPr bwMode="auto">
          <a:xfrm>
            <a:off x="763588" y="4583113"/>
            <a:ext cx="1728787" cy="627062"/>
          </a:xfrm>
          <a:prstGeom prst="rect">
            <a:avLst/>
          </a:prstGeom>
          <a:solidFill>
            <a:schemeClr val="bg1">
              <a:lumMod val="85000"/>
            </a:schemeClr>
          </a:solidFill>
          <a:ln w="76200" cmpd="tri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1" hangingPunct="1">
              <a:buFont typeface="Wingdings" pitchFamily="2" charset="2"/>
              <a:buNone/>
              <a:defRPr/>
            </a:pPr>
            <a:r>
              <a:rPr kumimoji="0" lang="ko-KR" altLang="en-US">
                <a:latin typeface="맑은 고딕" pitchFamily="50" charset="-127"/>
                <a:ea typeface="맑은 고딕" pitchFamily="50" charset="-127"/>
              </a:rPr>
              <a:t>학습관리시스템</a:t>
            </a:r>
          </a:p>
        </p:txBody>
      </p:sp>
      <p:sp>
        <p:nvSpPr>
          <p:cNvPr id="43049" name="Line 26"/>
          <p:cNvSpPr>
            <a:spLocks noChangeShapeType="1"/>
          </p:cNvSpPr>
          <p:nvPr/>
        </p:nvSpPr>
        <p:spPr bwMode="auto">
          <a:xfrm flipH="1">
            <a:off x="2708275" y="4691063"/>
            <a:ext cx="1382713" cy="0"/>
          </a:xfrm>
          <a:prstGeom prst="line">
            <a:avLst/>
          </a:prstGeom>
          <a:noFill/>
          <a:ln w="28575">
            <a:solidFill>
              <a:srgbClr val="5F5F5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50" name="Text Box 27"/>
          <p:cNvSpPr txBox="1">
            <a:spLocks noChangeArrowheads="1"/>
          </p:cNvSpPr>
          <p:nvPr/>
        </p:nvSpPr>
        <p:spPr bwMode="auto">
          <a:xfrm>
            <a:off x="2779713" y="4727575"/>
            <a:ext cx="1049337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0"/>
              </a:spcBef>
              <a:buFontTx/>
              <a:buChar char="•"/>
            </a:pPr>
            <a:r>
              <a:rPr kumimoji="0" lang="ko-KR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대학원입학지원자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buFontTx/>
              <a:buChar char="•"/>
            </a:pPr>
            <a:r>
              <a:rPr kumimoji="0" lang="ko-KR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대학원모집인원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buFontTx/>
              <a:buChar char="•"/>
            </a:pPr>
            <a:r>
              <a:rPr kumimoji="0" lang="ko-KR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대학원학적</a:t>
            </a:r>
          </a:p>
        </p:txBody>
      </p:sp>
      <p:sp>
        <p:nvSpPr>
          <p:cNvPr id="30763" name="Rectangle 28"/>
          <p:cNvSpPr>
            <a:spLocks noChangeArrowheads="1"/>
          </p:cNvSpPr>
          <p:nvPr/>
        </p:nvSpPr>
        <p:spPr bwMode="auto">
          <a:xfrm>
            <a:off x="763588" y="5494338"/>
            <a:ext cx="1728787" cy="439737"/>
          </a:xfrm>
          <a:prstGeom prst="rect">
            <a:avLst/>
          </a:prstGeom>
          <a:solidFill>
            <a:schemeClr val="bg1">
              <a:lumMod val="85000"/>
            </a:schemeClr>
          </a:solidFill>
          <a:ln w="76200" cmpd="tri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1" hangingPunct="1">
              <a:buFont typeface="Wingdings" pitchFamily="2" charset="2"/>
              <a:buNone/>
              <a:defRPr/>
            </a:pPr>
            <a:r>
              <a:rPr kumimoji="0" lang="ko-KR" altLang="en-US">
                <a:latin typeface="맑은 고딕" pitchFamily="50" charset="-127"/>
                <a:ea typeface="맑은 고딕" pitchFamily="50" charset="-127"/>
              </a:rPr>
              <a:t>통계정보시스템</a:t>
            </a:r>
          </a:p>
        </p:txBody>
      </p:sp>
      <p:sp>
        <p:nvSpPr>
          <p:cNvPr id="30764" name="Rectangle 31"/>
          <p:cNvSpPr>
            <a:spLocks noChangeArrowheads="1"/>
          </p:cNvSpPr>
          <p:nvPr/>
        </p:nvSpPr>
        <p:spPr bwMode="auto">
          <a:xfrm>
            <a:off x="7388225" y="4648200"/>
            <a:ext cx="1793875" cy="400050"/>
          </a:xfrm>
          <a:prstGeom prst="rect">
            <a:avLst/>
          </a:prstGeom>
          <a:solidFill>
            <a:schemeClr val="bg1">
              <a:lumMod val="85000"/>
            </a:schemeClr>
          </a:solidFill>
          <a:ln w="76200" cmpd="tri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1" hangingPunct="1">
              <a:buFont typeface="Wingdings" pitchFamily="2" charset="2"/>
              <a:buNone/>
              <a:defRPr/>
            </a:pPr>
            <a:r>
              <a:rPr kumimoji="0" lang="ko-KR" altLang="en-US">
                <a:latin typeface="맑은 고딕" pitchFamily="50" charset="-127"/>
                <a:ea typeface="맑은 고딕" pitchFamily="50" charset="-127"/>
              </a:rPr>
              <a:t>회계관리시스템</a:t>
            </a:r>
          </a:p>
        </p:txBody>
      </p:sp>
      <p:sp>
        <p:nvSpPr>
          <p:cNvPr id="43053" name="Text Box 32"/>
          <p:cNvSpPr txBox="1">
            <a:spLocks noChangeArrowheads="1"/>
          </p:cNvSpPr>
          <p:nvPr/>
        </p:nvSpPr>
        <p:spPr bwMode="auto">
          <a:xfrm>
            <a:off x="6019800" y="4843463"/>
            <a:ext cx="11874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0"/>
              </a:spcBef>
              <a:buFontTx/>
              <a:buChar char="•"/>
            </a:pPr>
            <a:r>
              <a:rPr kumimoji="0" lang="ko-KR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수당성경비 연말정산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buFontTx/>
              <a:buChar char="•"/>
            </a:pPr>
            <a:r>
              <a:rPr kumimoji="0" lang="ko-KR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반환대상내역서</a:t>
            </a:r>
          </a:p>
        </p:txBody>
      </p:sp>
      <p:sp>
        <p:nvSpPr>
          <p:cNvPr id="43054" name="Line 33"/>
          <p:cNvSpPr>
            <a:spLocks noChangeShapeType="1"/>
          </p:cNvSpPr>
          <p:nvPr/>
        </p:nvSpPr>
        <p:spPr bwMode="auto">
          <a:xfrm>
            <a:off x="2740025" y="5549900"/>
            <a:ext cx="1295400" cy="0"/>
          </a:xfrm>
          <a:prstGeom prst="line">
            <a:avLst/>
          </a:prstGeom>
          <a:noFill/>
          <a:ln w="28575">
            <a:solidFill>
              <a:srgbClr val="5F5F5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55" name="Line 34"/>
          <p:cNvSpPr>
            <a:spLocks noChangeShapeType="1"/>
          </p:cNvSpPr>
          <p:nvPr/>
        </p:nvSpPr>
        <p:spPr bwMode="auto">
          <a:xfrm>
            <a:off x="6019800" y="4735513"/>
            <a:ext cx="1295400" cy="0"/>
          </a:xfrm>
          <a:prstGeom prst="line">
            <a:avLst/>
          </a:prstGeom>
          <a:noFill/>
          <a:ln w="28575">
            <a:solidFill>
              <a:srgbClr val="5F5F5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56" name="Text Box 35"/>
          <p:cNvSpPr txBox="1">
            <a:spLocks noChangeArrowheads="1"/>
          </p:cNvSpPr>
          <p:nvPr/>
        </p:nvSpPr>
        <p:spPr bwMode="auto">
          <a:xfrm>
            <a:off x="2984500" y="5678488"/>
            <a:ext cx="83661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0"/>
              </a:spcBef>
            </a:pPr>
            <a:r>
              <a:rPr kumimoji="0" lang="ko-KR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성적정보</a:t>
            </a:r>
            <a:r>
              <a:rPr kumimoji="0"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이관</a:t>
            </a:r>
            <a:endParaRPr kumimoji="0" lang="ko-KR" altLang="ko-KR" sz="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057" name="TextBox 151"/>
          <p:cNvSpPr txBox="1">
            <a:spLocks noChangeArrowheads="1"/>
          </p:cNvSpPr>
          <p:nvPr/>
        </p:nvSpPr>
        <p:spPr bwMode="auto">
          <a:xfrm>
            <a:off x="2287588" y="6089650"/>
            <a:ext cx="35433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응용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레벨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 AV2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관계기술서 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058" name="TextBox 151"/>
          <p:cNvSpPr txBox="1">
            <a:spLocks noChangeArrowheads="1"/>
          </p:cNvSpPr>
          <p:nvPr/>
        </p:nvSpPr>
        <p:spPr bwMode="auto">
          <a:xfrm>
            <a:off x="2924175" y="4333875"/>
            <a:ext cx="35433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 응용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레벨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 AV2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관계도 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059" name="Rectangle 22"/>
          <p:cNvSpPr>
            <a:spLocks noChangeArrowheads="1"/>
          </p:cNvSpPr>
          <p:nvPr/>
        </p:nvSpPr>
        <p:spPr bwMode="auto">
          <a:xfrm>
            <a:off x="6762750" y="6088063"/>
            <a:ext cx="317500" cy="168275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060" name="Text Box 24"/>
          <p:cNvSpPr txBox="1">
            <a:spLocks noChangeArrowheads="1"/>
          </p:cNvSpPr>
          <p:nvPr/>
        </p:nvSpPr>
        <p:spPr bwMode="auto">
          <a:xfrm>
            <a:off x="7089775" y="6065838"/>
            <a:ext cx="69691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0"/>
              </a:spcBef>
            </a:pPr>
            <a:r>
              <a:rPr kumimoji="0"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외부시스템</a:t>
            </a:r>
            <a:endParaRPr kumimoji="0" lang="en-US" altLang="ko-KR" sz="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7840663" y="6103938"/>
            <a:ext cx="325437" cy="153987"/>
          </a:xfrm>
          <a:prstGeom prst="rect">
            <a:avLst/>
          </a:prstGeom>
          <a:solidFill>
            <a:schemeClr val="bg1">
              <a:lumMod val="85000"/>
            </a:schemeClr>
          </a:solidFill>
          <a:ln w="76200" cmpd="tri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1" hangingPunct="1">
              <a:buFont typeface="Wingdings" pitchFamily="2" charset="2"/>
              <a:buNone/>
              <a:defRPr/>
            </a:pPr>
            <a:endParaRPr kumimoji="0"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062" name="Text Box 24"/>
          <p:cNvSpPr txBox="1">
            <a:spLocks noChangeArrowheads="1"/>
          </p:cNvSpPr>
          <p:nvPr/>
        </p:nvSpPr>
        <p:spPr bwMode="auto">
          <a:xfrm>
            <a:off x="8237538" y="6056313"/>
            <a:ext cx="6985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0"/>
              </a:spcBef>
            </a:pPr>
            <a:r>
              <a:rPr kumimoji="0"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</a:t>
            </a:r>
            <a:endParaRPr kumimoji="0" lang="en-US" altLang="ko-KR" sz="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063" name="Text Box 24"/>
          <p:cNvSpPr txBox="1">
            <a:spLocks noChangeArrowheads="1"/>
          </p:cNvSpPr>
          <p:nvPr/>
        </p:nvSpPr>
        <p:spPr bwMode="auto">
          <a:xfrm>
            <a:off x="6137275" y="6037263"/>
            <a:ext cx="3905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0"/>
              </a:spcBef>
            </a:pPr>
            <a:r>
              <a:rPr kumimoji="0"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범례</a:t>
            </a:r>
            <a:endParaRPr kumimoji="0" lang="en-US" altLang="ko-KR" sz="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064" name="Rectangle 22"/>
          <p:cNvSpPr>
            <a:spLocks noChangeArrowheads="1"/>
          </p:cNvSpPr>
          <p:nvPr/>
        </p:nvSpPr>
        <p:spPr bwMode="auto">
          <a:xfrm>
            <a:off x="6119813" y="6008688"/>
            <a:ext cx="3006725" cy="32702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3.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대내외 연계정의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참조 기술 요소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23082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범정부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기술분야 중 서비스 통합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부분이 본 수행업무 영역에 해당한다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서비스 통합은 독립적으로 운영되고 있는 응용프로그램 또는 서비스들을 연계 및 연결해서 여러 요소가 상호 협력하여 새로운 비즈니스 가치를 제공할 수 있게 하는 개념이다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서비스 통합은 이질적인 컴퓨터 환경에서 기능 및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컨텐츠를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공유할 수 있게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특히 서비스 통합은 플랫폼과 서비스 위치의 투명성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트랜젝션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관리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두 지점간의 기초적인 메시지통신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보증된 메시지 전달과 같은 아키텍처 서비스 세트를 제공하여 준다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참조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범정부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TRM 2.0)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범정부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은 아래와 같이 세부기술을 분류하고 있는데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현 실정에서는 이 분류 기준이 명확하지 않다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예를 들어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ESB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아래에 분류한 세부 기술분야의 여러 영역에 걸쳐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Group 57"/>
          <p:cNvGraphicFramePr>
            <a:graphicFrameLocks noGrp="1"/>
          </p:cNvGraphicFramePr>
          <p:nvPr>
            <p:ph sz="half" idx="4294967295"/>
          </p:nvPr>
        </p:nvGraphicFramePr>
        <p:xfrm>
          <a:off x="320675" y="2590800"/>
          <a:ext cx="9323388" cy="3544887"/>
        </p:xfrm>
        <a:graphic>
          <a:graphicData uri="http://schemas.openxmlformats.org/drawingml/2006/table">
            <a:tbl>
              <a:tblPr/>
              <a:tblGrid>
                <a:gridCol w="1784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7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0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4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세부기술분야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정의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비고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3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미들웨어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두 개의 서로 다른 응용 프로그램을 연결하거나 통합하여 기존의 기반구조의 유연성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상호운용성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이식성을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증가시키는 기술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: RPC, MOM, CORBA, COM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등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EJB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호출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JMS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도 여기에 해당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33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EAI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조직내의 어플리케이션을 통합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조정하는 것을 목표로 세운 계획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방법 및 도구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기존의 응용프로그램들과 데이터베이스의 사용범위를 확장하기 위해서 기능의 추가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정보기술의 변화를 적용하기 위하여 기 존재하는 어플리케이션과 데이터를 효과적으로 재사용할 수 있도록 하는 활동을 포함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업무처리관리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응용 프로그램 연결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전환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&amp;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포맷 등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ESB: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웹서비스기능이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포함된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EAI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33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웹서비스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인터넷을 통하여 단일 또는 다수의 비즈니스간 기존 응용시스템을 표준화한 기술로 결합하는 기술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서로 주고 받는 데이터 표현 및 통신에 대하여 국제적인 표준을 규정함으로써 이질적인 시스템간 통합 및 연계를 제공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웹 서비스 등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3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비즈니스 프로세스 관리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조직 내외의 프로세스를 가시화하고 업무수행 관련 인력 및 시스템을 프로세스에 맞게 실행 및 통제함으로 전체 업무 프로세스를 최적화할 수 있는 변화 관리 및 시스템 구현 기법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: BPM, BAM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등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062" name="TextBox 9"/>
          <p:cNvSpPr txBox="1">
            <a:spLocks noChangeArrowheads="1"/>
          </p:cNvSpPr>
          <p:nvPr/>
        </p:nvSpPr>
        <p:spPr bwMode="auto">
          <a:xfrm>
            <a:off x="2662238" y="6167438"/>
            <a:ext cx="45354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 범정부 기술참조모델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2.0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 서비스통합 기술분야의 세부 기술분야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4. </a:t>
            </a:r>
            <a:r>
              <a:rPr lang="ko-KR" altLang="en-US" sz="1800" smtClean="0">
                <a:solidFill>
                  <a:srgbClr val="000000"/>
                </a:solidFill>
              </a:rPr>
              <a:t>요구사항 분석 모델 리딩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endParaRPr lang="en-US" altLang="ko-KR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프로젝트 분석단계에서 프로텍트 팀원들이 진행할 각 업무별 요구사항의 분석 모델을 잘 작성할 수 있도록 표준을 정의하고 이에 대한 가이드를 배포한다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그리고 생성되는 분석 모델에 대해 인스펙션을 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4340" name="Rectangle 6"/>
          <p:cNvSpPr>
            <a:spLocks noChangeArrowheads="1"/>
          </p:cNvSpPr>
          <p:nvPr/>
        </p:nvSpPr>
        <p:spPr bwMode="auto">
          <a:xfrm>
            <a:off x="3448050" y="2124075"/>
            <a:ext cx="3138488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4.1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공통 컴포넌트 후보 도출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요구사항 이해를 통한 공통 컴포넌트 후보 도출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(w/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분석 설계자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4.2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분석 모델 표준 정의 및 가이드 작성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모델링 환경과 분석 모델 표준정의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가이드 작성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방법론 담당자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가이드 리뷰 및 배포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4.3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분석 산출물 인스펙션 및 관리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분석 산출물 리뷰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(w/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방법론담당자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QA)</a:t>
            </a: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요구사항과의 일관성 검증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(QA)</a:t>
            </a: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buFontTx/>
              <a:buAutoNum type="arabicPeriod"/>
              <a:defRPr/>
            </a:pPr>
            <a:endParaRPr lang="en-US" altLang="zh-CN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061" name="TextBox 14"/>
          <p:cNvSpPr txBox="1">
            <a:spLocks noChangeArrowheads="1"/>
          </p:cNvSpPr>
          <p:nvPr/>
        </p:nvSpPr>
        <p:spPr bwMode="auto">
          <a:xfrm>
            <a:off x="504825" y="2143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현행시스템 분석서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목표 비즈니스 프로세스 정의서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정의서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유스케이스 모형 기술서</a:t>
            </a:r>
          </a:p>
        </p:txBody>
      </p:sp>
      <p:sp>
        <p:nvSpPr>
          <p:cNvPr id="14342" name="TextBox 15"/>
          <p:cNvSpPr txBox="1">
            <a:spLocks noChangeArrowheads="1"/>
          </p:cNvSpPr>
          <p:nvPr/>
        </p:nvSpPr>
        <p:spPr bwMode="auto">
          <a:xfrm>
            <a:off x="7296150" y="2133600"/>
            <a:ext cx="2068513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분석 모델링 가이드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방법론 담당자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분석단계 인스펙션 수행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결과서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(QA)</a:t>
            </a: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컴포넌트 목록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공통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공통팀의 분석산출물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설계자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063" name="TextBox 14"/>
          <p:cNvSpPr txBox="1">
            <a:spLocks noChangeArrowheads="1"/>
          </p:cNvSpPr>
          <p:nvPr/>
        </p:nvSpPr>
        <p:spPr bwMode="auto">
          <a:xfrm>
            <a:off x="504825" y="4905375"/>
            <a:ext cx="216217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수집과 정의가 완료되어야 함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 eaLnBrk="1" hangingPunct="1">
              <a:buFontTx/>
              <a:buChar char="-"/>
            </a:pP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064" name="TextBox 15"/>
          <p:cNvSpPr txBox="1">
            <a:spLocks noChangeArrowheads="1"/>
          </p:cNvSpPr>
          <p:nvPr/>
        </p:nvSpPr>
        <p:spPr bwMode="auto">
          <a:xfrm>
            <a:off x="7296150" y="4886325"/>
            <a:ext cx="210502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분석 모델 가이드에 대한 이해관계자들의 합의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관련자들에게 소개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설명</a:t>
            </a:r>
          </a:p>
        </p:txBody>
      </p:sp>
      <p:sp>
        <p:nvSpPr>
          <p:cNvPr id="45065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800350" y="2665413"/>
            <a:ext cx="474663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45066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748463" y="2665413"/>
            <a:ext cx="414337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23" name="위쪽/아래쪽 화살표 22"/>
          <p:cNvSpPr/>
          <p:nvPr/>
        </p:nvSpPr>
        <p:spPr bwMode="auto">
          <a:xfrm>
            <a:off x="4717650" y="5153025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ea typeface="굴림" charset="-127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3436938" y="1828800"/>
            <a:ext cx="3160712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506413" y="1855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</a:rPr>
              <a:t>Input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7288213" y="1839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506413" y="4625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</a:rPr>
              <a:t>Prerequisite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7288213" y="4618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</a:rPr>
              <a:t>Criteria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24" name="AutoShape 73"/>
          <p:cNvSpPr>
            <a:spLocks noChangeArrowheads="1"/>
          </p:cNvSpPr>
          <p:nvPr/>
        </p:nvSpPr>
        <p:spPr bwMode="auto">
          <a:xfrm>
            <a:off x="3519488" y="5613400"/>
            <a:ext cx="774700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방법론 담당자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29" name="AutoShape 73"/>
          <p:cNvSpPr>
            <a:spLocks noChangeArrowheads="1"/>
          </p:cNvSpPr>
          <p:nvPr/>
        </p:nvSpPr>
        <p:spPr bwMode="auto">
          <a:xfrm>
            <a:off x="6002338" y="5624513"/>
            <a:ext cx="717550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SA</a:t>
            </a:r>
          </a:p>
        </p:txBody>
      </p:sp>
      <p:sp>
        <p:nvSpPr>
          <p:cNvPr id="30" name="AutoShape 73"/>
          <p:cNvSpPr>
            <a:spLocks noChangeArrowheads="1"/>
          </p:cNvSpPr>
          <p:nvPr/>
        </p:nvSpPr>
        <p:spPr bwMode="auto">
          <a:xfrm>
            <a:off x="5184775" y="5616575"/>
            <a:ext cx="693738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분석</a:t>
            </a: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 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설계자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32" name="AutoShape 73"/>
          <p:cNvSpPr>
            <a:spLocks noChangeArrowheads="1"/>
          </p:cNvSpPr>
          <p:nvPr/>
        </p:nvSpPr>
        <p:spPr bwMode="auto">
          <a:xfrm>
            <a:off x="4400550" y="5618163"/>
            <a:ext cx="674688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QA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4. </a:t>
            </a:r>
            <a:r>
              <a:rPr lang="ko-KR" altLang="en-US" sz="1800" smtClean="0">
                <a:solidFill>
                  <a:srgbClr val="000000"/>
                </a:solidFill>
              </a:rPr>
              <a:t>요구사항 분석 모델 리딩 </a:t>
            </a:r>
            <a:r>
              <a:rPr lang="en-US" altLang="ko-KR" sz="1800" smtClean="0">
                <a:solidFill>
                  <a:srgbClr val="000000"/>
                </a:solidFill>
              </a:rPr>
              <a:t>&gt; 4.1 </a:t>
            </a:r>
            <a:r>
              <a:rPr lang="ko-KR" altLang="en-US" sz="1800" smtClean="0">
                <a:solidFill>
                  <a:srgbClr val="000000"/>
                </a:solidFill>
              </a:rPr>
              <a:t>공통 컴포넌트 후보 도출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32686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 업무 설명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공통 컴포넌트 후보를 도출하기 위해서는 아래와 같은 작업이 완료되어 있어야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1074738" lvl="4" indent="-174625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	-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 분석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설계자들의 유스케이스 모델링과 유스케이스 모형 기술서 작업 완료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074738" lvl="4" indent="-174625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	- 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소프트웨어 아키텍처 정의서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초안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작업 완료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074738" lvl="4" indent="-174625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	- 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산출물의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AV3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응용기능 분할도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분할 기술서의 응용 기능과 관계 정의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상호 검증 매트릭스 중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Business  </a:t>
            </a:r>
          </a:p>
          <a:p>
            <a:pPr marL="1074738" lvl="4" indent="-174625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    Process-Application Function Matrix)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유스케이스 모델에서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포함관계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(Include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관계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인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유스케이스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나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유틸리티 성의 업무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들을 공통 컴포넌트 후보로 도출하고 컴포넌트 목록에 정리한다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 분석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설계자들로부터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여러 업무에서 공통적으로 사용되는 기능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있는지 조사하여 컴포넌트 목록에 정리한다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11213" lvl="3" indent="-3683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도출된 후보 컴포넌트는 설계 단계에서 비즈니스 컴포넌트가 도출되면 다시 한번 리뷰를 통해 구현되는 최종 컴포넌트를 결정한다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이는 검증된 아키텍처의 내용과 변경된 요구사항들을 반영하기 위함이다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11213" lvl="3" indent="-3683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유의 사항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업무에서 도출될 수 있는 공통 컴포넌트는 도메인 지식이 풍부한 분석 설계자의 경험이 가장 중요하므로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 전문가의 도움을 많이 받을 수 있도록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grpSp>
        <p:nvGrpSpPr>
          <p:cNvPr id="46084" name="Group 22"/>
          <p:cNvGrpSpPr>
            <a:grpSpLocks/>
          </p:cNvGrpSpPr>
          <p:nvPr/>
        </p:nvGrpSpPr>
        <p:grpSpPr bwMode="auto">
          <a:xfrm>
            <a:off x="904875" y="4251325"/>
            <a:ext cx="3422650" cy="2036763"/>
            <a:chOff x="521" y="1570"/>
            <a:chExt cx="4990" cy="2502"/>
          </a:xfrm>
        </p:grpSpPr>
        <p:pic>
          <p:nvPicPr>
            <p:cNvPr id="46089" name="Picture 1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" y="1570"/>
              <a:ext cx="4990" cy="2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090" name="Rectangle 21"/>
            <p:cNvSpPr>
              <a:spLocks noChangeArrowheads="1"/>
            </p:cNvSpPr>
            <p:nvPr/>
          </p:nvSpPr>
          <p:spPr bwMode="auto">
            <a:xfrm>
              <a:off x="2562" y="2688"/>
              <a:ext cx="681" cy="409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46085" name="TextBox 151"/>
          <p:cNvSpPr txBox="1">
            <a:spLocks noChangeArrowheads="1"/>
          </p:cNvSpPr>
          <p:nvPr/>
        </p:nvSpPr>
        <p:spPr bwMode="auto">
          <a:xfrm>
            <a:off x="2925763" y="6303963"/>
            <a:ext cx="400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포함 유스케이스가 공통 컴포넌트로 도출된 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오른쪽 화살표 8"/>
          <p:cNvSpPr/>
          <p:nvPr/>
        </p:nvSpPr>
        <p:spPr bwMode="auto">
          <a:xfrm>
            <a:off x="4284663" y="5072063"/>
            <a:ext cx="1435100" cy="649287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dirty="0">
                <a:latin typeface="맑은 고딕" pitchFamily="50" charset="-127"/>
                <a:ea typeface="맑은 고딕" pitchFamily="50" charset="-127"/>
              </a:rPr>
              <a:t>공통 컴포넌트 </a:t>
            </a:r>
            <a:endParaRPr lang="en-US" altLang="ko-KR" sz="900" dirty="0"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dirty="0">
                <a:latin typeface="맑은 고딕" pitchFamily="50" charset="-127"/>
                <a:ea typeface="맑은 고딕" pitchFamily="50" charset="-127"/>
              </a:rPr>
              <a:t>후보 도출</a:t>
            </a:r>
          </a:p>
        </p:txBody>
      </p:sp>
      <p:pic>
        <p:nvPicPr>
          <p:cNvPr id="4608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4251325"/>
            <a:ext cx="3392488" cy="162083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8" name="직사각형 10"/>
          <p:cNvSpPr>
            <a:spLocks noChangeArrowheads="1"/>
          </p:cNvSpPr>
          <p:nvPr/>
        </p:nvSpPr>
        <p:spPr bwMode="auto">
          <a:xfrm>
            <a:off x="5826125" y="4610100"/>
            <a:ext cx="3346450" cy="273050"/>
          </a:xfrm>
          <a:prstGeom prst="rect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900" b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제목 1"/>
          <p:cNvSpPr>
            <a:spLocks noGrp="1"/>
          </p:cNvSpPr>
          <p:nvPr>
            <p:ph type="title"/>
          </p:nvPr>
        </p:nvSpPr>
        <p:spPr>
          <a:xfrm>
            <a:off x="341313" y="206375"/>
            <a:ext cx="7991475" cy="457200"/>
          </a:xfrm>
        </p:spPr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4. </a:t>
            </a:r>
            <a:r>
              <a:rPr lang="ko-KR" altLang="en-US" sz="1800" smtClean="0">
                <a:solidFill>
                  <a:srgbClr val="000000"/>
                </a:solidFill>
              </a:rPr>
              <a:t>요구사항 분석 모델 리딩 </a:t>
            </a:r>
            <a:r>
              <a:rPr lang="en-US" altLang="ko-KR" sz="1800" smtClean="0">
                <a:solidFill>
                  <a:srgbClr val="000000"/>
                </a:solidFill>
              </a:rPr>
              <a:t>&gt; 4.2 </a:t>
            </a:r>
            <a:r>
              <a:rPr lang="ko-KR" altLang="en-US" sz="1800" smtClean="0">
                <a:solidFill>
                  <a:srgbClr val="000000"/>
                </a:solidFill>
              </a:rPr>
              <a:t>분석 모델 표준 정의 및 가이드 작성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36385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 업무 설명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이미 작성된 유스케이스 모델의 패키지 구조를 참고하여 분석 모델 패키지를 정의한다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산출물 테일러링 내역서를 참고하여 분석 단계에서 작성되는 산출물 및 모델 요건들을 정의한다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	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예를 들어 분석의 기간이 프로젝트 전체 기간에 비해 상대적으로 짧은 경우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유스케이스 분석서의 클래스 오퍼레이션에서 기술되는 매개변수는 작성하지 않고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UI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정의서의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I/O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항목으로 대체하여 중복되어 기술되는 항목을 최소화 할 수 있도록 가이드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방법론 담당자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함께 정의한 모델과 산출물의 내용을 협의하여 표준을 확정한다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확정된 표준에 따라 방법론 담당자는 모델링 가이드를 작성하고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산출물 템플릿을 작성한다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예제를 작성하면서 작성된 모델링 가이드의 내용을 검토한다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모델링 가이드에서 검토되어야 하는 내용은 모델링 환경 설정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도구 사용법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모델 표준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패키지 구조 설명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분석 클래스 도출 기준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클래스와 시퀀스 다이어그램 작성법 등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명명규칙 등을 포함하고 있는지 검토한다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설계자들에게 가이드를 배포하고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모델링 작업이 진행되는 동안 수시로 발생하는 이슈들을 지원한다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유의 사항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모델링 도구 사용 시 사용하고자 하는 기능과 연동 도구가 많을수록 여러 이슈사항들이 발생할 수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기존에 경험하지 않은 환경으로 모델링 표준을 정의할 경우에는 그 환경에서 발생할 수 있는 여러 상황들을 충분히 테스트 한 후 표준을 정의하고 배포할 수 있도록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제목 1"/>
          <p:cNvSpPr>
            <a:spLocks noGrp="1"/>
          </p:cNvSpPr>
          <p:nvPr>
            <p:ph type="title"/>
          </p:nvPr>
        </p:nvSpPr>
        <p:spPr>
          <a:xfrm>
            <a:off x="341313" y="206375"/>
            <a:ext cx="7991475" cy="457200"/>
          </a:xfrm>
        </p:spPr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4. </a:t>
            </a:r>
            <a:r>
              <a:rPr lang="ko-KR" altLang="en-US" sz="1800" smtClean="0">
                <a:solidFill>
                  <a:srgbClr val="000000"/>
                </a:solidFill>
              </a:rPr>
              <a:t>요구사항 분석 모델 리딩 </a:t>
            </a:r>
            <a:r>
              <a:rPr lang="en-US" altLang="ko-KR" sz="1800" smtClean="0">
                <a:solidFill>
                  <a:srgbClr val="000000"/>
                </a:solidFill>
              </a:rPr>
              <a:t>&gt; 4.3 </a:t>
            </a:r>
            <a:r>
              <a:rPr lang="ko-KR" altLang="en-US" sz="1800" smtClean="0">
                <a:solidFill>
                  <a:srgbClr val="000000"/>
                </a:solidFill>
              </a:rPr>
              <a:t>분석 산출물 인스펙션 및 관리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267825" cy="21971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 업무 설명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인스펙션 계획 수립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진행상황 체크 등 전체적인 리딩 및 관리를 담당하며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방법론 담당자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분석 설계자는 수행을 담당한다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단계에서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역할은 다음과 같다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1254125" lvl="4" indent="-354013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테일러링 내역서를 참고하여 작성되는 산출물들의 표준 체크리스트를 프로젝트 상황에 맞게 수정하고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에게 전달한다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때 유스케이스 모델과 연관되어 체크되어야 하는 내용들도 작성하여 배포한다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1254125" lvl="4" indent="-354013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	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예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  -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유스케이스 모델에는 있으나 분석 모델에서는 누락된 유스케이스는 없는가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?</a:t>
            </a:r>
          </a:p>
          <a:p>
            <a:pPr marL="1254125" lvl="4" indent="-354013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           -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분석 모델링 가이드에 따라 분석 클래스들이 도출 되었는가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?</a:t>
            </a:r>
          </a:p>
          <a:p>
            <a:pPr marL="1254125" lvl="4" indent="-354013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 startAt="2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인스펙션을 수행하여 리뷰의견서를 작성하여 배포하고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조치사항을 확인한다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018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763" y="3468688"/>
            <a:ext cx="3922712" cy="228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TextBox 151"/>
          <p:cNvSpPr txBox="1">
            <a:spLocks noChangeArrowheads="1"/>
          </p:cNvSpPr>
          <p:nvPr/>
        </p:nvSpPr>
        <p:spPr bwMode="auto">
          <a:xfrm>
            <a:off x="2520950" y="5916613"/>
            <a:ext cx="400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유스케이스 모델과 분석 클래스들간의 관계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4. </a:t>
            </a:r>
            <a:r>
              <a:rPr lang="ko-KR" altLang="en-US" sz="1800" smtClean="0">
                <a:solidFill>
                  <a:srgbClr val="000000"/>
                </a:solidFill>
              </a:rPr>
              <a:t>요구사항 분석 모델 리딩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참조 기술 사항</a:t>
            </a:r>
            <a:endParaRPr lang="en-US" altLang="ko-KR" sz="1800" smtClean="0"/>
          </a:p>
        </p:txBody>
      </p:sp>
      <p:sp>
        <p:nvSpPr>
          <p:cNvPr id="43" name="내용 개체 틀 13"/>
          <p:cNvSpPr txBox="1">
            <a:spLocks/>
          </p:cNvSpPr>
          <p:nvPr/>
        </p:nvSpPr>
        <p:spPr>
          <a:xfrm>
            <a:off x="404813" y="903288"/>
            <a:ext cx="9185275" cy="21605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indent="1588" latinLnBrk="1">
              <a:spcBef>
                <a:spcPct val="20000"/>
              </a:spcBef>
              <a:buClr>
                <a:srgbClr val="3333CC"/>
              </a:buClr>
              <a:defRPr/>
            </a:pP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가 분석 모델 리딩을 수행하기 위해서는 방법론의 단계별 작업과 산출물간의 연관관계를 이해하는 것이 중요하다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 모델은 요구사항 정의 단계의 산출물들과 관계를 갖게 되므로 서로의 연관 관계에 대하여 아래와 같이 설명한다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0" lvl="3" indent="1588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   요구사항 정의 단계의 주요 산출물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요구사항 정의서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유스케이스 모형 기술서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631825" lvl="3" indent="-27305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요구사항 정의서에서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분류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업무를 구분하기 위한 항목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으로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AV3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응용기능 분할 기술서의 응용시스템의 구분 중 응용시스템명 또는 하위응용시스템명 항목을 참고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631825" lvl="3" indent="-27305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요구사항 정의서의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사용자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액터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AV2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응용시스템 관계도의 외부응용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은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시스템 액터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로 도출된다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631825" lvl="3" indent="-27305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요구사항 정의서에서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유형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기능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인 요구사항들은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AV3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응용기능 분할 기술서의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2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차 기능을 참고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631825" lvl="3" indent="-27305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기능 요구사항들은 유스케이스로 도출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되며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각각의 유스케이스 별로 흐름을 기술한 것이 유스케이스 모형 기술서가 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358775" lvl="3" indent="-358775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요구사항 분석 모델은 각 유스케이스 별로 작성된 흐름을 분석하여 클래스를 도출하고 그들간의 관계를 표현하는 것이다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 </a:t>
            </a:r>
          </a:p>
        </p:txBody>
      </p:sp>
      <p:pic>
        <p:nvPicPr>
          <p:cNvPr id="5222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" y="3298825"/>
            <a:ext cx="182245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763" y="4908550"/>
            <a:ext cx="566737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5281613"/>
            <a:ext cx="2457450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1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763" y="4822825"/>
            <a:ext cx="2195512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/>
          <p:cNvSpPr txBox="1"/>
          <p:nvPr/>
        </p:nvSpPr>
        <p:spPr bwMode="auto">
          <a:xfrm>
            <a:off x="2846388" y="6088063"/>
            <a:ext cx="35401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dirty="0">
                <a:solidFill>
                  <a:srgbClr val="0066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Verdana" pitchFamily="34" charset="0"/>
                <a:ea typeface="+mn-ea"/>
              </a:rPr>
              <a:t> 유스케이스</a:t>
            </a:r>
            <a:r>
              <a:rPr kumimoji="0" lang="en-US" altLang="ko-KR" dirty="0">
                <a:solidFill>
                  <a:srgbClr val="0066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Verdana" pitchFamily="34" charset="0"/>
                <a:ea typeface="+mn-ea"/>
              </a:rPr>
              <a:t>(</a:t>
            </a:r>
            <a:r>
              <a:rPr kumimoji="0" lang="ko-KR" altLang="en-US" dirty="0">
                <a:solidFill>
                  <a:srgbClr val="0066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Verdana" pitchFamily="34" charset="0"/>
                <a:ea typeface="+mn-ea"/>
              </a:rPr>
              <a:t>기능</a:t>
            </a:r>
            <a:r>
              <a:rPr kumimoji="0" lang="en-US" altLang="ko-KR" dirty="0">
                <a:solidFill>
                  <a:srgbClr val="0066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Verdana" pitchFamily="34" charset="0"/>
                <a:ea typeface="+mn-ea"/>
              </a:rPr>
              <a:t>)</a:t>
            </a:r>
            <a:r>
              <a:rPr kumimoji="0" lang="ko-KR" altLang="en-US" dirty="0">
                <a:solidFill>
                  <a:srgbClr val="0066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Verdana" pitchFamily="34" charset="0"/>
                <a:ea typeface="+mn-ea"/>
              </a:rPr>
              <a:t>을 사용하고자 하는 사람을 액터로 도출</a:t>
            </a:r>
            <a:endParaRPr kumimoji="0" lang="en-US" altLang="ko-KR" dirty="0">
              <a:solidFill>
                <a:srgbClr val="0066FF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Verdana" pitchFamily="34" charset="0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dirty="0">
                <a:solidFill>
                  <a:srgbClr val="0066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Verdana" pitchFamily="34" charset="0"/>
                <a:ea typeface="+mn-ea"/>
              </a:rPr>
              <a:t> 기능 요구사항을 유스케이스로 도출 </a:t>
            </a:r>
          </a:p>
        </p:txBody>
      </p:sp>
      <p:cxnSp>
        <p:nvCxnSpPr>
          <p:cNvPr id="27" name="직선 화살표 연결선 26"/>
          <p:cNvCxnSpPr/>
          <p:nvPr/>
        </p:nvCxnSpPr>
        <p:spPr>
          <a:xfrm rot="10800000" flipV="1">
            <a:off x="2082800" y="4087813"/>
            <a:ext cx="358775" cy="317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 bwMode="auto">
          <a:xfrm>
            <a:off x="358775" y="6089650"/>
            <a:ext cx="21097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rgbClr val="0066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Verdana" pitchFamily="34" charset="0"/>
                <a:ea typeface="+mn-ea"/>
              </a:rPr>
              <a:t>업무 구분을 기준으로 </a:t>
            </a:r>
            <a:endParaRPr kumimoji="0" lang="en-US" altLang="ko-KR" dirty="0">
              <a:solidFill>
                <a:srgbClr val="0066FF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Verdana" pitchFamily="34" charset="0"/>
              <a:ea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rgbClr val="0066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Verdana" pitchFamily="34" charset="0"/>
                <a:ea typeface="+mn-ea"/>
              </a:rPr>
              <a:t>유스케이스 모델에서 패키지 구분</a:t>
            </a:r>
          </a:p>
        </p:txBody>
      </p:sp>
      <p:cxnSp>
        <p:nvCxnSpPr>
          <p:cNvPr id="52235" name="직선 화살표 연결선 60"/>
          <p:cNvCxnSpPr>
            <a:cxnSpLocks noChangeShapeType="1"/>
          </p:cNvCxnSpPr>
          <p:nvPr/>
        </p:nvCxnSpPr>
        <p:spPr bwMode="auto">
          <a:xfrm flipV="1">
            <a:off x="3365500" y="4967288"/>
            <a:ext cx="576263" cy="2730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6" name="직선 화살표 연결선 62"/>
          <p:cNvCxnSpPr>
            <a:cxnSpLocks noChangeShapeType="1"/>
          </p:cNvCxnSpPr>
          <p:nvPr/>
        </p:nvCxnSpPr>
        <p:spPr bwMode="auto">
          <a:xfrm>
            <a:off x="3365500" y="5240338"/>
            <a:ext cx="596900" cy="1682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223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3224213"/>
            <a:ext cx="2401888" cy="281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TextBox 68"/>
          <p:cNvSpPr txBox="1"/>
          <p:nvPr/>
        </p:nvSpPr>
        <p:spPr bwMode="auto">
          <a:xfrm>
            <a:off x="7110413" y="6154738"/>
            <a:ext cx="1795462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en-US" altLang="ko-KR" dirty="0">
                <a:solidFill>
                  <a:srgbClr val="0066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Verdana" pitchFamily="34" charset="0"/>
                <a:ea typeface="+mn-ea"/>
              </a:rPr>
              <a:t> </a:t>
            </a:r>
            <a:r>
              <a:rPr kumimoji="0" lang="ko-KR" altLang="en-US" dirty="0">
                <a:solidFill>
                  <a:srgbClr val="0066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Verdana" pitchFamily="34" charset="0"/>
                <a:ea typeface="+mn-ea"/>
              </a:rPr>
              <a:t>유스케이스의 흐름을  기술</a:t>
            </a:r>
          </a:p>
        </p:txBody>
      </p:sp>
      <p:grpSp>
        <p:nvGrpSpPr>
          <p:cNvPr id="52239" name="그룹 71"/>
          <p:cNvGrpSpPr>
            <a:grpSpLocks/>
          </p:cNvGrpSpPr>
          <p:nvPr/>
        </p:nvGrpSpPr>
        <p:grpSpPr bwMode="auto">
          <a:xfrm>
            <a:off x="2413000" y="3298825"/>
            <a:ext cx="3894138" cy="1257300"/>
            <a:chOff x="2309567" y="3128974"/>
            <a:chExt cx="3893270" cy="1257573"/>
          </a:xfrm>
        </p:grpSpPr>
        <p:pic>
          <p:nvPicPr>
            <p:cNvPr id="52243" name="Picture 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6192" y="3128974"/>
              <a:ext cx="3886645" cy="1257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" name="직사각형 69"/>
            <p:cNvSpPr/>
            <p:nvPr/>
          </p:nvSpPr>
          <p:spPr bwMode="auto">
            <a:xfrm>
              <a:off x="2309567" y="3186136"/>
              <a:ext cx="669776" cy="26358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65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900" b="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6" name="모서리가 둥근 직사각형 25"/>
          <p:cNvSpPr/>
          <p:nvPr/>
        </p:nvSpPr>
        <p:spPr>
          <a:xfrm>
            <a:off x="2441575" y="3667125"/>
            <a:ext cx="273050" cy="933450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dirty="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2930525" y="3667125"/>
            <a:ext cx="660400" cy="914400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6069013" y="3684588"/>
            <a:ext cx="265112" cy="944562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dirty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5. </a:t>
            </a:r>
            <a:r>
              <a:rPr lang="ko-KR" altLang="en-US" sz="1800" smtClean="0">
                <a:solidFill>
                  <a:srgbClr val="000000"/>
                </a:solidFill>
              </a:rPr>
              <a:t>비즈니스 컴포넌트 정의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endParaRPr lang="en-US" altLang="ko-KR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프로젝트의 특성에 맞춰 업무 공통 컴포넌트 및 비즈니스 컴포넌트 도출 기준을 정의하고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명세화할 수 있는 기준을 제시한다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작업에서는 어플리케이션 기능과 도출된 컴포넌트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기능과 데이터간의 관계를 검증하는 작업도 함께 수행된다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5364" name="Rectangle 6"/>
          <p:cNvSpPr>
            <a:spLocks noChangeArrowheads="1"/>
          </p:cNvSpPr>
          <p:nvPr/>
        </p:nvSpPr>
        <p:spPr bwMode="auto">
          <a:xfrm>
            <a:off x="3403600" y="2124075"/>
            <a:ext cx="3182938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5.1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비즈니스 컴포넌트 식별 및 정의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비즈니스 컴포넌트 도출 원칙 정의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비즈니스 컴포넌트 식별 및 정의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설계자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5.2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아키텍처간 상호 검증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비즈니스와 데이터 아키텍처간의 일관성 검증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(w/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설계자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비즈니스 컴포넌트 취합 정리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buFontTx/>
              <a:buAutoNum type="arabicPeriod"/>
              <a:defRPr/>
            </a:pPr>
            <a:endParaRPr lang="en-US" altLang="zh-CN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277" name="TextBox 14"/>
          <p:cNvSpPr txBox="1">
            <a:spLocks noChangeArrowheads="1"/>
          </p:cNvSpPr>
          <p:nvPr/>
        </p:nvSpPr>
        <p:spPr bwMode="auto">
          <a:xfrm>
            <a:off x="504825" y="2143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유스케이스 모형 기술서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유스케이스 분석서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소프트웨어 아키텍처 정의서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UI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정의서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개념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논리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ERD</a:t>
            </a:r>
          </a:p>
          <a:p>
            <a:pPr algn="l" eaLnBrk="1" hangingPunct="1"/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endParaRPr lang="ko-KR" altLang="en-US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366" name="TextBox 15"/>
          <p:cNvSpPr txBox="1">
            <a:spLocks noChangeArrowheads="1"/>
          </p:cNvSpPr>
          <p:nvPr/>
        </p:nvSpPr>
        <p:spPr bwMode="auto">
          <a:xfrm>
            <a:off x="7296150" y="2133600"/>
            <a:ext cx="2085975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컴포넌트 도출 가이드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컴포넌트 목록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전체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컴포넌트 명세서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설계자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상호검증 매트릭스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설계자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28600" indent="-228600" eaLnBrk="1" hangingPunct="1">
              <a:spcBef>
                <a:spcPct val="50000"/>
              </a:spcBef>
              <a:defRPr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279" name="TextBox 14"/>
          <p:cNvSpPr txBox="1">
            <a:spLocks noChangeArrowheads="1"/>
          </p:cNvSpPr>
          <p:nvPr/>
        </p:nvSpPr>
        <p:spPr bwMode="auto">
          <a:xfrm>
            <a:off x="504825" y="4905375"/>
            <a:ext cx="216217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아키텍처의 논리 모델링이 완료되어야 함</a:t>
            </a:r>
          </a:p>
        </p:txBody>
      </p:sp>
      <p:sp>
        <p:nvSpPr>
          <p:cNvPr id="54280" name="TextBox 15"/>
          <p:cNvSpPr txBox="1">
            <a:spLocks noChangeArrowheads="1"/>
          </p:cNvSpPr>
          <p:nvPr/>
        </p:nvSpPr>
        <p:spPr bwMode="auto">
          <a:xfrm>
            <a:off x="7296150" y="4886325"/>
            <a:ext cx="210502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컴포넌트 도출 기준에 대한 이해관계자의 합의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관련자들에게 소개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설명</a:t>
            </a:r>
          </a:p>
        </p:txBody>
      </p:sp>
      <p:sp>
        <p:nvSpPr>
          <p:cNvPr id="54281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800350" y="2665413"/>
            <a:ext cx="441325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54282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735763" y="2665413"/>
            <a:ext cx="427037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3390900" y="1828800"/>
            <a:ext cx="3203575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506413" y="1855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</a:rPr>
              <a:t>Input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7288213" y="1839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506413" y="4625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</a:rPr>
              <a:t>Prerequisite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7288213" y="4618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</a:rPr>
              <a:t>Criteria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24" name="위쪽/아래쪽 화살표 23"/>
          <p:cNvSpPr/>
          <p:nvPr/>
        </p:nvSpPr>
        <p:spPr bwMode="auto">
          <a:xfrm>
            <a:off x="4717650" y="5153025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ea typeface="굴림" charset="-127"/>
            </a:endParaRPr>
          </a:p>
        </p:txBody>
      </p:sp>
      <p:sp>
        <p:nvSpPr>
          <p:cNvPr id="25" name="AutoShape 73"/>
          <p:cNvSpPr>
            <a:spLocks noChangeArrowheads="1"/>
          </p:cNvSpPr>
          <p:nvPr/>
        </p:nvSpPr>
        <p:spPr bwMode="auto">
          <a:xfrm>
            <a:off x="3392488" y="5613400"/>
            <a:ext cx="600075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65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방법론 담당자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26" name="AutoShape 73"/>
          <p:cNvSpPr>
            <a:spLocks noChangeArrowheads="1"/>
          </p:cNvSpPr>
          <p:nvPr/>
        </p:nvSpPr>
        <p:spPr bwMode="auto">
          <a:xfrm>
            <a:off x="5902325" y="5624513"/>
            <a:ext cx="681038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65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SA</a:t>
            </a:r>
          </a:p>
        </p:txBody>
      </p:sp>
      <p:sp>
        <p:nvSpPr>
          <p:cNvPr id="27" name="AutoShape 73"/>
          <p:cNvSpPr>
            <a:spLocks noChangeArrowheads="1"/>
          </p:cNvSpPr>
          <p:nvPr/>
        </p:nvSpPr>
        <p:spPr bwMode="auto">
          <a:xfrm>
            <a:off x="5254625" y="5616575"/>
            <a:ext cx="566738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65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분석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설계자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28" name="AutoShape 73"/>
          <p:cNvSpPr>
            <a:spLocks noChangeArrowheads="1"/>
          </p:cNvSpPr>
          <p:nvPr/>
        </p:nvSpPr>
        <p:spPr bwMode="auto">
          <a:xfrm>
            <a:off x="4632325" y="5618163"/>
            <a:ext cx="565150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65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공통팀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29" name="AutoShape 73"/>
          <p:cNvSpPr>
            <a:spLocks noChangeArrowheads="1"/>
          </p:cNvSpPr>
          <p:nvPr/>
        </p:nvSpPr>
        <p:spPr bwMode="auto">
          <a:xfrm>
            <a:off x="4054475" y="5618163"/>
            <a:ext cx="506413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65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QA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5. </a:t>
            </a:r>
            <a:r>
              <a:rPr lang="ko-KR" altLang="en-US" sz="1800" smtClean="0">
                <a:solidFill>
                  <a:srgbClr val="000000"/>
                </a:solidFill>
              </a:rPr>
              <a:t>비즈니스 컴포넌트 정의 </a:t>
            </a:r>
            <a:r>
              <a:rPr lang="en-US" altLang="ko-KR" sz="1800" smtClean="0">
                <a:solidFill>
                  <a:srgbClr val="000000"/>
                </a:solidFill>
              </a:rPr>
              <a:t>&gt; 5.1 </a:t>
            </a:r>
            <a:r>
              <a:rPr lang="ko-KR" altLang="en-US" sz="1800" smtClean="0">
                <a:solidFill>
                  <a:srgbClr val="000000"/>
                </a:solidFill>
              </a:rPr>
              <a:t>비즈니스 컴포넌트 식별 및 정의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42656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 업무 설명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요구사항 분석 결과물을 바탕으로 프로젝트에 맞는 비즈니스 컴포넌트 도출 원칙을 정의한다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일반적인 컴포넌트 도출 기준은 공통기능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프로세스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데이터 관점으로 나눌 수 있으며 자세한 내용은 참조 기술 자료를 참고한다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협의하여 설계 모델의 표준을 수립하고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컴포넌트 도출 가이드를 작성하여 분석 설계자에게 배포한다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가이드에는 컴포넌트 도출 기준과 컴포넌트 명세 작업에 필요한 모델링 내용도 함께 기술한다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 분석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설계자에 의해 도출된 컴포넌트의 적정여부를 분석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설계자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함께 결정하여 컴포넌트 목록을 작성한다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요구사항 분석 단계의 후보 공통 컴포넌트와 비즈니스 컴포넌트를 비교하여 중복되는 것이 있는지 확인하여 컴포넌트를 정제한다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서비스 컴포넌트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적용하는 프레임워크와 솔루션의 기능 중 도출된 컴포넌트를 대체할 수 있는 것이 있는지 확인한다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최종 도출된 컴포넌트 내역을 컴포넌트 목록에 반영하고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각 컴포넌트에 대한 담당자를 기술한다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분석 설계자는 인터페이스 식별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오퍼레이션 정의 등 컴포넌트 명세 작업을 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1176338" lvl="3" indent="-360363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유의 사항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함께 소프트웨어 아키텍처와 기술 아키텍처를 모두 고려하여 정의한다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컴포넌트 도출 기준은 여러 다양한 접근 방법이 존재한다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이는 컴포넌트 식별 작업이 어렵다는 의미와 다양한 기법을 혼용해야 함을 의미한다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그러므로 도메인 지식이 풍부한 분석 설계자의 경험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적용되는 프레임워크와 솔루션 기능 등을 많이 활용할 수 있어야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5. </a:t>
            </a:r>
            <a:r>
              <a:rPr lang="ko-KR" altLang="en-US" sz="1800" smtClean="0">
                <a:solidFill>
                  <a:srgbClr val="000000"/>
                </a:solidFill>
              </a:rPr>
              <a:t>비즈니스 컴포넌트 정의 </a:t>
            </a:r>
            <a:r>
              <a:rPr lang="en-US" altLang="ko-KR" sz="1800" smtClean="0">
                <a:solidFill>
                  <a:srgbClr val="000000"/>
                </a:solidFill>
              </a:rPr>
              <a:t>&gt; 5.2 </a:t>
            </a:r>
            <a:r>
              <a:rPr lang="ko-KR" altLang="en-US" sz="1800" smtClean="0">
                <a:solidFill>
                  <a:srgbClr val="000000"/>
                </a:solidFill>
              </a:rPr>
              <a:t>아키텍처간 상호검증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210675" cy="36004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 업무 설명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아키텍처간 상호검증은 실제 프로세스가 어떤 기능으로 구현되고 어떤 데이터와 관련 있는지를 파악하기 위한 작업이다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 프로세스와 구현 기능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구현 기능과 데이터의 두 가지 관점에서 진행되며 산출물은 여러 관계들을 직관적으로 판단할 수 있도록 매트릭스 형태로 작성한다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 프로세스는 비즈니스 관점의 프로세스를 의미하며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구현 기능은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유스케이스의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클래스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또는 컴포넌트를 의미한다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유스케이스가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컴포넌트와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1:1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관계를 갖고 있다면 구현 기능은 유스케이스나 컴포넌트가 되어도 상관없다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하지만 여러 개의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유스케이스가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하나의 컴포넌트를 구성한다면 매트릭스에서의 구현 기능은 명확하게 정의되어야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단계에서 수행되는 작업은 아래와 같다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1254125" lvl="4" indent="-354013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프로젝트 상황에 따라 어떤 것을 업무 프로세스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구현 기능으로 볼 것인지를 정의하고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템플릿을 작성하여 분석 설계자에게 배포한다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1273175" lvl="4" indent="-373063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각 업무 분석 설계자는 템플릿에 따라 관계를 정의한다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1273175" lvl="4" indent="-373063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작성된 템플릿을 기준으로 실제 내용들이 기술되어 있는지 검증한다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유의 사항 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아키텍처간 상호검증은 분석과 설계 단계 중간에 진행하기 때문에 분석 클래스와 논리 모델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(DB)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간의 관계를 표현하는 것으로 많이 작성된다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그러나 분석 모델과 실제 구현 코드와는 차이가 있으므로 작업 소요시간이 많이 들지 않는다면 설계작업에 대한 내용을 반영하여 설계 모델에 대한 매트릭스도 작성하는 것이 좋다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만약 설계 모델에 대한 매트릭스 작성이 힘들다면 품질보증 활동의 요구사항 추적 매트릭스로 대체할 수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pic>
        <p:nvPicPr>
          <p:cNvPr id="5734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3" y="4606925"/>
            <a:ext cx="5773737" cy="16192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TextBox 151"/>
          <p:cNvSpPr txBox="1">
            <a:spLocks noChangeArrowheads="1"/>
          </p:cNvSpPr>
          <p:nvPr/>
        </p:nvSpPr>
        <p:spPr bwMode="auto">
          <a:xfrm>
            <a:off x="2894013" y="6243638"/>
            <a:ext cx="400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클래스와 엔티티 간의 관계를 표현한 예제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5. </a:t>
            </a:r>
            <a:r>
              <a:rPr lang="ko-KR" altLang="en-US" sz="1800" smtClean="0">
                <a:solidFill>
                  <a:srgbClr val="000000"/>
                </a:solidFill>
              </a:rPr>
              <a:t>비즈니스 컴포넌트 정의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참조 기술 사항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253537" cy="54848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컴포넌트는 인터페이스를 갖고 있으면서 독립적으로 실행 가능한 소프트웨어 부품을 의미한다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컴포넌트 식별 기법에는 다양한 기법들이 존재하나 도메인 전문가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설계자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PL,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 전문가 등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생각하는 공통 업무의 단위가 컴포넌트가 될 가능성이 높다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 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아래는 일반적인 컴포넌트 식별 기준을 정리한 것이다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buFontTx/>
              <a:buAutoNum type="arabicParenR"/>
              <a:defRPr/>
            </a:pPr>
            <a:r>
              <a:rPr lang="ko-KR" altLang="en-US" sz="1200" kern="0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일반적인 컴포넌트 식별 방법</a:t>
            </a:r>
            <a:endParaRPr lang="en-US" altLang="ko-KR" sz="1200" kern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v"/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객체 </a:t>
            </a:r>
            <a:r>
              <a:rPr lang="ko-KR" altLang="en-US" sz="1200" kern="0" dirty="0" err="1">
                <a:latin typeface="맑은 고딕" pitchFamily="50" charset="-127"/>
                <a:ea typeface="맑은 고딕" pitchFamily="50" charset="-127"/>
              </a:rPr>
              <a:t>응집도를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 이용한 컴포넌트 식별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데이터 관점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	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클래스 다이어그램에서 핵심 클래스를 중심으로 결합도가 높은 객체들을 묶어서 컴포넌트로 식별하고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관련된 데이터를 처리하는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로직을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오퍼레이션으로 도출함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v"/>
              <a:defRPr/>
            </a:pP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 Use Case Data Access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테이블을 통한 컴포넌트 식별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데이터 관점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유스케이스와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클래스의 관련성 분석을 통해 클래스의 묶음을 식별하여 후보 컴포넌트를 도출하고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유스케이스의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클래스 참조 등급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(Create, Delete, Write, Read)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별로 가중치를 부여하여 친화성 분석을 통해 최종 컴포넌트를 도출함</a:t>
            </a: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9396" name="Group 6"/>
          <p:cNvGrpSpPr>
            <a:grpSpLocks/>
          </p:cNvGrpSpPr>
          <p:nvPr/>
        </p:nvGrpSpPr>
        <p:grpSpPr bwMode="auto">
          <a:xfrm>
            <a:off x="663575" y="3363913"/>
            <a:ext cx="3592513" cy="1327150"/>
            <a:chOff x="431" y="1797"/>
            <a:chExt cx="3751" cy="1513"/>
          </a:xfrm>
        </p:grpSpPr>
        <p:pic>
          <p:nvPicPr>
            <p:cNvPr id="59435" name="Picture 7" descr="Rup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" y="1797"/>
              <a:ext cx="1532" cy="1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36" name="Picture 8" descr="Rup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2" y="1843"/>
              <a:ext cx="1860" cy="1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37" name="AutoShape 9"/>
            <p:cNvSpPr>
              <a:spLocks noChangeArrowheads="1"/>
            </p:cNvSpPr>
            <p:nvPr/>
          </p:nvSpPr>
          <p:spPr bwMode="auto">
            <a:xfrm>
              <a:off x="2027" y="2341"/>
              <a:ext cx="240" cy="288"/>
            </a:xfrm>
            <a:prstGeom prst="rightArrow">
              <a:avLst>
                <a:gd name="adj1" fmla="val 52778"/>
                <a:gd name="adj2" fmla="val 25000"/>
              </a:avLst>
            </a:prstGeom>
            <a:solidFill>
              <a:srgbClr val="E6E6E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59397" name="TextBox 151"/>
          <p:cNvSpPr txBox="1">
            <a:spLocks noChangeArrowheads="1"/>
          </p:cNvSpPr>
          <p:nvPr/>
        </p:nvSpPr>
        <p:spPr bwMode="auto">
          <a:xfrm>
            <a:off x="2735263" y="5197475"/>
            <a:ext cx="400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클래스 응집도에 따른 컴포넌트 식별 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398" name="TextBox 18"/>
          <p:cNvSpPr txBox="1">
            <a:spLocks noChangeArrowheads="1"/>
          </p:cNvSpPr>
          <p:nvPr/>
        </p:nvSpPr>
        <p:spPr bwMode="auto">
          <a:xfrm>
            <a:off x="4581525" y="2625725"/>
            <a:ext cx="2117725" cy="254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 typeface="Arial" panose="020B0604020202020204" pitchFamily="34" charset="0"/>
              <a:buChar char="•"/>
            </a:pP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서비스수수료면제현황조회 </a:t>
            </a:r>
          </a:p>
          <a:p>
            <a:pPr algn="l" eaLnBrk="1" hangingPunct="1">
              <a:buFont typeface="Arial" panose="020B0604020202020204" pitchFamily="34" charset="0"/>
              <a:buChar char="•"/>
            </a:pP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서비스수수료징수관리 </a:t>
            </a:r>
          </a:p>
          <a:p>
            <a:pPr algn="l" eaLnBrk="1" hangingPunct="1">
              <a:buFont typeface="Arial" panose="020B0604020202020204" pitchFamily="34" charset="0"/>
              <a:buChar char="•"/>
            </a:pP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예탁금이용료지급</a:t>
            </a:r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취소처리 </a:t>
            </a:r>
          </a:p>
          <a:p>
            <a:pPr algn="l" eaLnBrk="1" hangingPunct="1">
              <a:buFont typeface="Arial" panose="020B0604020202020204" pitchFamily="34" charset="0"/>
              <a:buChar char="•"/>
            </a:pP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예탁금이용료가계산내역조회 </a:t>
            </a:r>
          </a:p>
          <a:p>
            <a:pPr algn="l" eaLnBrk="1" hangingPunct="1">
              <a:buFont typeface="Arial" panose="020B0604020202020204" pitchFamily="34" charset="0"/>
              <a:buChar char="•"/>
            </a:pP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예탁적수관리 </a:t>
            </a:r>
          </a:p>
          <a:p>
            <a:pPr algn="l" eaLnBrk="1" hangingPunct="1">
              <a:buFont typeface="Arial" panose="020B0604020202020204" pitchFamily="34" charset="0"/>
              <a:buChar char="•"/>
            </a:pP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예탁금이용료정기지급배치 </a:t>
            </a:r>
          </a:p>
          <a:p>
            <a:pPr algn="l" eaLnBrk="1" hangingPunct="1">
              <a:buFont typeface="Arial" panose="020B0604020202020204" pitchFamily="34" charset="0"/>
              <a:buChar char="•"/>
            </a:pP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환전처리 </a:t>
            </a:r>
          </a:p>
          <a:p>
            <a:pPr algn="l" eaLnBrk="1" hangingPunct="1">
              <a:buFont typeface="Arial" panose="020B0604020202020204" pitchFamily="34" charset="0"/>
              <a:buChar char="•"/>
            </a:pP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선물환계약처리 </a:t>
            </a:r>
          </a:p>
          <a:p>
            <a:pPr algn="l" eaLnBrk="1" hangingPunct="1">
              <a:buFont typeface="Arial" panose="020B0604020202020204" pitchFamily="34" charset="0"/>
              <a:buChar char="•"/>
            </a:pP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선물환결제처리 </a:t>
            </a:r>
          </a:p>
          <a:p>
            <a:pPr algn="l" eaLnBrk="1" hangingPunct="1">
              <a:buFont typeface="Arial" panose="020B0604020202020204" pitchFamily="34" charset="0"/>
              <a:buChar char="•"/>
            </a:pPr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AHTS </a:t>
            </a: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환전관리 </a:t>
            </a:r>
          </a:p>
        </p:txBody>
      </p:sp>
      <p:sp>
        <p:nvSpPr>
          <p:cNvPr id="59399" name="AutoShape 92"/>
          <p:cNvSpPr>
            <a:spLocks noChangeArrowheads="1"/>
          </p:cNvSpPr>
          <p:nvPr/>
        </p:nvSpPr>
        <p:spPr bwMode="auto">
          <a:xfrm>
            <a:off x="4614863" y="2660650"/>
            <a:ext cx="2057400" cy="43815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59400" name="AutoShape 92"/>
          <p:cNvSpPr>
            <a:spLocks noChangeArrowheads="1"/>
          </p:cNvSpPr>
          <p:nvPr/>
        </p:nvSpPr>
        <p:spPr bwMode="auto">
          <a:xfrm>
            <a:off x="4614863" y="3157538"/>
            <a:ext cx="2057400" cy="957262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59401" name="AutoShape 92"/>
          <p:cNvSpPr>
            <a:spLocks noChangeArrowheads="1"/>
          </p:cNvSpPr>
          <p:nvPr/>
        </p:nvSpPr>
        <p:spPr bwMode="auto">
          <a:xfrm>
            <a:off x="4648200" y="4354513"/>
            <a:ext cx="2057400" cy="522287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pSp>
        <p:nvGrpSpPr>
          <p:cNvPr id="59402" name="Group 147"/>
          <p:cNvGrpSpPr>
            <a:grpSpLocks/>
          </p:cNvGrpSpPr>
          <p:nvPr/>
        </p:nvGrpSpPr>
        <p:grpSpPr bwMode="auto">
          <a:xfrm>
            <a:off x="7431088" y="2611438"/>
            <a:ext cx="1368425" cy="577850"/>
            <a:chOff x="546" y="1661"/>
            <a:chExt cx="1145" cy="408"/>
          </a:xfrm>
        </p:grpSpPr>
        <p:sp>
          <p:nvSpPr>
            <p:cNvPr id="21" name="Rectangle 148"/>
            <p:cNvSpPr>
              <a:spLocks noChangeArrowheads="1"/>
            </p:cNvSpPr>
            <p:nvPr/>
          </p:nvSpPr>
          <p:spPr bwMode="auto">
            <a:xfrm>
              <a:off x="657" y="1661"/>
              <a:ext cx="1034" cy="408"/>
            </a:xfrm>
            <a:prstGeom prst="rect">
              <a:avLst/>
            </a:prstGeom>
            <a:solidFill>
              <a:srgbClr val="CCFFCC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r>
                <a:rPr kumimoji="0" lang="en-US" altLang="ko-KR" sz="1200" dirty="0">
                  <a:latin typeface="맑은 고딕" pitchFamily="50" charset="-127"/>
                  <a:ea typeface="맑은 고딕" pitchFamily="50" charset="-127"/>
                  <a:cs typeface="HY견고딕"/>
                </a:rPr>
                <a:t>&lt;&lt;compo.&gt;&gt;</a:t>
              </a:r>
            </a:p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r>
                <a:rPr kumimoji="0" lang="ko-KR" altLang="en-US" sz="1200" dirty="0">
                  <a:latin typeface="맑은 고딕" pitchFamily="50" charset="-127"/>
                  <a:ea typeface="맑은 고딕" pitchFamily="50" charset="-127"/>
                  <a:cs typeface="HY견고딕"/>
                </a:rPr>
                <a:t>서비스수수료</a:t>
              </a:r>
              <a:endParaRPr kumimoji="0" lang="en-US" altLang="ko-KR" sz="1200" dirty="0">
                <a:latin typeface="맑은 고딕" pitchFamily="50" charset="-127"/>
                <a:ea typeface="맑은 고딕" pitchFamily="50" charset="-127"/>
                <a:cs typeface="HY견고딕"/>
              </a:endParaRPr>
            </a:p>
          </p:txBody>
        </p:sp>
        <p:sp>
          <p:nvSpPr>
            <p:cNvPr id="22" name="Rectangle 149"/>
            <p:cNvSpPr>
              <a:spLocks noChangeArrowheads="1"/>
            </p:cNvSpPr>
            <p:nvPr/>
          </p:nvSpPr>
          <p:spPr bwMode="auto">
            <a:xfrm>
              <a:off x="546" y="1736"/>
              <a:ext cx="202" cy="106"/>
            </a:xfrm>
            <a:prstGeom prst="rect">
              <a:avLst/>
            </a:prstGeom>
            <a:solidFill>
              <a:srgbClr val="CCFFCC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endParaRPr kumimoji="0" lang="ko-KR" altLang="en-US" sz="1200">
                <a:latin typeface="맑은 고딕" pitchFamily="50" charset="-127"/>
                <a:ea typeface="맑은 고딕" pitchFamily="50" charset="-127"/>
                <a:cs typeface="HY견고딕"/>
              </a:endParaRPr>
            </a:p>
          </p:txBody>
        </p:sp>
        <p:sp>
          <p:nvSpPr>
            <p:cNvPr id="23" name="Rectangle 150"/>
            <p:cNvSpPr>
              <a:spLocks noChangeArrowheads="1"/>
            </p:cNvSpPr>
            <p:nvPr/>
          </p:nvSpPr>
          <p:spPr bwMode="auto">
            <a:xfrm>
              <a:off x="546" y="1888"/>
              <a:ext cx="202" cy="106"/>
            </a:xfrm>
            <a:prstGeom prst="rect">
              <a:avLst/>
            </a:prstGeom>
            <a:solidFill>
              <a:srgbClr val="CCFFCC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endParaRPr kumimoji="0" lang="ko-KR" altLang="en-US" sz="1200">
                <a:latin typeface="맑은 고딕" pitchFamily="50" charset="-127"/>
                <a:ea typeface="맑은 고딕" pitchFamily="50" charset="-127"/>
                <a:cs typeface="HY견고딕"/>
              </a:endParaRPr>
            </a:p>
          </p:txBody>
        </p:sp>
      </p:grpSp>
      <p:grpSp>
        <p:nvGrpSpPr>
          <p:cNvPr id="59403" name="Group 147"/>
          <p:cNvGrpSpPr>
            <a:grpSpLocks/>
          </p:cNvGrpSpPr>
          <p:nvPr/>
        </p:nvGrpSpPr>
        <p:grpSpPr bwMode="auto">
          <a:xfrm>
            <a:off x="7426325" y="3473450"/>
            <a:ext cx="1368425" cy="576263"/>
            <a:chOff x="546" y="1661"/>
            <a:chExt cx="1145" cy="408"/>
          </a:xfrm>
        </p:grpSpPr>
        <p:sp>
          <p:nvSpPr>
            <p:cNvPr id="25" name="Rectangle 148"/>
            <p:cNvSpPr>
              <a:spLocks noChangeArrowheads="1"/>
            </p:cNvSpPr>
            <p:nvPr/>
          </p:nvSpPr>
          <p:spPr bwMode="auto">
            <a:xfrm>
              <a:off x="657" y="1661"/>
              <a:ext cx="1034" cy="408"/>
            </a:xfrm>
            <a:prstGeom prst="rect">
              <a:avLst/>
            </a:prstGeom>
            <a:solidFill>
              <a:srgbClr val="CCFFCC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r>
                <a:rPr kumimoji="0" lang="en-US" altLang="ko-KR" sz="1200" dirty="0">
                  <a:latin typeface="맑은 고딕" pitchFamily="50" charset="-127"/>
                  <a:ea typeface="맑은 고딕" pitchFamily="50" charset="-127"/>
                  <a:cs typeface="HY견고딕"/>
                </a:rPr>
                <a:t>&lt;&lt;compo.&gt;&gt;</a:t>
              </a:r>
            </a:p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r>
                <a:rPr kumimoji="0" lang="ko-KR" altLang="en-US" sz="1200" dirty="0">
                  <a:latin typeface="맑은 고딕" pitchFamily="50" charset="-127"/>
                  <a:ea typeface="맑은 고딕" pitchFamily="50" charset="-127"/>
                  <a:cs typeface="HY견고딕"/>
                </a:rPr>
                <a:t>예탁금이용료</a:t>
              </a:r>
              <a:endParaRPr kumimoji="0" lang="en-US" altLang="ko-KR" sz="1200" dirty="0">
                <a:latin typeface="맑은 고딕" pitchFamily="50" charset="-127"/>
                <a:ea typeface="맑은 고딕" pitchFamily="50" charset="-127"/>
                <a:cs typeface="HY견고딕"/>
              </a:endParaRPr>
            </a:p>
          </p:txBody>
        </p:sp>
        <p:sp>
          <p:nvSpPr>
            <p:cNvPr id="26" name="Rectangle 149"/>
            <p:cNvSpPr>
              <a:spLocks noChangeArrowheads="1"/>
            </p:cNvSpPr>
            <p:nvPr/>
          </p:nvSpPr>
          <p:spPr bwMode="auto">
            <a:xfrm>
              <a:off x="546" y="1736"/>
              <a:ext cx="202" cy="106"/>
            </a:xfrm>
            <a:prstGeom prst="rect">
              <a:avLst/>
            </a:prstGeom>
            <a:solidFill>
              <a:srgbClr val="CCFFCC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endParaRPr kumimoji="0" lang="ko-KR" altLang="en-US" sz="1200">
                <a:latin typeface="맑은 고딕" pitchFamily="50" charset="-127"/>
                <a:ea typeface="맑은 고딕" pitchFamily="50" charset="-127"/>
                <a:cs typeface="HY견고딕"/>
              </a:endParaRPr>
            </a:p>
          </p:txBody>
        </p:sp>
        <p:sp>
          <p:nvSpPr>
            <p:cNvPr id="27" name="Rectangle 150"/>
            <p:cNvSpPr>
              <a:spLocks noChangeArrowheads="1"/>
            </p:cNvSpPr>
            <p:nvPr/>
          </p:nvSpPr>
          <p:spPr bwMode="auto">
            <a:xfrm>
              <a:off x="546" y="1888"/>
              <a:ext cx="202" cy="106"/>
            </a:xfrm>
            <a:prstGeom prst="rect">
              <a:avLst/>
            </a:prstGeom>
            <a:solidFill>
              <a:srgbClr val="CCFFCC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endParaRPr kumimoji="0" lang="ko-KR" altLang="en-US" sz="1200">
                <a:latin typeface="맑은 고딕" pitchFamily="50" charset="-127"/>
                <a:ea typeface="맑은 고딕" pitchFamily="50" charset="-127"/>
                <a:cs typeface="HY견고딕"/>
              </a:endParaRPr>
            </a:p>
          </p:txBody>
        </p:sp>
      </p:grpSp>
      <p:grpSp>
        <p:nvGrpSpPr>
          <p:cNvPr id="59404" name="Group 147"/>
          <p:cNvGrpSpPr>
            <a:grpSpLocks/>
          </p:cNvGrpSpPr>
          <p:nvPr/>
        </p:nvGrpSpPr>
        <p:grpSpPr bwMode="auto">
          <a:xfrm>
            <a:off x="7427913" y="4319588"/>
            <a:ext cx="1368425" cy="579437"/>
            <a:chOff x="546" y="1661"/>
            <a:chExt cx="1145" cy="408"/>
          </a:xfrm>
        </p:grpSpPr>
        <p:sp>
          <p:nvSpPr>
            <p:cNvPr id="29" name="Rectangle 148"/>
            <p:cNvSpPr>
              <a:spLocks noChangeArrowheads="1"/>
            </p:cNvSpPr>
            <p:nvPr/>
          </p:nvSpPr>
          <p:spPr bwMode="auto">
            <a:xfrm>
              <a:off x="657" y="1661"/>
              <a:ext cx="1034" cy="408"/>
            </a:xfrm>
            <a:prstGeom prst="rect">
              <a:avLst/>
            </a:prstGeom>
            <a:solidFill>
              <a:srgbClr val="CCFFCC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r>
                <a:rPr kumimoji="0" lang="en-US" altLang="ko-KR" sz="1200" dirty="0">
                  <a:latin typeface="맑은 고딕" pitchFamily="50" charset="-127"/>
                  <a:ea typeface="맑은 고딕" pitchFamily="50" charset="-127"/>
                  <a:cs typeface="HY견고딕"/>
                </a:rPr>
                <a:t>&lt;&lt;compo.&gt;&gt;</a:t>
              </a:r>
            </a:p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r>
                <a:rPr kumimoji="0" lang="ko-KR" altLang="en-US" sz="1200" dirty="0">
                  <a:latin typeface="맑은 고딕" pitchFamily="50" charset="-127"/>
                  <a:ea typeface="맑은 고딕" pitchFamily="50" charset="-127"/>
                  <a:cs typeface="HY견고딕"/>
                </a:rPr>
                <a:t>선물환</a:t>
              </a:r>
              <a:endParaRPr kumimoji="0" lang="en-US" altLang="ko-KR" sz="1200" dirty="0">
                <a:latin typeface="맑은 고딕" pitchFamily="50" charset="-127"/>
                <a:ea typeface="맑은 고딕" pitchFamily="50" charset="-127"/>
                <a:cs typeface="HY견고딕"/>
              </a:endParaRPr>
            </a:p>
          </p:txBody>
        </p:sp>
        <p:sp>
          <p:nvSpPr>
            <p:cNvPr id="30" name="Rectangle 149"/>
            <p:cNvSpPr>
              <a:spLocks noChangeArrowheads="1"/>
            </p:cNvSpPr>
            <p:nvPr/>
          </p:nvSpPr>
          <p:spPr bwMode="auto">
            <a:xfrm>
              <a:off x="546" y="1736"/>
              <a:ext cx="202" cy="106"/>
            </a:xfrm>
            <a:prstGeom prst="rect">
              <a:avLst/>
            </a:prstGeom>
            <a:solidFill>
              <a:srgbClr val="CCFFCC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endParaRPr kumimoji="0" lang="ko-KR" altLang="en-US" sz="1200">
                <a:latin typeface="맑은 고딕" pitchFamily="50" charset="-127"/>
                <a:ea typeface="맑은 고딕" pitchFamily="50" charset="-127"/>
                <a:cs typeface="HY견고딕"/>
              </a:endParaRPr>
            </a:p>
          </p:txBody>
        </p:sp>
        <p:sp>
          <p:nvSpPr>
            <p:cNvPr id="31" name="Rectangle 150"/>
            <p:cNvSpPr>
              <a:spLocks noChangeArrowheads="1"/>
            </p:cNvSpPr>
            <p:nvPr/>
          </p:nvSpPr>
          <p:spPr bwMode="auto">
            <a:xfrm>
              <a:off x="546" y="1888"/>
              <a:ext cx="202" cy="106"/>
            </a:xfrm>
            <a:prstGeom prst="rect">
              <a:avLst/>
            </a:prstGeom>
            <a:solidFill>
              <a:srgbClr val="CCFFCC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endParaRPr kumimoji="0" lang="ko-KR" altLang="en-US" sz="1200">
                <a:latin typeface="맑은 고딕" pitchFamily="50" charset="-127"/>
                <a:ea typeface="맑은 고딕" pitchFamily="50" charset="-127"/>
                <a:cs typeface="HY견고딕"/>
              </a:endParaRPr>
            </a:p>
          </p:txBody>
        </p:sp>
      </p:grpSp>
      <p:cxnSp>
        <p:nvCxnSpPr>
          <p:cNvPr id="59405" name="직선 화살표 연결선 32"/>
          <p:cNvCxnSpPr>
            <a:cxnSpLocks noChangeShapeType="1"/>
            <a:stCxn id="59399" idx="3"/>
          </p:cNvCxnSpPr>
          <p:nvPr/>
        </p:nvCxnSpPr>
        <p:spPr bwMode="auto">
          <a:xfrm>
            <a:off x="6672263" y="2879725"/>
            <a:ext cx="685800" cy="47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6" name="직선 화살표 연결선 34"/>
          <p:cNvCxnSpPr>
            <a:cxnSpLocks noChangeShapeType="1"/>
          </p:cNvCxnSpPr>
          <p:nvPr/>
        </p:nvCxnSpPr>
        <p:spPr bwMode="auto">
          <a:xfrm>
            <a:off x="6672263" y="3756025"/>
            <a:ext cx="719137" cy="111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7" name="직선 화살표 연결선 36"/>
          <p:cNvCxnSpPr>
            <a:cxnSpLocks noChangeShapeType="1"/>
            <a:stCxn id="59401" idx="3"/>
          </p:cNvCxnSpPr>
          <p:nvPr/>
        </p:nvCxnSpPr>
        <p:spPr bwMode="auto">
          <a:xfrm flipV="1">
            <a:off x="6705600" y="4614863"/>
            <a:ext cx="663575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5. </a:t>
            </a:r>
            <a:r>
              <a:rPr lang="ko-KR" altLang="en-US" sz="1800" smtClean="0">
                <a:solidFill>
                  <a:srgbClr val="000000"/>
                </a:solidFill>
              </a:rPr>
              <a:t>비즈니스 컴포넌트 정의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참조 기술 사항 </a:t>
            </a:r>
            <a:r>
              <a:rPr lang="en-US" altLang="ko-KR" sz="1800" smtClean="0">
                <a:solidFill>
                  <a:srgbClr val="000000"/>
                </a:solidFill>
              </a:rPr>
              <a:t>(</a:t>
            </a:r>
            <a:r>
              <a:rPr lang="ko-KR" altLang="en-US" sz="1800" smtClean="0">
                <a:solidFill>
                  <a:srgbClr val="000000"/>
                </a:solidFill>
              </a:rPr>
              <a:t>계속</a:t>
            </a:r>
            <a:r>
              <a:rPr lang="en-US" altLang="ko-KR" sz="1800" smtClean="0">
                <a:solidFill>
                  <a:srgbClr val="000000"/>
                </a:solidFill>
              </a:rPr>
              <a:t>)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253537" cy="53736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v"/>
              <a:defRPr/>
            </a:pP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공통 </a:t>
            </a:r>
            <a:r>
              <a:rPr lang="ko-KR" altLang="en-US" sz="1200" kern="0" dirty="0" err="1">
                <a:latin typeface="맑은 고딕" pitchFamily="50" charset="-127"/>
                <a:ea typeface="맑은 고딕" pitchFamily="50" charset="-127"/>
              </a:rPr>
              <a:t>유스케이스를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 통한 컴포넌트 식별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공통 기능 관점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유스케이스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구조화를 통해 도출된 포함관계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(Include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관계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유스케이스를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후보 컴포넌트로 도출하고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유지보수를 위해 별도로 분리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되어 관리되어야 한다는 결론이 나면 컴포넌트로 도출함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v"/>
              <a:defRPr/>
            </a:pP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시퀀스 다이어그램을 통한 컴포넌트 식별 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프로세스 관점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여러 업무에서 공통적으로 반복 사용되는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플로우를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중심으로 컴포넌트를 식별하고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반복 사용되는 시퀀스 다이어그램의 메시지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   (Message)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를 오퍼레이션으로 도출함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1444" name="Group 13"/>
          <p:cNvGrpSpPr>
            <a:grpSpLocks/>
          </p:cNvGrpSpPr>
          <p:nvPr/>
        </p:nvGrpSpPr>
        <p:grpSpPr bwMode="auto">
          <a:xfrm>
            <a:off x="1441450" y="4300538"/>
            <a:ext cx="6711950" cy="1806575"/>
            <a:chOff x="377" y="1791"/>
            <a:chExt cx="5088" cy="1548"/>
          </a:xfrm>
        </p:grpSpPr>
        <p:pic>
          <p:nvPicPr>
            <p:cNvPr id="61472" name="Picture 14" descr="Rup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" y="1851"/>
              <a:ext cx="1392" cy="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473" name="Picture 15" descr="Rup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1" y="1791"/>
              <a:ext cx="1681" cy="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474" name="Picture 16" descr="Rup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9" y="1840"/>
              <a:ext cx="1536" cy="1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475" name="AutoShape 17"/>
            <p:cNvSpPr>
              <a:spLocks noChangeArrowheads="1"/>
            </p:cNvSpPr>
            <p:nvPr/>
          </p:nvSpPr>
          <p:spPr bwMode="auto">
            <a:xfrm>
              <a:off x="1769" y="2379"/>
              <a:ext cx="240" cy="341"/>
            </a:xfrm>
            <a:prstGeom prst="rightArrow">
              <a:avLst>
                <a:gd name="adj1" fmla="val 52778"/>
                <a:gd name="adj2" fmla="val 25000"/>
              </a:avLst>
            </a:prstGeom>
            <a:solidFill>
              <a:srgbClr val="E6E6E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61476" name="AutoShape 18"/>
            <p:cNvSpPr>
              <a:spLocks noChangeArrowheads="1"/>
            </p:cNvSpPr>
            <p:nvPr/>
          </p:nvSpPr>
          <p:spPr bwMode="auto">
            <a:xfrm>
              <a:off x="3689" y="2379"/>
              <a:ext cx="240" cy="341"/>
            </a:xfrm>
            <a:prstGeom prst="rightArrow">
              <a:avLst>
                <a:gd name="adj1" fmla="val 52778"/>
                <a:gd name="adj2" fmla="val 25000"/>
              </a:avLst>
            </a:prstGeom>
            <a:solidFill>
              <a:srgbClr val="E6E6E6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61445" name="TextBox 151"/>
          <p:cNvSpPr txBox="1">
            <a:spLocks noChangeArrowheads="1"/>
          </p:cNvSpPr>
          <p:nvPr/>
        </p:nvSpPr>
        <p:spPr bwMode="auto">
          <a:xfrm>
            <a:off x="2320925" y="3117850"/>
            <a:ext cx="400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공통 유스케이스 모델링 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446" name="TextBox 151"/>
          <p:cNvSpPr txBox="1">
            <a:spLocks noChangeArrowheads="1"/>
          </p:cNvSpPr>
          <p:nvPr/>
        </p:nvSpPr>
        <p:spPr bwMode="auto">
          <a:xfrm>
            <a:off x="2884488" y="6262688"/>
            <a:ext cx="400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프로세스를 이용한 컴포넌트 식별 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1447" name="그룹 33"/>
          <p:cNvGrpSpPr>
            <a:grpSpLocks/>
          </p:cNvGrpSpPr>
          <p:nvPr/>
        </p:nvGrpSpPr>
        <p:grpSpPr bwMode="auto">
          <a:xfrm>
            <a:off x="2644775" y="1806575"/>
            <a:ext cx="3886200" cy="1306513"/>
            <a:chOff x="1461634" y="1581831"/>
            <a:chExt cx="6164262" cy="2302713"/>
          </a:xfrm>
        </p:grpSpPr>
        <p:sp>
          <p:nvSpPr>
            <p:cNvPr id="16" name="Oval 4"/>
            <p:cNvSpPr>
              <a:spLocks noChangeArrowheads="1"/>
            </p:cNvSpPr>
            <p:nvPr/>
          </p:nvSpPr>
          <p:spPr bwMode="auto">
            <a:xfrm>
              <a:off x="3803196" y="1581831"/>
              <a:ext cx="1247775" cy="504825"/>
            </a:xfrm>
            <a:prstGeom prst="ellipse">
              <a:avLst/>
            </a:prstGeom>
            <a:solidFill>
              <a:srgbClr val="CCFFCC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endParaRPr kumimoji="0" lang="ko-KR" altLang="en-US" sz="1800">
                <a:latin typeface="맑은 고딕" pitchFamily="50" charset="-127"/>
                <a:ea typeface="맑은 고딕" pitchFamily="50" charset="-127"/>
                <a:cs typeface="HY견고딕"/>
              </a:endParaRPr>
            </a:p>
          </p:txBody>
        </p:sp>
        <p:sp>
          <p:nvSpPr>
            <p:cNvPr id="17" name="Oval 5"/>
            <p:cNvSpPr>
              <a:spLocks noChangeArrowheads="1"/>
            </p:cNvSpPr>
            <p:nvPr/>
          </p:nvSpPr>
          <p:spPr bwMode="auto">
            <a:xfrm>
              <a:off x="3803196" y="2878818"/>
              <a:ext cx="1247775" cy="504825"/>
            </a:xfrm>
            <a:prstGeom prst="ellipse">
              <a:avLst/>
            </a:prstGeom>
            <a:solidFill>
              <a:srgbClr val="CCFFCC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endParaRPr kumimoji="0" lang="ko-KR" altLang="en-US" sz="1800">
                <a:latin typeface="맑은 고딕" pitchFamily="50" charset="-127"/>
                <a:ea typeface="맑은 고딕" pitchFamily="50" charset="-127"/>
                <a:cs typeface="HY견고딕"/>
              </a:endParaRPr>
            </a:p>
          </p:txBody>
        </p:sp>
        <p:sp>
          <p:nvSpPr>
            <p:cNvPr id="18" name="Oval 6"/>
            <p:cNvSpPr>
              <a:spLocks noChangeArrowheads="1"/>
            </p:cNvSpPr>
            <p:nvPr/>
          </p:nvSpPr>
          <p:spPr bwMode="auto">
            <a:xfrm>
              <a:off x="6376534" y="2158093"/>
              <a:ext cx="1249362" cy="504825"/>
            </a:xfrm>
            <a:prstGeom prst="ellipse">
              <a:avLst/>
            </a:prstGeom>
            <a:solidFill>
              <a:srgbClr val="FFC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spcBef>
                  <a:spcPct val="50000"/>
                </a:spcBef>
                <a:buClr>
                  <a:srgbClr val="0033CC"/>
                </a:buClr>
                <a:defRPr/>
              </a:pPr>
              <a:endParaRPr kumimoji="0" lang="ko-KR" altLang="en-US" sz="1800">
                <a:latin typeface="맑은 고딕" pitchFamily="50" charset="-127"/>
                <a:ea typeface="맑은 고딕" pitchFamily="50" charset="-127"/>
                <a:cs typeface="HY견고딕"/>
              </a:endParaRPr>
            </a:p>
          </p:txBody>
        </p:sp>
        <p:sp>
          <p:nvSpPr>
            <p:cNvPr id="61457" name="Text Box 7"/>
            <p:cNvSpPr txBox="1">
              <a:spLocks noChangeArrowheads="1"/>
            </p:cNvSpPr>
            <p:nvPr/>
          </p:nvSpPr>
          <p:spPr bwMode="auto">
            <a:xfrm>
              <a:off x="4122284" y="2039031"/>
              <a:ext cx="784439" cy="502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G Omega"/>
                  <a:ea typeface="돋움" panose="020B0600000101010101" pitchFamily="50" charset="-127"/>
                </a:rPr>
                <a:t>UC1</a:t>
              </a:r>
            </a:p>
          </p:txBody>
        </p:sp>
        <p:sp>
          <p:nvSpPr>
            <p:cNvPr id="61458" name="Text Box 8"/>
            <p:cNvSpPr txBox="1">
              <a:spLocks noChangeArrowheads="1"/>
            </p:cNvSpPr>
            <p:nvPr/>
          </p:nvSpPr>
          <p:spPr bwMode="auto">
            <a:xfrm>
              <a:off x="4122284" y="3382055"/>
              <a:ext cx="784439" cy="502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G Omega"/>
                  <a:ea typeface="돋움" panose="020B0600000101010101" pitchFamily="50" charset="-127"/>
                </a:rPr>
                <a:t>UC2</a:t>
              </a:r>
            </a:p>
          </p:txBody>
        </p:sp>
        <p:sp>
          <p:nvSpPr>
            <p:cNvPr id="61459" name="Text Box 9"/>
            <p:cNvSpPr txBox="1">
              <a:spLocks noChangeArrowheads="1"/>
            </p:cNvSpPr>
            <p:nvPr/>
          </p:nvSpPr>
          <p:spPr bwMode="auto">
            <a:xfrm>
              <a:off x="6611484" y="2662918"/>
              <a:ext cx="784439" cy="502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G Omega"/>
                  <a:ea typeface="돋움" panose="020B0600000101010101" pitchFamily="50" charset="-127"/>
                </a:rPr>
                <a:t>UC3</a:t>
              </a:r>
            </a:p>
          </p:txBody>
        </p:sp>
        <p:grpSp>
          <p:nvGrpSpPr>
            <p:cNvPr id="61460" name="Group 10"/>
            <p:cNvGrpSpPr>
              <a:grpSpLocks/>
            </p:cNvGrpSpPr>
            <p:nvPr/>
          </p:nvGrpSpPr>
          <p:grpSpPr bwMode="auto">
            <a:xfrm>
              <a:off x="1461634" y="2093006"/>
              <a:ext cx="469900" cy="792162"/>
              <a:chOff x="793" y="1979"/>
              <a:chExt cx="273" cy="499"/>
            </a:xfrm>
          </p:grpSpPr>
          <p:sp>
            <p:nvSpPr>
              <p:cNvPr id="61467" name="Oval 11"/>
              <p:cNvSpPr>
                <a:spLocks noChangeArrowheads="1"/>
              </p:cNvSpPr>
              <p:nvPr/>
            </p:nvSpPr>
            <p:spPr bwMode="auto">
              <a:xfrm>
                <a:off x="839" y="1979"/>
                <a:ext cx="181" cy="13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61468" name="Line 12"/>
              <p:cNvSpPr>
                <a:spLocks noChangeShapeType="1"/>
              </p:cNvSpPr>
              <p:nvPr/>
            </p:nvSpPr>
            <p:spPr bwMode="auto">
              <a:xfrm>
                <a:off x="793" y="2205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69" name="Line 13"/>
              <p:cNvSpPr>
                <a:spLocks noChangeShapeType="1"/>
              </p:cNvSpPr>
              <p:nvPr/>
            </p:nvSpPr>
            <p:spPr bwMode="auto">
              <a:xfrm>
                <a:off x="930" y="2115"/>
                <a:ext cx="0" cy="2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70" name="Line 14"/>
              <p:cNvSpPr>
                <a:spLocks noChangeShapeType="1"/>
              </p:cNvSpPr>
              <p:nvPr/>
            </p:nvSpPr>
            <p:spPr bwMode="auto">
              <a:xfrm flipH="1">
                <a:off x="793" y="2341"/>
                <a:ext cx="137" cy="13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71" name="Line 15"/>
              <p:cNvSpPr>
                <a:spLocks noChangeShapeType="1"/>
              </p:cNvSpPr>
              <p:nvPr/>
            </p:nvSpPr>
            <p:spPr bwMode="auto">
              <a:xfrm>
                <a:off x="930" y="2341"/>
                <a:ext cx="136" cy="13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1461" name="Line 16"/>
            <p:cNvSpPr>
              <a:spLocks noChangeShapeType="1"/>
            </p:cNvSpPr>
            <p:nvPr/>
          </p:nvSpPr>
          <p:spPr bwMode="auto">
            <a:xfrm flipV="1">
              <a:off x="2085521" y="1877106"/>
              <a:ext cx="1717675" cy="576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2" name="Line 17"/>
            <p:cNvSpPr>
              <a:spLocks noChangeShapeType="1"/>
            </p:cNvSpPr>
            <p:nvPr/>
          </p:nvSpPr>
          <p:spPr bwMode="auto">
            <a:xfrm>
              <a:off x="2085521" y="2453368"/>
              <a:ext cx="1717675" cy="574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3" name="Line 18"/>
            <p:cNvSpPr>
              <a:spLocks noChangeShapeType="1"/>
            </p:cNvSpPr>
            <p:nvPr/>
          </p:nvSpPr>
          <p:spPr bwMode="auto">
            <a:xfrm flipV="1">
              <a:off x="5050971" y="2453368"/>
              <a:ext cx="1325563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4" name="Line 19"/>
            <p:cNvSpPr>
              <a:spLocks noChangeShapeType="1"/>
            </p:cNvSpPr>
            <p:nvPr/>
          </p:nvSpPr>
          <p:spPr bwMode="auto">
            <a:xfrm>
              <a:off x="5050971" y="1804081"/>
              <a:ext cx="1325563" cy="649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5" name="Text Box 20"/>
            <p:cNvSpPr txBox="1">
              <a:spLocks noChangeArrowheads="1"/>
            </p:cNvSpPr>
            <p:nvPr/>
          </p:nvSpPr>
          <p:spPr bwMode="auto">
            <a:xfrm>
              <a:off x="5050971" y="1805668"/>
              <a:ext cx="129540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>
                  <a:latin typeface="CG Omega"/>
                  <a:ea typeface="돋움" panose="020B0600000101010101" pitchFamily="50" charset="-127"/>
                </a:rPr>
                <a:t>&lt;&lt;include&gt;&gt;</a:t>
              </a:r>
            </a:p>
          </p:txBody>
        </p:sp>
        <p:sp>
          <p:nvSpPr>
            <p:cNvPr id="61466" name="Text Box 21"/>
            <p:cNvSpPr txBox="1">
              <a:spLocks noChangeArrowheads="1"/>
            </p:cNvSpPr>
            <p:nvPr/>
          </p:nvSpPr>
          <p:spPr bwMode="auto">
            <a:xfrm>
              <a:off x="5050971" y="2669268"/>
              <a:ext cx="129540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>
                  <a:latin typeface="CG Omega"/>
                  <a:ea typeface="돋움" panose="020B0600000101010101" pitchFamily="50" charset="-127"/>
                </a:rPr>
                <a:t>&lt;&lt;include&gt;&gt;</a:t>
              </a:r>
            </a:p>
          </p:txBody>
        </p:sp>
      </p:grp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6. </a:t>
            </a:r>
            <a:r>
              <a:rPr lang="ko-KR" altLang="en-US" sz="1800" smtClean="0">
                <a:solidFill>
                  <a:srgbClr val="000000"/>
                </a:solidFill>
              </a:rPr>
              <a:t>설계 모델 리딩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endParaRPr lang="en-US" altLang="ko-KR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비즈니스 컴포넌트 정의 활동으로 식별된 컴포넌트를 구현하기 위하여 개발 환경에 맞춰 컴포넌트 내부와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유스케이스의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구현 설계를 수행할 수 있도록 설계에 대한 기준을 제시하는 것에 목적이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556" name="Rectangle 6"/>
          <p:cNvSpPr>
            <a:spLocks noChangeArrowheads="1"/>
          </p:cNvSpPr>
          <p:nvPr/>
        </p:nvSpPr>
        <p:spPr bwMode="auto">
          <a:xfrm>
            <a:off x="3171825" y="1997075"/>
            <a:ext cx="3598863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6.1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설계 모델 표준 정의 및 가이드 작성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설계 원칙 이해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(w/ SA)</a:t>
            </a: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설계 모델 표준 정의 및 모델링 가이드 작성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6.2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공통 컴포넌트 설계 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공통 컴포넌트 설계 모델링 협업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6.3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설계단계 인스펙션 및 관리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설계 산출물 리뷰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(w/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방법론담당자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QA)</a:t>
            </a: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요구사항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분석모델과의 일관성 검증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(QA)</a:t>
            </a: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buFontTx/>
              <a:buAutoNum type="arabicPeriod"/>
              <a:defRPr/>
            </a:pPr>
            <a:endParaRPr lang="en-US" altLang="zh-CN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493" name="TextBox 14"/>
          <p:cNvSpPr txBox="1">
            <a:spLocks noChangeArrowheads="1"/>
          </p:cNvSpPr>
          <p:nvPr/>
        </p:nvSpPr>
        <p:spPr bwMode="auto">
          <a:xfrm>
            <a:off x="504825" y="2016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유스케이스 분석서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소프트웨어 아키텍처 정의서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공통 컴포넌트 목록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컴포넌트 명세서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/>
            <a:endParaRPr lang="ko-KR" altLang="en-US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558" name="TextBox 15"/>
          <p:cNvSpPr txBox="1">
            <a:spLocks noChangeArrowheads="1"/>
          </p:cNvSpPr>
          <p:nvPr/>
        </p:nvSpPr>
        <p:spPr bwMode="auto">
          <a:xfrm>
            <a:off x="7296150" y="2006600"/>
            <a:ext cx="2085975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설계 모델링 가이드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개발 표준 가이드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(SA</a:t>
            </a:r>
            <a:r>
              <a:rPr lang="en-US" altLang="ko-KR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dirty="0">
              <a:solidFill>
                <a:schemeClr val="bg2">
                  <a:lumMod val="60000"/>
                  <a:lumOff val="4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 err="1">
                <a:latin typeface="맑은 고딕" pitchFamily="50" charset="-127"/>
                <a:ea typeface="맑은 고딕" pitchFamily="50" charset="-127"/>
              </a:rPr>
              <a:t>공통팀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설계단계 산출물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(w/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공통설계자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설계단계 인스펙션 수행 결과서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(QA)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495" name="TextBox 14"/>
          <p:cNvSpPr txBox="1">
            <a:spLocks noChangeArrowheads="1"/>
          </p:cNvSpPr>
          <p:nvPr/>
        </p:nvSpPr>
        <p:spPr bwMode="auto">
          <a:xfrm>
            <a:off x="504825" y="4778375"/>
            <a:ext cx="2162175" cy="1368425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소프트웨어 아키텍처 수립이 완료되어 있어야 함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Char char="-"/>
            </a:pPr>
            <a:endParaRPr lang="ko-KR" altLang="en-US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496" name="TextBox 15"/>
          <p:cNvSpPr txBox="1">
            <a:spLocks noChangeArrowheads="1"/>
          </p:cNvSpPr>
          <p:nvPr/>
        </p:nvSpPr>
        <p:spPr bwMode="auto">
          <a:xfrm>
            <a:off x="7296150" y="4759325"/>
            <a:ext cx="2105025" cy="1398588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설계 모델 가이드에 대한 이해관계자의 합의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개발 표준에 대한 공통 및 아키텍처 팀의 검증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관련자들에게 소개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설명</a:t>
            </a:r>
          </a:p>
        </p:txBody>
      </p:sp>
      <p:sp>
        <p:nvSpPr>
          <p:cNvPr id="63497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765425" y="2538413"/>
            <a:ext cx="301625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63498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875463" y="2538413"/>
            <a:ext cx="298450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23" name="위쪽/아래쪽 화살표 22"/>
          <p:cNvSpPr/>
          <p:nvPr/>
        </p:nvSpPr>
        <p:spPr bwMode="auto">
          <a:xfrm>
            <a:off x="4648200" y="5025700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ea typeface="굴림" charset="-127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3159125" y="1701800"/>
            <a:ext cx="3622675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506413" y="1728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</a:rPr>
              <a:t>Input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7288213" y="1712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506413" y="4498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</a:rPr>
              <a:t>Prerequisite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7288213" y="4491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</a:rPr>
              <a:t>Criteria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24" name="AutoShape 73"/>
          <p:cNvSpPr>
            <a:spLocks noChangeArrowheads="1"/>
          </p:cNvSpPr>
          <p:nvPr/>
        </p:nvSpPr>
        <p:spPr bwMode="auto">
          <a:xfrm>
            <a:off x="3322638" y="5486400"/>
            <a:ext cx="600075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방법론 담당자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25" name="AutoShape 73"/>
          <p:cNvSpPr>
            <a:spLocks noChangeArrowheads="1"/>
          </p:cNvSpPr>
          <p:nvPr/>
        </p:nvSpPr>
        <p:spPr bwMode="auto">
          <a:xfrm>
            <a:off x="5902325" y="5497513"/>
            <a:ext cx="681038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SW</a:t>
            </a:r>
          </a:p>
          <a:p>
            <a:pPr algn="ctr" eaLnBrk="1" hangingPunct="1">
              <a:defRPr/>
            </a:pPr>
            <a:r>
              <a:rPr lang="ko-KR" altLang="en-US" sz="1050" b="0" dirty="0" err="1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아키텍트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26" name="AutoShape 73"/>
          <p:cNvSpPr>
            <a:spLocks noChangeArrowheads="1"/>
          </p:cNvSpPr>
          <p:nvPr/>
        </p:nvSpPr>
        <p:spPr bwMode="auto">
          <a:xfrm>
            <a:off x="5254625" y="5489575"/>
            <a:ext cx="566738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분석</a:t>
            </a: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/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설계자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27" name="AutoShape 73"/>
          <p:cNvSpPr>
            <a:spLocks noChangeArrowheads="1"/>
          </p:cNvSpPr>
          <p:nvPr/>
        </p:nvSpPr>
        <p:spPr bwMode="auto">
          <a:xfrm>
            <a:off x="4572000" y="5491163"/>
            <a:ext cx="612775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 err="1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공통팀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28" name="AutoShape 73"/>
          <p:cNvSpPr>
            <a:spLocks noChangeArrowheads="1"/>
          </p:cNvSpPr>
          <p:nvPr/>
        </p:nvSpPr>
        <p:spPr bwMode="auto">
          <a:xfrm>
            <a:off x="3997325" y="5491163"/>
            <a:ext cx="506413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AA, QA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6. </a:t>
            </a:r>
            <a:r>
              <a:rPr lang="ko-KR" altLang="en-US" sz="1800" smtClean="0">
                <a:solidFill>
                  <a:srgbClr val="000000"/>
                </a:solidFill>
              </a:rPr>
              <a:t>설계 모델 리딩 </a:t>
            </a:r>
            <a:r>
              <a:rPr lang="en-US" altLang="ko-KR" sz="1800" smtClean="0">
                <a:solidFill>
                  <a:srgbClr val="000000"/>
                </a:solidFill>
              </a:rPr>
              <a:t>&gt; 6.1 </a:t>
            </a:r>
            <a:r>
              <a:rPr lang="ko-KR" altLang="en-US" sz="1800" smtClean="0">
                <a:solidFill>
                  <a:srgbClr val="000000"/>
                </a:solidFill>
              </a:rPr>
              <a:t>설계 모델 표준 정의 및 가이드 작성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210675" cy="17176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 업무 설명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 모델의 패턴과 표준을 정의하는 작업은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SW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아키텍처 정의나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프로토타입이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선행되어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SW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아키텍처에 대한 구현 방안이 먼저 결정되어 있어야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SW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아키텍처 정의서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개발표준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프레임워크 및 솔루션 가이드 등을 참고하여 기술된 구성요소와 아키텍처 원칙을 이해하고 설계 모델 표준을 정의한다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함께 설계 모델 표준에 구현 환경이 충분히 반영되었는지 검토 한 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결정되는 내용에 따라 설계 모델링 가이드를 작성한다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분석 설계자에게 작성된 가이드를 배포하고 관련된 교육을 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pic>
        <p:nvPicPr>
          <p:cNvPr id="645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2816225"/>
            <a:ext cx="2825750" cy="11398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7" name="TextBox 151"/>
          <p:cNvSpPr txBox="1">
            <a:spLocks noChangeArrowheads="1"/>
          </p:cNvSpPr>
          <p:nvPr/>
        </p:nvSpPr>
        <p:spPr bwMode="auto">
          <a:xfrm>
            <a:off x="280988" y="6167438"/>
            <a:ext cx="31718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작성된 아키텍처 구현 원칙들 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4518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663" y="2905125"/>
            <a:ext cx="2432050" cy="2900363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9" name="TextBox 151"/>
          <p:cNvSpPr txBox="1">
            <a:spLocks noChangeArrowheads="1"/>
          </p:cNvSpPr>
          <p:nvPr/>
        </p:nvSpPr>
        <p:spPr bwMode="auto">
          <a:xfrm>
            <a:off x="3257550" y="6157913"/>
            <a:ext cx="400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 설계 메커니즘을 반영한 분석과 설계 클래스 맵핑기준 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4520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7"/>
          <a:stretch>
            <a:fillRect/>
          </a:stretch>
        </p:blipFill>
        <p:spPr bwMode="auto">
          <a:xfrm>
            <a:off x="6986588" y="2943225"/>
            <a:ext cx="270668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21" name="TextBox 151"/>
          <p:cNvSpPr txBox="1">
            <a:spLocks noChangeArrowheads="1"/>
          </p:cNvSpPr>
          <p:nvPr/>
        </p:nvSpPr>
        <p:spPr bwMode="auto">
          <a:xfrm>
            <a:off x="6746875" y="5935663"/>
            <a:ext cx="31591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설계 클래스다이어그램 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4522" name="그림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30"/>
          <a:stretch>
            <a:fillRect/>
          </a:stretch>
        </p:blipFill>
        <p:spPr bwMode="auto">
          <a:xfrm>
            <a:off x="250825" y="4090988"/>
            <a:ext cx="3079750" cy="204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오른쪽 화살표 12"/>
          <p:cNvSpPr/>
          <p:nvPr/>
        </p:nvSpPr>
        <p:spPr bwMode="auto">
          <a:xfrm>
            <a:off x="3128963" y="4062413"/>
            <a:ext cx="858837" cy="498475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dirty="0">
                <a:latin typeface="맑은 고딕" pitchFamily="50" charset="-127"/>
                <a:ea typeface="맑은 고딕" pitchFamily="50" charset="-127"/>
              </a:rPr>
              <a:t>설계 원칙 반영</a:t>
            </a:r>
          </a:p>
        </p:txBody>
      </p:sp>
      <p:sp>
        <p:nvSpPr>
          <p:cNvPr id="14" name="오른쪽 화살표 13"/>
          <p:cNvSpPr/>
          <p:nvPr/>
        </p:nvSpPr>
        <p:spPr bwMode="auto">
          <a:xfrm>
            <a:off x="6326188" y="4008438"/>
            <a:ext cx="931862" cy="498475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dirty="0">
                <a:latin typeface="맑은 고딕" pitchFamily="50" charset="-127"/>
                <a:ea typeface="맑은 고딕" pitchFamily="50" charset="-127"/>
              </a:rPr>
              <a:t>가이드 내용 반영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6. </a:t>
            </a:r>
            <a:r>
              <a:rPr lang="ko-KR" altLang="en-US" sz="1800" smtClean="0">
                <a:solidFill>
                  <a:srgbClr val="000000"/>
                </a:solidFill>
              </a:rPr>
              <a:t>설계 모델 리딩 </a:t>
            </a:r>
            <a:r>
              <a:rPr lang="en-US" altLang="ko-KR" sz="1800" smtClean="0">
                <a:solidFill>
                  <a:srgbClr val="000000"/>
                </a:solidFill>
              </a:rPr>
              <a:t>&gt; 6.2 </a:t>
            </a:r>
            <a:r>
              <a:rPr lang="ko-KR" altLang="en-US" sz="1800" smtClean="0">
                <a:solidFill>
                  <a:srgbClr val="000000"/>
                </a:solidFill>
              </a:rPr>
              <a:t>공통 컴포넌트 설계 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26400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 분석을 통해 도출된 공통 컴포넌트는 공통 팀에서 분석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개발을 진행한다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이때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설계 모델링 가이드에 따라 공통팀의 분석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설계자와 협력하여 공통 컴포넌트 설계를 진행한다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 업무 설명 </a:t>
            </a: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공통컴포넌트 설계 모델링 협업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719138" lvl="2" indent="-360363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 모델 결과에 따라 공통 컴포넌트 설계를 공통설계 담당자와 같이 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719138" lvl="2" indent="-360363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그에 따른 공통 컴포넌트 사용 가이드를 작성하여 배포하도록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유의 사항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공통팀의 팀원으로 공통 컴포넌트에 대해서는 직접적으로 설계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리딩을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담당하나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공통팀의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구성에 따라 직접 설계 모델링 및 개발을 수행할 수도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6. </a:t>
            </a:r>
            <a:r>
              <a:rPr lang="ko-KR" altLang="en-US" sz="1800" smtClean="0">
                <a:solidFill>
                  <a:srgbClr val="000000"/>
                </a:solidFill>
              </a:rPr>
              <a:t>설계 모델 리딩 </a:t>
            </a:r>
            <a:r>
              <a:rPr lang="en-US" altLang="ko-KR" sz="1800" smtClean="0">
                <a:solidFill>
                  <a:srgbClr val="000000"/>
                </a:solidFill>
              </a:rPr>
              <a:t>&gt; 6.3 </a:t>
            </a:r>
            <a:r>
              <a:rPr lang="ko-KR" altLang="en-US" sz="1800" smtClean="0">
                <a:solidFill>
                  <a:srgbClr val="000000"/>
                </a:solidFill>
              </a:rPr>
              <a:t>설계 산출물 인스펙션 및 관리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23447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 업무 설명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인스펙션 계획 수립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진행상황 체크 등 전체적인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리딩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및 관리를 담당하며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AA,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방법론 담당자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분석 설계자는 수행을 담당한다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단계에서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역할은 다음과 같다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1273175" lvl="4" indent="-373063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err="1">
                <a:latin typeface="맑은 고딕" pitchFamily="50" charset="-127"/>
                <a:ea typeface="맑은 고딕" pitchFamily="50" charset="-127"/>
              </a:rPr>
              <a:t>테일러링</a:t>
            </a:r>
            <a:r>
              <a:rPr lang="ko-KR" altLang="en-US" sz="1200" b="0" kern="0">
                <a:latin typeface="맑은 고딕" pitchFamily="50" charset="-127"/>
                <a:ea typeface="맑은 고딕" pitchFamily="50" charset="-127"/>
              </a:rPr>
              <a:t> 내역서를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참고하여 작성되는 산출물들의 표준 체크리스트를 프로젝트 상황에 맞게 수정하고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에게 전달한다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때 유스케이스 모델과 연관되어 체크되어야 하는 내용들도 작성하여 배포한다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1273175" lvl="4" indent="-373063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인스펙션을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수행하여 리뷰 의견서를 작성하여 배포하고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조치사항을 확인한다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4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 응용계층 정의는 전체 컴포넌트 관계도로 대체 가능하며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컴포넌트 내부 구조를 나타내는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AV5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 프로그램 목록은 설계 단계의 시퀀스 다이어그램으로 대체할 수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15975" lvl="3" indent="-373063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분석 설계자 인스펙션 수행과 함께 요구사항 추척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메트릭스를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작성하여 분석 모델과 컴포넌트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 클래스들간의 연결관계를 관리한다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" t="1273" b="17807"/>
          <a:stretch>
            <a:fillRect/>
          </a:stretch>
        </p:blipFill>
        <p:spPr bwMode="auto">
          <a:xfrm>
            <a:off x="4354513" y="3214688"/>
            <a:ext cx="4789487" cy="28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3" name="TextBox 151"/>
          <p:cNvSpPr txBox="1">
            <a:spLocks noChangeArrowheads="1"/>
          </p:cNvSpPr>
          <p:nvPr/>
        </p:nvSpPr>
        <p:spPr bwMode="auto">
          <a:xfrm>
            <a:off x="2781300" y="6234113"/>
            <a:ext cx="400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설계 단계의 컴포넌트와 시퀀스 다이어그램 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86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3884613"/>
            <a:ext cx="2649537" cy="148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오른쪽 화살표 6"/>
          <p:cNvSpPr/>
          <p:nvPr/>
        </p:nvSpPr>
        <p:spPr bwMode="auto">
          <a:xfrm>
            <a:off x="3327400" y="4318000"/>
            <a:ext cx="1414463" cy="592138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dirty="0">
                <a:latin typeface="맑은 고딕" pitchFamily="50" charset="-127"/>
                <a:ea typeface="맑은 고딕" pitchFamily="50" charset="-127"/>
              </a:rPr>
              <a:t>컴포넌트 내부 </a:t>
            </a:r>
            <a:endParaRPr lang="en-US" altLang="ko-KR" sz="900" dirty="0"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dirty="0">
                <a:latin typeface="맑은 고딕" pitchFamily="50" charset="-127"/>
                <a:ea typeface="맑은 고딕" pitchFamily="50" charset="-127"/>
              </a:rPr>
              <a:t>클래스의 흐름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7. </a:t>
            </a:r>
            <a:r>
              <a:rPr lang="ko-KR" altLang="en-US" sz="1800" smtClean="0">
                <a:solidFill>
                  <a:srgbClr val="000000"/>
                </a:solidFill>
              </a:rPr>
              <a:t>프로토타입 진행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10525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프로토타입을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다른 용어로 선도개발이라고 부르기도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주로 금융권에서 사용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).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프로토타입의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주목적은 구현해야 할 응용시스템의 최종모습의 주요한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일부기능을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축소하여 프로젝트 초반부에 구현함으로써 초반에 수립한 소프트웨어 아키텍처의 검증을 수행하여 발생한 이슈나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리스크를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사전에 해결하기 위함이다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또한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프로토타입을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통해 고객에게 응용시스템의 실제모습을 제공하여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의사소통함으로써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고객의 요구사항에 대해 보다 적극적으로 대처할 수 있게 함이다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505200" y="2124075"/>
            <a:ext cx="2933700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7.1 </a:t>
            </a:r>
            <a:r>
              <a:rPr lang="ko-KR" altLang="en-US" sz="1200" dirty="0" err="1"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준비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 err="1"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구현기능 범위 선정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 err="1"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개발 계획서 작성 및 검토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개발 환경 구축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(w/ SA)</a:t>
            </a: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7.2 </a:t>
            </a:r>
            <a:r>
              <a:rPr lang="ko-KR" altLang="en-US" sz="1200" dirty="0" err="1"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수행 및 결과 발표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 err="1"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수행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 err="1"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결과 발표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팀원 의견 피드백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661" name="TextBox 14"/>
          <p:cNvSpPr txBox="1">
            <a:spLocks noChangeArrowheads="1"/>
          </p:cNvSpPr>
          <p:nvPr/>
        </p:nvSpPr>
        <p:spPr bwMode="auto">
          <a:xfrm>
            <a:off x="504825" y="2143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소프트웨어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아키텍처 정의서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초안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분석서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7296150" y="2133600"/>
            <a:ext cx="2085975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 err="1"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계획서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 err="1"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결과서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응용시스템 설계 가이드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정제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응용시스템 개발 표준 및 가이드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정제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)(SA)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AutoShape 73"/>
          <p:cNvSpPr>
            <a:spLocks noChangeArrowheads="1"/>
          </p:cNvSpPr>
          <p:nvPr/>
        </p:nvSpPr>
        <p:spPr bwMode="auto">
          <a:xfrm>
            <a:off x="4152900" y="5591175"/>
            <a:ext cx="809625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SA</a:t>
            </a:r>
          </a:p>
        </p:txBody>
      </p:sp>
      <p:sp>
        <p:nvSpPr>
          <p:cNvPr id="70664" name="TextBox 14"/>
          <p:cNvSpPr txBox="1">
            <a:spLocks noChangeArrowheads="1"/>
          </p:cNvSpPr>
          <p:nvPr/>
        </p:nvSpPr>
        <p:spPr bwMode="auto">
          <a:xfrm>
            <a:off x="504825" y="4905375"/>
            <a:ext cx="216217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프로토타입 수행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TF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멤버 구성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어플리케이션의 설계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개발에 관한 사전 표준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가이드의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Draft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70665" name="TextBox 15"/>
          <p:cNvSpPr txBox="1">
            <a:spLocks noChangeArrowheads="1"/>
          </p:cNvSpPr>
          <p:nvPr/>
        </p:nvSpPr>
        <p:spPr bwMode="auto">
          <a:xfrm>
            <a:off x="7296150" y="4886325"/>
            <a:ext cx="210502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프로토타입 결과에 대한 프로젝트 팀원 및 고객 발표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프로토타입 진행시 발생한 이슈의 해결방안 도출</a:t>
            </a:r>
          </a:p>
        </p:txBody>
      </p:sp>
      <p:sp>
        <p:nvSpPr>
          <p:cNvPr id="70666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800350" y="2665413"/>
            <a:ext cx="533400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70667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564313" y="2665413"/>
            <a:ext cx="598487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18" name="위쪽/아래쪽 화살표 17"/>
          <p:cNvSpPr/>
          <p:nvPr/>
        </p:nvSpPr>
        <p:spPr bwMode="auto">
          <a:xfrm>
            <a:off x="4648200" y="5153025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20" name="AutoShape 73"/>
          <p:cNvSpPr>
            <a:spLocks noChangeArrowheads="1"/>
          </p:cNvSpPr>
          <p:nvPr/>
        </p:nvSpPr>
        <p:spPr bwMode="auto">
          <a:xfrm>
            <a:off x="5029200" y="5591175"/>
            <a:ext cx="1417638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 err="1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공통팀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 및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  <a:p>
            <a:pPr algn="ctr" eaLnBrk="1" hangingPunct="1">
              <a:defRPr/>
            </a:pPr>
            <a:r>
              <a:rPr lang="ko-KR" altLang="en-US" sz="1050" b="0" dirty="0" err="1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프로토타입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 수행 </a:t>
            </a: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TF</a:t>
            </a:r>
          </a:p>
        </p:txBody>
      </p:sp>
      <p:sp>
        <p:nvSpPr>
          <p:cNvPr id="21" name="AutoShape 73"/>
          <p:cNvSpPr>
            <a:spLocks noChangeArrowheads="1"/>
          </p:cNvSpPr>
          <p:nvPr/>
        </p:nvSpPr>
        <p:spPr bwMode="auto">
          <a:xfrm>
            <a:off x="3276600" y="5591175"/>
            <a:ext cx="809625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업무 </a:t>
            </a: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PL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3494088" y="1828800"/>
            <a:ext cx="2952750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506413" y="1855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Input</a:t>
            </a: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7288213" y="1839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Output</a:t>
            </a: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506413" y="4625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Prerequisite</a:t>
            </a: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7288213" y="4618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  <a:latin typeface="Arial" charset="0"/>
              </a:rPr>
              <a:t>Criteria</a:t>
            </a:r>
            <a:endParaRPr lang="en-US" altLang="zh-CN" sz="1400" dirty="0">
              <a:solidFill>
                <a:schemeClr val="bg1"/>
              </a:solidFill>
              <a:latin typeface="Arial" charset="0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7. </a:t>
            </a:r>
            <a:r>
              <a:rPr lang="ko-KR" altLang="en-US" sz="1800" smtClean="0">
                <a:solidFill>
                  <a:srgbClr val="000000"/>
                </a:solidFill>
              </a:rPr>
              <a:t>프로토타입 진행 </a:t>
            </a:r>
            <a:r>
              <a:rPr lang="en-US" altLang="ko-KR" sz="1800" smtClean="0">
                <a:solidFill>
                  <a:srgbClr val="000000"/>
                </a:solidFill>
              </a:rPr>
              <a:t>&gt; 7.1 </a:t>
            </a:r>
            <a:r>
              <a:rPr lang="ko-KR" altLang="en-US" sz="1800" smtClean="0">
                <a:solidFill>
                  <a:srgbClr val="000000"/>
                </a:solidFill>
              </a:rPr>
              <a:t>프로토타입 준비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59642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수행업무 설명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수행업무의 </a:t>
            </a: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리딩은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어플리케이션 </a:t>
            </a: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아키텍트가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수행하되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주요 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Task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중 개발환경구성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기술검증 등은 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가 주축이 되어 수행하는 것이 좋다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프로토타입을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진행하기 위해서는 먼저 진행인력이 임시로 구성되어야 하는데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진행과정 전반에 걸쳐 어플리케이션 </a:t>
            </a: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아키텍트가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반드시 참여하여야 한다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어플리케이션 </a:t>
            </a: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아키텍트는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프로토타입에서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구현해야 할 업무기능 범위를 선정하고 확정하는 업무와 </a:t>
            </a: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프로토타입의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설계과정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개발 및 테스트 과정에 참여하고 그 산출물을 리뷰 해야 한다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또한 최종 결과의 발표는 고객과 프로젝트 팀원에게 어플리케이션 </a:t>
            </a: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아키텍트가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직접 발표하는 것이 좋다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준비 과정에서 어플리케이션 </a:t>
            </a: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아키텍트가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수행해야 할 세부 업무는 다음과 같다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구현 기능 범위 선정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일반적으로 핵심기능과 검증이 반드시 필요한 기능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고객이 특별히 </a:t>
            </a: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범위에 포함을 요구한 기능에 대해서 선정하되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가급적 범위를 최소화 한다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인력구성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프로젝트 팀원 들 중 주요 인원을 선정하여 임시 조직을 운영한다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(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각 역할 담당자 및 적정인력의 수는 소프트웨어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아키텍처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Asset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을 참조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계획서 작성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일정 및 정확한 목표 등이 포함되도록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SA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와 긴밀히 협조하여 작성한다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설계 및 개발 환경 구성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SA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가 주관하여 수행한다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endParaRPr lang="en-US" altLang="ko-KR" sz="12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endParaRPr lang="en-US" altLang="ko-KR" sz="12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endParaRPr lang="en-US" altLang="ko-KR" sz="12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 startAt="2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유의사항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프로토타입의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기간은 짧을 수록 효과적이나 목표를 명확히 하고 이를 달성할 수 있도록 해야 한다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일반적으로 소규모 프로젝트의 경우는 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주에서부터 대규모의 경우는 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3~4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개월까지 진행하는 경우도 있다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 startAt="2"/>
              <a:defRPr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684" name="AutoShape 2"/>
          <p:cNvSpPr>
            <a:spLocks noChangeArrowheads="1"/>
          </p:cNvSpPr>
          <p:nvPr/>
        </p:nvSpPr>
        <p:spPr bwMode="auto">
          <a:xfrm>
            <a:off x="1231900" y="3881438"/>
            <a:ext cx="6502400" cy="1611312"/>
          </a:xfrm>
          <a:prstGeom prst="homePlate">
            <a:avLst>
              <a:gd name="adj" fmla="val 15880"/>
            </a:avLst>
          </a:prstGeom>
          <a:gradFill rotWithShape="1">
            <a:gsLst>
              <a:gs pos="0">
                <a:srgbClr val="FFFFFF"/>
              </a:gs>
              <a:gs pos="100000">
                <a:srgbClr val="B5CEE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000" b="0"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1685" name="Rectangle 8" descr="s12"/>
          <p:cNvSpPr>
            <a:spLocks noChangeArrowheads="1"/>
          </p:cNvSpPr>
          <p:nvPr/>
        </p:nvSpPr>
        <p:spPr bwMode="auto">
          <a:xfrm>
            <a:off x="3224213" y="4900613"/>
            <a:ext cx="895350" cy="3905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 algn="ctr">
            <a:solidFill>
              <a:srgbClr val="77AEDB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개발 환경 구성</a:t>
            </a:r>
            <a:endParaRPr kumimoji="0" lang="en-US" altLang="ko-KR" sz="9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1686" name="Rectangle 14" descr="s12"/>
          <p:cNvSpPr>
            <a:spLocks noChangeArrowheads="1"/>
          </p:cNvSpPr>
          <p:nvPr/>
        </p:nvSpPr>
        <p:spPr bwMode="auto">
          <a:xfrm>
            <a:off x="1690688" y="5072063"/>
            <a:ext cx="846137" cy="460375"/>
          </a:xfrm>
          <a:prstGeom prst="rect">
            <a:avLst/>
          </a:prstGeom>
          <a:solidFill>
            <a:srgbClr val="00B0F0"/>
          </a:solidFill>
          <a:ln w="9525" algn="ctr">
            <a:solidFill>
              <a:srgbClr val="006699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선도개발팀 구성</a:t>
            </a:r>
            <a:r>
              <a: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계획 수립</a:t>
            </a:r>
            <a:endParaRPr kumimoji="0" lang="en-US" altLang="ko-KR" sz="9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1687" name="Rectangle 22" descr="s12"/>
          <p:cNvSpPr>
            <a:spLocks noChangeArrowheads="1"/>
          </p:cNvSpPr>
          <p:nvPr/>
        </p:nvSpPr>
        <p:spPr bwMode="auto">
          <a:xfrm>
            <a:off x="1855788" y="3871913"/>
            <a:ext cx="801687" cy="46037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 algn="ctr">
            <a:solidFill>
              <a:srgbClr val="77AEDB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기능범위 선정</a:t>
            </a:r>
          </a:p>
        </p:txBody>
      </p:sp>
      <p:sp>
        <p:nvSpPr>
          <p:cNvPr id="71688" name="Rectangle 27" descr="강-4단"/>
          <p:cNvSpPr>
            <a:spLocks noChangeArrowheads="1"/>
          </p:cNvSpPr>
          <p:nvPr/>
        </p:nvSpPr>
        <p:spPr bwMode="auto">
          <a:xfrm>
            <a:off x="3198813" y="3868738"/>
            <a:ext cx="925512" cy="4572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 algn="ctr">
            <a:solidFill>
              <a:srgbClr val="006699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분석</a:t>
            </a:r>
            <a:r>
              <a: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설계</a:t>
            </a:r>
            <a:endParaRPr kumimoji="0" lang="en-US" altLang="ko-KR" sz="9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1689" name="Rectangle 109" descr="s12"/>
          <p:cNvSpPr>
            <a:spLocks noChangeArrowheads="1"/>
          </p:cNvSpPr>
          <p:nvPr/>
        </p:nvSpPr>
        <p:spPr bwMode="auto">
          <a:xfrm>
            <a:off x="5878513" y="5011738"/>
            <a:ext cx="635000" cy="47148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 algn="ctr">
            <a:solidFill>
              <a:srgbClr val="77AEDB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결과 발표</a:t>
            </a:r>
          </a:p>
        </p:txBody>
      </p:sp>
      <p:cxnSp>
        <p:nvCxnSpPr>
          <p:cNvPr id="71690" name="AutoShape 25"/>
          <p:cNvCxnSpPr>
            <a:cxnSpLocks noChangeShapeType="1"/>
            <a:stCxn id="71699" idx="2"/>
            <a:endCxn id="71689" idx="0"/>
          </p:cNvCxnSpPr>
          <p:nvPr/>
        </p:nvCxnSpPr>
        <p:spPr bwMode="auto">
          <a:xfrm rot="16200000" flipH="1">
            <a:off x="6012657" y="4831556"/>
            <a:ext cx="171450" cy="1920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691" name="Rectangle 21" descr="강-4단"/>
          <p:cNvSpPr>
            <a:spLocks noChangeArrowheads="1"/>
          </p:cNvSpPr>
          <p:nvPr/>
        </p:nvSpPr>
        <p:spPr bwMode="auto">
          <a:xfrm>
            <a:off x="3965575" y="4422775"/>
            <a:ext cx="1357313" cy="420688"/>
          </a:xfrm>
          <a:prstGeom prst="rect">
            <a:avLst/>
          </a:prstGeom>
          <a:solidFill>
            <a:srgbClr val="00B0F0"/>
          </a:solidFill>
          <a:ln w="9525" algn="ctr">
            <a:solidFill>
              <a:srgbClr val="006699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설계 표준 및 개발 표준 수립 확정</a:t>
            </a:r>
            <a:r>
              <a: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가이드 작성 </a:t>
            </a:r>
          </a:p>
        </p:txBody>
      </p:sp>
      <p:sp>
        <p:nvSpPr>
          <p:cNvPr id="71692" name="Rectangle 14" descr="s12"/>
          <p:cNvSpPr>
            <a:spLocks noChangeArrowheads="1"/>
          </p:cNvSpPr>
          <p:nvPr/>
        </p:nvSpPr>
        <p:spPr bwMode="auto">
          <a:xfrm>
            <a:off x="2405063" y="4405313"/>
            <a:ext cx="1062037" cy="460375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 algn="ctr">
            <a:solidFill>
              <a:srgbClr val="77AEDB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초기 </a:t>
            </a:r>
            <a:r>
              <a: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Architecture </a:t>
            </a:r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수립</a:t>
            </a:r>
            <a:endParaRPr kumimoji="0" lang="en-US" altLang="ko-KR" sz="9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71693" name="직선 화살표 연결선 109"/>
          <p:cNvCxnSpPr>
            <a:cxnSpLocks noChangeShapeType="1"/>
            <a:endCxn id="71691" idx="0"/>
          </p:cNvCxnSpPr>
          <p:nvPr/>
        </p:nvCxnSpPr>
        <p:spPr bwMode="auto">
          <a:xfrm>
            <a:off x="4124325" y="4219575"/>
            <a:ext cx="520700" cy="203200"/>
          </a:xfrm>
          <a:prstGeom prst="bentConnector2">
            <a:avLst/>
          </a:prstGeom>
          <a:noFill/>
          <a:ln w="9525">
            <a:solidFill>
              <a:schemeClr val="bg2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694" name="직선 화살표 연결선 126"/>
          <p:cNvCxnSpPr>
            <a:cxnSpLocks noChangeShapeType="1"/>
            <a:stCxn id="71692" idx="3"/>
            <a:endCxn id="71688" idx="2"/>
          </p:cNvCxnSpPr>
          <p:nvPr/>
        </p:nvCxnSpPr>
        <p:spPr bwMode="auto">
          <a:xfrm flipV="1">
            <a:off x="3467100" y="4332288"/>
            <a:ext cx="193675" cy="304800"/>
          </a:xfrm>
          <a:prstGeom prst="bentConnector2">
            <a:avLst/>
          </a:prstGeom>
          <a:noFill/>
          <a:ln w="9525">
            <a:solidFill>
              <a:schemeClr val="bg2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695" name="직선 화살표 연결선 128"/>
          <p:cNvCxnSpPr>
            <a:cxnSpLocks noChangeShapeType="1"/>
            <a:stCxn id="71687" idx="3"/>
            <a:endCxn id="71688" idx="1"/>
          </p:cNvCxnSpPr>
          <p:nvPr/>
        </p:nvCxnSpPr>
        <p:spPr bwMode="auto">
          <a:xfrm flipV="1">
            <a:off x="2657475" y="4097338"/>
            <a:ext cx="541338" cy="4762"/>
          </a:xfrm>
          <a:prstGeom prst="straightConnector1">
            <a:avLst/>
          </a:prstGeom>
          <a:noFill/>
          <a:ln w="9525">
            <a:solidFill>
              <a:schemeClr val="bg2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696" name="꺾인 연결선 139"/>
          <p:cNvCxnSpPr>
            <a:cxnSpLocks noChangeShapeType="1"/>
            <a:stCxn id="71686" idx="0"/>
            <a:endCxn id="71687" idx="2"/>
          </p:cNvCxnSpPr>
          <p:nvPr/>
        </p:nvCxnSpPr>
        <p:spPr bwMode="auto">
          <a:xfrm rot="5400000" flipH="1" flipV="1">
            <a:off x="1816100" y="4630738"/>
            <a:ext cx="738187" cy="1412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697" name="Rectangle 21" descr="강-4단"/>
          <p:cNvSpPr>
            <a:spLocks noChangeArrowheads="1"/>
          </p:cNvSpPr>
          <p:nvPr/>
        </p:nvSpPr>
        <p:spPr bwMode="auto">
          <a:xfrm>
            <a:off x="4483100" y="3863975"/>
            <a:ext cx="769938" cy="461963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 algn="ctr">
            <a:solidFill>
              <a:srgbClr val="77AEDB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개발 구현</a:t>
            </a:r>
          </a:p>
        </p:txBody>
      </p:sp>
      <p:cxnSp>
        <p:nvCxnSpPr>
          <p:cNvPr id="71698" name="꺾인 연결선 45"/>
          <p:cNvCxnSpPr>
            <a:cxnSpLocks noChangeShapeType="1"/>
            <a:stCxn id="71685" idx="1"/>
            <a:endCxn id="71686" idx="3"/>
          </p:cNvCxnSpPr>
          <p:nvPr/>
        </p:nvCxnSpPr>
        <p:spPr bwMode="auto">
          <a:xfrm rot="10800000" flipV="1">
            <a:off x="2536825" y="5095875"/>
            <a:ext cx="687388" cy="2047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699" name="Rectangle 21" descr="강-4단"/>
          <p:cNvSpPr>
            <a:spLocks noChangeArrowheads="1"/>
          </p:cNvSpPr>
          <p:nvPr/>
        </p:nvSpPr>
        <p:spPr bwMode="auto">
          <a:xfrm>
            <a:off x="5607050" y="4422775"/>
            <a:ext cx="788988" cy="417513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 algn="ctr">
            <a:solidFill>
              <a:srgbClr val="77AEDB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최종 플랫폼 검증</a:t>
            </a:r>
            <a:r>
              <a:rPr kumimoji="0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정제</a:t>
            </a:r>
          </a:p>
        </p:txBody>
      </p:sp>
      <p:cxnSp>
        <p:nvCxnSpPr>
          <p:cNvPr id="71700" name="직선 화살표 연결선 109"/>
          <p:cNvCxnSpPr>
            <a:cxnSpLocks noChangeShapeType="1"/>
            <a:stCxn id="71688" idx="3"/>
          </p:cNvCxnSpPr>
          <p:nvPr/>
        </p:nvCxnSpPr>
        <p:spPr bwMode="auto">
          <a:xfrm>
            <a:off x="4124325" y="4103688"/>
            <a:ext cx="350838" cy="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01" name="직선 화살표 연결선 109"/>
          <p:cNvCxnSpPr>
            <a:cxnSpLocks noChangeShapeType="1"/>
            <a:endCxn id="71699" idx="0"/>
          </p:cNvCxnSpPr>
          <p:nvPr/>
        </p:nvCxnSpPr>
        <p:spPr bwMode="auto">
          <a:xfrm>
            <a:off x="5253038" y="4219575"/>
            <a:ext cx="749300" cy="203200"/>
          </a:xfrm>
          <a:prstGeom prst="bentConnector2">
            <a:avLst/>
          </a:prstGeom>
          <a:noFill/>
          <a:ln w="9525">
            <a:solidFill>
              <a:schemeClr val="bg2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02" name="직선 화살표 연결선 109"/>
          <p:cNvCxnSpPr>
            <a:cxnSpLocks noChangeShapeType="1"/>
            <a:stCxn id="71691" idx="1"/>
          </p:cNvCxnSpPr>
          <p:nvPr/>
        </p:nvCxnSpPr>
        <p:spPr bwMode="auto">
          <a:xfrm rot="10800000">
            <a:off x="3806825" y="4349750"/>
            <a:ext cx="158750" cy="284163"/>
          </a:xfrm>
          <a:prstGeom prst="bentConnector2">
            <a:avLst/>
          </a:prstGeom>
          <a:noFill/>
          <a:ln w="9525">
            <a:solidFill>
              <a:schemeClr val="bg2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03" name="직선 화살표 연결선 70"/>
          <p:cNvCxnSpPr>
            <a:cxnSpLocks noChangeShapeType="1"/>
            <a:stCxn id="71699" idx="1"/>
            <a:endCxn id="71691" idx="3"/>
          </p:cNvCxnSpPr>
          <p:nvPr/>
        </p:nvCxnSpPr>
        <p:spPr bwMode="auto">
          <a:xfrm rot="10800000" flipV="1">
            <a:off x="5322888" y="4632325"/>
            <a:ext cx="284162" cy="1588"/>
          </a:xfrm>
          <a:prstGeom prst="straightConnector1">
            <a:avLst/>
          </a:prstGeom>
          <a:noFill/>
          <a:ln w="9525">
            <a:solidFill>
              <a:schemeClr val="bg2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704" name="Rectangle 109" descr="s12"/>
          <p:cNvSpPr>
            <a:spLocks noChangeArrowheads="1"/>
          </p:cNvSpPr>
          <p:nvPr/>
        </p:nvSpPr>
        <p:spPr bwMode="auto">
          <a:xfrm>
            <a:off x="6823075" y="4994275"/>
            <a:ext cx="673100" cy="50165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 algn="ctr">
            <a:solidFill>
              <a:srgbClr val="77AEDB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전 업무 적용</a:t>
            </a:r>
          </a:p>
        </p:txBody>
      </p:sp>
      <p:sp>
        <p:nvSpPr>
          <p:cNvPr id="71705" name="Rectangle 8" descr="s12"/>
          <p:cNvSpPr>
            <a:spLocks noChangeArrowheads="1"/>
          </p:cNvSpPr>
          <p:nvPr/>
        </p:nvSpPr>
        <p:spPr bwMode="auto">
          <a:xfrm>
            <a:off x="6145213" y="3863975"/>
            <a:ext cx="622300" cy="446088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 algn="ctr">
            <a:solidFill>
              <a:srgbClr val="77AEDB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공통 모듈 개발</a:t>
            </a:r>
            <a:endParaRPr kumimoji="0" lang="en-US" altLang="ko-KR" sz="9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71706" name="직선 화살표 연결선 109"/>
          <p:cNvCxnSpPr>
            <a:cxnSpLocks noChangeShapeType="1"/>
            <a:stCxn id="71697" idx="3"/>
            <a:endCxn id="71705" idx="1"/>
          </p:cNvCxnSpPr>
          <p:nvPr/>
        </p:nvCxnSpPr>
        <p:spPr bwMode="auto">
          <a:xfrm flipV="1">
            <a:off x="5253038" y="4086225"/>
            <a:ext cx="892175" cy="95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07" name="직선 화살표 연결선 109"/>
          <p:cNvCxnSpPr>
            <a:cxnSpLocks noChangeShapeType="1"/>
            <a:stCxn id="71705" idx="3"/>
            <a:endCxn id="71704" idx="0"/>
          </p:cNvCxnSpPr>
          <p:nvPr/>
        </p:nvCxnSpPr>
        <p:spPr bwMode="auto">
          <a:xfrm>
            <a:off x="6767513" y="4086225"/>
            <a:ext cx="392112" cy="909638"/>
          </a:xfrm>
          <a:prstGeom prst="bentConnector2">
            <a:avLst/>
          </a:prstGeom>
          <a:noFill/>
          <a:ln w="9525">
            <a:solidFill>
              <a:schemeClr val="bg2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08" name="직선 화살표 연결선 109"/>
          <p:cNvCxnSpPr>
            <a:cxnSpLocks noChangeShapeType="1"/>
            <a:stCxn id="71689" idx="3"/>
            <a:endCxn id="71704" idx="1"/>
          </p:cNvCxnSpPr>
          <p:nvPr/>
        </p:nvCxnSpPr>
        <p:spPr bwMode="auto">
          <a:xfrm flipV="1">
            <a:off x="6513513" y="5245100"/>
            <a:ext cx="309562" cy="1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1709" name="Group 217"/>
          <p:cNvGrpSpPr>
            <a:grpSpLocks/>
          </p:cNvGrpSpPr>
          <p:nvPr/>
        </p:nvGrpSpPr>
        <p:grpSpPr bwMode="auto">
          <a:xfrm>
            <a:off x="7927975" y="4124325"/>
            <a:ext cx="1495425" cy="1017588"/>
            <a:chOff x="2199" y="3801"/>
            <a:chExt cx="2491" cy="189"/>
          </a:xfrm>
        </p:grpSpPr>
        <p:sp>
          <p:nvSpPr>
            <p:cNvPr id="71718" name="Rectangle 62"/>
            <p:cNvSpPr>
              <a:spLocks noChangeArrowheads="1"/>
            </p:cNvSpPr>
            <p:nvPr/>
          </p:nvSpPr>
          <p:spPr bwMode="auto">
            <a:xfrm>
              <a:off x="2343" y="3801"/>
              <a:ext cx="2347" cy="1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sz="11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719" name="Rectangle 63"/>
            <p:cNvSpPr>
              <a:spLocks noChangeArrowheads="1"/>
            </p:cNvSpPr>
            <p:nvPr/>
          </p:nvSpPr>
          <p:spPr bwMode="auto">
            <a:xfrm>
              <a:off x="2199" y="3801"/>
              <a:ext cx="359" cy="189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800" b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범</a:t>
              </a:r>
              <a:br>
                <a:rPr lang="ko-KR" altLang="en-US" sz="800" b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800" b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례</a:t>
              </a:r>
            </a:p>
          </p:txBody>
        </p:sp>
      </p:grpSp>
      <p:grpSp>
        <p:nvGrpSpPr>
          <p:cNvPr id="71710" name="Group 216"/>
          <p:cNvGrpSpPr>
            <a:grpSpLocks/>
          </p:cNvGrpSpPr>
          <p:nvPr/>
        </p:nvGrpSpPr>
        <p:grpSpPr bwMode="auto">
          <a:xfrm>
            <a:off x="8232775" y="4186238"/>
            <a:ext cx="965200" cy="166687"/>
            <a:chOff x="2549" y="3879"/>
            <a:chExt cx="821" cy="112"/>
          </a:xfrm>
        </p:grpSpPr>
        <p:sp>
          <p:nvSpPr>
            <p:cNvPr id="71716" name="Rectangle 21" descr="강-4단"/>
            <p:cNvSpPr>
              <a:spLocks noChangeArrowheads="1"/>
            </p:cNvSpPr>
            <p:nvPr/>
          </p:nvSpPr>
          <p:spPr bwMode="auto">
            <a:xfrm>
              <a:off x="2549" y="3879"/>
              <a:ext cx="211" cy="112"/>
            </a:xfrm>
            <a:prstGeom prst="rect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 algn="ctr">
              <a:solidFill>
                <a:srgbClr val="006699"/>
              </a:solidFill>
              <a:miter lim="800000"/>
              <a:headEnd/>
              <a:tailEnd/>
            </a:ln>
          </p:spPr>
          <p:txBody>
            <a:bodyPr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endParaRPr kumimoji="0" lang="ko-KR" altLang="en-US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71717" name="TextBox 344"/>
            <p:cNvSpPr txBox="1">
              <a:spLocks noChangeArrowheads="1"/>
            </p:cNvSpPr>
            <p:nvPr/>
          </p:nvSpPr>
          <p:spPr bwMode="auto">
            <a:xfrm>
              <a:off x="2758" y="3901"/>
              <a:ext cx="612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en-US" altLang="ko-KR" sz="700" b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AA </a:t>
              </a:r>
              <a:r>
                <a:rPr kumimoji="0" lang="ko-KR" altLang="en-US" sz="700" b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주관 영역</a:t>
              </a:r>
            </a:p>
          </p:txBody>
        </p:sp>
      </p:grpSp>
      <p:sp>
        <p:nvSpPr>
          <p:cNvPr id="71711" name="Rectangle 21" descr="강-4단"/>
          <p:cNvSpPr>
            <a:spLocks noChangeArrowheads="1"/>
          </p:cNvSpPr>
          <p:nvPr/>
        </p:nvSpPr>
        <p:spPr bwMode="auto">
          <a:xfrm>
            <a:off x="8237538" y="4529138"/>
            <a:ext cx="249237" cy="168275"/>
          </a:xfrm>
          <a:prstGeom prst="rect">
            <a:avLst/>
          </a:prstGeom>
          <a:solidFill>
            <a:srgbClr val="00B0F0"/>
          </a:solidFill>
          <a:ln w="9525" algn="ctr">
            <a:solidFill>
              <a:srgbClr val="006699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kumimoji="0" lang="ko-KR" altLang="en-US" sz="9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1712" name="TextBox 344"/>
          <p:cNvSpPr txBox="1">
            <a:spLocks noChangeArrowheads="1"/>
          </p:cNvSpPr>
          <p:nvPr/>
        </p:nvSpPr>
        <p:spPr bwMode="auto">
          <a:xfrm>
            <a:off x="8537575" y="4570413"/>
            <a:ext cx="60325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700" b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공동 수행 영역</a:t>
            </a:r>
          </a:p>
        </p:txBody>
      </p:sp>
      <p:sp>
        <p:nvSpPr>
          <p:cNvPr id="71713" name="Rectangle 21" descr="강-4단"/>
          <p:cNvSpPr>
            <a:spLocks noChangeArrowheads="1"/>
          </p:cNvSpPr>
          <p:nvPr/>
        </p:nvSpPr>
        <p:spPr bwMode="auto">
          <a:xfrm>
            <a:off x="8247063" y="4854575"/>
            <a:ext cx="249237" cy="166688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 algn="ctr">
            <a:solidFill>
              <a:srgbClr val="77AEDB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kumimoji="0" lang="ko-KR" altLang="en-US" sz="9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1714" name="TextBox 344"/>
          <p:cNvSpPr txBox="1">
            <a:spLocks noChangeArrowheads="1"/>
          </p:cNvSpPr>
          <p:nvPr/>
        </p:nvSpPr>
        <p:spPr bwMode="auto">
          <a:xfrm>
            <a:off x="8551863" y="4876800"/>
            <a:ext cx="49847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700" b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 </a:t>
            </a:r>
            <a:r>
              <a:rPr kumimoji="0" lang="ko-KR" altLang="en-US" sz="700" b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주관영역</a:t>
            </a:r>
          </a:p>
        </p:txBody>
      </p:sp>
      <p:sp>
        <p:nvSpPr>
          <p:cNvPr id="71715" name="TextBox 9"/>
          <p:cNvSpPr txBox="1">
            <a:spLocks noChangeArrowheads="1"/>
          </p:cNvSpPr>
          <p:nvPr/>
        </p:nvSpPr>
        <p:spPr bwMode="auto">
          <a:xfrm>
            <a:off x="2676525" y="5489575"/>
            <a:ext cx="35433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프로토타입 진행 절차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7. </a:t>
            </a:r>
            <a:r>
              <a:rPr lang="ko-KR" altLang="en-US" sz="1800" smtClean="0">
                <a:solidFill>
                  <a:srgbClr val="000000"/>
                </a:solidFill>
              </a:rPr>
              <a:t>프로토타입 진행 </a:t>
            </a:r>
            <a:r>
              <a:rPr lang="en-US" altLang="ko-KR" sz="1800" smtClean="0">
                <a:solidFill>
                  <a:srgbClr val="000000"/>
                </a:solidFill>
              </a:rPr>
              <a:t>&gt; 7.2. </a:t>
            </a:r>
            <a:r>
              <a:rPr lang="ko-KR" altLang="en-US" sz="1800" smtClean="0">
                <a:solidFill>
                  <a:srgbClr val="000000"/>
                </a:solidFill>
              </a:rPr>
              <a:t>프로토타입 수행 및 수행결과 발표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269413" cy="34909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수행업무 설명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수행 계획에서 수립된 대로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수행을 완료하면 그 결과로서 반드시 다음 다섯 가지 영역에 대한 수행 결과를 설명해야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유의사항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수행결과로서 반영해야 할 또 하나의 중요한 요소는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프로토타입에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참여한 팀원의 의견이다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이러한 피드백 된 의견을 통해 개선점을 정리하여 프로젝트 수행에 적절히 반영한다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프로토타입의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결과물은 일회용이 아니며 이를 기반으로 공통모듈을 확장하거나 개선하는 작업을 수행하도록 한다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이를 통해 프로젝트의 일정과 비용 측면에서 효과적으로 대응할 수 있다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2708" name="Picture 3" descr="spir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725" y="4473575"/>
            <a:ext cx="25146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11" descr="어두운 수평선"/>
          <p:cNvSpPr>
            <a:spLocks noChangeArrowheads="1"/>
          </p:cNvSpPr>
          <p:nvPr/>
        </p:nvSpPr>
        <p:spPr bwMode="auto">
          <a:xfrm>
            <a:off x="7426325" y="5768975"/>
            <a:ext cx="2217738" cy="338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 eaLnBrk="1" fontAlgn="t" hangingPunct="1">
              <a:spcBef>
                <a:spcPct val="20000"/>
              </a:spcBef>
              <a:defRPr/>
            </a:pP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소프트웨어 공학 중 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Component Assembly</a:t>
            </a: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 이론을 확장하여 적용함</a:t>
            </a:r>
          </a:p>
        </p:txBody>
      </p:sp>
      <p:sp>
        <p:nvSpPr>
          <p:cNvPr id="72710" name="Freeform 227"/>
          <p:cNvSpPr>
            <a:spLocks/>
          </p:cNvSpPr>
          <p:nvPr/>
        </p:nvSpPr>
        <p:spPr bwMode="auto">
          <a:xfrm rot="6207698">
            <a:off x="5997575" y="3565525"/>
            <a:ext cx="736600" cy="1841500"/>
          </a:xfrm>
          <a:custGeom>
            <a:avLst/>
            <a:gdLst>
              <a:gd name="T0" fmla="*/ 2147483646 w 640"/>
              <a:gd name="T1" fmla="*/ 2147483646 h 816"/>
              <a:gd name="T2" fmla="*/ 2147483646 w 640"/>
              <a:gd name="T3" fmla="*/ 2147483646 h 816"/>
              <a:gd name="T4" fmla="*/ 2147483646 w 640"/>
              <a:gd name="T5" fmla="*/ 2147483646 h 816"/>
              <a:gd name="T6" fmla="*/ 2147483646 w 640"/>
              <a:gd name="T7" fmla="*/ 2147483646 h 816"/>
              <a:gd name="T8" fmla="*/ 2147483646 w 640"/>
              <a:gd name="T9" fmla="*/ 2147483646 h 816"/>
              <a:gd name="T10" fmla="*/ 2147483646 w 640"/>
              <a:gd name="T11" fmla="*/ 2147483646 h 816"/>
              <a:gd name="T12" fmla="*/ 2147483646 w 640"/>
              <a:gd name="T13" fmla="*/ 2147483646 h 816"/>
              <a:gd name="T14" fmla="*/ 2147483646 w 640"/>
              <a:gd name="T15" fmla="*/ 2147483646 h 81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40"/>
              <a:gd name="T25" fmla="*/ 0 h 816"/>
              <a:gd name="T26" fmla="*/ 640 w 640"/>
              <a:gd name="T27" fmla="*/ 816 h 81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40" h="816">
                <a:moveTo>
                  <a:pt x="556" y="2"/>
                </a:moveTo>
                <a:cubicBezTo>
                  <a:pt x="563" y="4"/>
                  <a:pt x="274" y="6"/>
                  <a:pt x="137" y="257"/>
                </a:cubicBezTo>
                <a:cubicBezTo>
                  <a:pt x="0" y="508"/>
                  <a:pt x="306" y="720"/>
                  <a:pt x="300" y="720"/>
                </a:cubicBezTo>
                <a:cubicBezTo>
                  <a:pt x="304" y="725"/>
                  <a:pt x="246" y="780"/>
                  <a:pt x="240" y="816"/>
                </a:cubicBezTo>
                <a:cubicBezTo>
                  <a:pt x="444" y="786"/>
                  <a:pt x="632" y="757"/>
                  <a:pt x="640" y="750"/>
                </a:cubicBezTo>
                <a:cubicBezTo>
                  <a:pt x="538" y="606"/>
                  <a:pt x="527" y="387"/>
                  <a:pt x="527" y="387"/>
                </a:cubicBezTo>
                <a:cubicBezTo>
                  <a:pt x="522" y="388"/>
                  <a:pt x="478" y="510"/>
                  <a:pt x="466" y="486"/>
                </a:cubicBezTo>
                <a:cubicBezTo>
                  <a:pt x="28" y="92"/>
                  <a:pt x="557" y="0"/>
                  <a:pt x="556" y="2"/>
                </a:cubicBezTo>
                <a:close/>
              </a:path>
            </a:pathLst>
          </a:custGeom>
          <a:gradFill rotWithShape="1">
            <a:gsLst>
              <a:gs pos="0">
                <a:srgbClr val="FFCB7D"/>
              </a:gs>
              <a:gs pos="100000">
                <a:srgbClr val="FF9900"/>
              </a:gs>
            </a:gsLst>
            <a:lin ang="5400000" scaled="1"/>
          </a:gradFill>
          <a:ln w="9525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923925" y="1589088"/>
          <a:ext cx="8683625" cy="146367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756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9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내용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740" marB="4574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설명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아키텍처 검증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(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성능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품질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740" marB="4574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수립된 소프트웨어 아키텍처의 구현 결과로 주요기능 수행에 문제가 없는지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성능을 만족하는지 확인한다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91432" marR="91432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이슈 해결 및 해결방안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740" marB="4574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진행 중 발생한 주요 기술적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업무적 이슈를 정리하고 이를 해결하거나 해결방안을 수립한다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가이드 확정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740" marB="4574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초안으로 작성한 설계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개발 가이드를 </a:t>
                      </a:r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프로토타입을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통해 검증 보완하여 최종 가이드로서 확정하고 배포한다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개발생산성 점검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740" marB="4574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어플리케이션 구현단계 별 생산성을 점검하여 진행과정을 최적화 하고 이를 통해 프로젝트 일정을 예측하고 대비한다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프로토타입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결과 시연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740" marB="4574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고객 및 팀원에게 결과 시연을 통해 어플리케이션의 동작을 보여주고 의견을 수렴한다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2732" name="Rectangle 693"/>
          <p:cNvSpPr>
            <a:spLocks noChangeArrowheads="1"/>
          </p:cNvSpPr>
          <p:nvPr/>
        </p:nvSpPr>
        <p:spPr bwMode="auto">
          <a:xfrm>
            <a:off x="9142413" y="5862638"/>
            <a:ext cx="103187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ko-KR" sz="800">
                <a:solidFill>
                  <a:srgbClr val="000000"/>
                </a:solidFill>
                <a:latin typeface="맑은 고딕" panose="020B0503020000020004" pitchFamily="50" charset="-127"/>
              </a:rPr>
              <a:t>S</a:t>
            </a:r>
            <a:endParaRPr lang="ko-KR" altLang="ko-KR"/>
          </a:p>
        </p:txBody>
      </p:sp>
      <p:sp>
        <p:nvSpPr>
          <p:cNvPr id="72733" name="Rectangle 694"/>
          <p:cNvSpPr>
            <a:spLocks noChangeArrowheads="1"/>
          </p:cNvSpPr>
          <p:nvPr/>
        </p:nvSpPr>
        <p:spPr bwMode="auto">
          <a:xfrm>
            <a:off x="9196388" y="5862638"/>
            <a:ext cx="90487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ko-KR" sz="800">
                <a:solidFill>
                  <a:srgbClr val="000000"/>
                </a:solidFill>
                <a:latin typeface="맑은 고딕" panose="020B0503020000020004" pitchFamily="50" charset="-127"/>
              </a:rPr>
              <a:t>/</a:t>
            </a:r>
            <a:endParaRPr lang="ko-KR" altLang="ko-KR"/>
          </a:p>
        </p:txBody>
      </p:sp>
      <p:grpSp>
        <p:nvGrpSpPr>
          <p:cNvPr id="72734" name="그룹 519"/>
          <p:cNvGrpSpPr>
            <a:grpSpLocks/>
          </p:cNvGrpSpPr>
          <p:nvPr/>
        </p:nvGrpSpPr>
        <p:grpSpPr bwMode="auto">
          <a:xfrm>
            <a:off x="2173288" y="3349625"/>
            <a:ext cx="3452812" cy="2968625"/>
            <a:chOff x="828675" y="4876801"/>
            <a:chExt cx="4124325" cy="3433761"/>
          </a:xfrm>
        </p:grpSpPr>
        <p:sp>
          <p:nvSpPr>
            <p:cNvPr id="11" name="자유형 10"/>
            <p:cNvSpPr/>
            <p:nvPr/>
          </p:nvSpPr>
          <p:spPr>
            <a:xfrm>
              <a:off x="2193969" y="6645097"/>
              <a:ext cx="1173773" cy="787745"/>
            </a:xfrm>
            <a:custGeom>
              <a:avLst/>
              <a:gdLst>
                <a:gd name="connsiteX0" fmla="*/ 63500 w 1174750"/>
                <a:gd name="connsiteY0" fmla="*/ 498475 h 787400"/>
                <a:gd name="connsiteX1" fmla="*/ 482600 w 1174750"/>
                <a:gd name="connsiteY1" fmla="*/ 384175 h 787400"/>
                <a:gd name="connsiteX2" fmla="*/ 482600 w 1174750"/>
                <a:gd name="connsiteY2" fmla="*/ 365125 h 787400"/>
                <a:gd name="connsiteX3" fmla="*/ 482600 w 1174750"/>
                <a:gd name="connsiteY3" fmla="*/ 327025 h 787400"/>
                <a:gd name="connsiteX4" fmla="*/ 501650 w 1174750"/>
                <a:gd name="connsiteY4" fmla="*/ 212725 h 787400"/>
                <a:gd name="connsiteX5" fmla="*/ 539750 w 1174750"/>
                <a:gd name="connsiteY5" fmla="*/ 174625 h 787400"/>
                <a:gd name="connsiteX6" fmla="*/ 596900 w 1174750"/>
                <a:gd name="connsiteY6" fmla="*/ 98425 h 787400"/>
                <a:gd name="connsiteX7" fmla="*/ 692150 w 1174750"/>
                <a:gd name="connsiteY7" fmla="*/ 41275 h 787400"/>
                <a:gd name="connsiteX8" fmla="*/ 787400 w 1174750"/>
                <a:gd name="connsiteY8" fmla="*/ 22225 h 787400"/>
                <a:gd name="connsiteX9" fmla="*/ 920750 w 1174750"/>
                <a:gd name="connsiteY9" fmla="*/ 3175 h 787400"/>
                <a:gd name="connsiteX10" fmla="*/ 996950 w 1174750"/>
                <a:gd name="connsiteY10" fmla="*/ 41275 h 787400"/>
                <a:gd name="connsiteX11" fmla="*/ 1073150 w 1174750"/>
                <a:gd name="connsiteY11" fmla="*/ 79375 h 787400"/>
                <a:gd name="connsiteX12" fmla="*/ 1130300 w 1174750"/>
                <a:gd name="connsiteY12" fmla="*/ 117475 h 787400"/>
                <a:gd name="connsiteX13" fmla="*/ 1168400 w 1174750"/>
                <a:gd name="connsiteY13" fmla="*/ 193675 h 787400"/>
                <a:gd name="connsiteX14" fmla="*/ 1168400 w 1174750"/>
                <a:gd name="connsiteY14" fmla="*/ 269875 h 787400"/>
                <a:gd name="connsiteX15" fmla="*/ 1168400 w 1174750"/>
                <a:gd name="connsiteY15" fmla="*/ 384175 h 787400"/>
                <a:gd name="connsiteX16" fmla="*/ 1130300 w 1174750"/>
                <a:gd name="connsiteY16" fmla="*/ 479425 h 787400"/>
                <a:gd name="connsiteX17" fmla="*/ 1092200 w 1174750"/>
                <a:gd name="connsiteY17" fmla="*/ 555625 h 787400"/>
                <a:gd name="connsiteX18" fmla="*/ 1073150 w 1174750"/>
                <a:gd name="connsiteY18" fmla="*/ 612775 h 787400"/>
                <a:gd name="connsiteX19" fmla="*/ 977900 w 1174750"/>
                <a:gd name="connsiteY19" fmla="*/ 688975 h 787400"/>
                <a:gd name="connsiteX20" fmla="*/ 882650 w 1174750"/>
                <a:gd name="connsiteY20" fmla="*/ 746125 h 787400"/>
                <a:gd name="connsiteX21" fmla="*/ 787400 w 1174750"/>
                <a:gd name="connsiteY21" fmla="*/ 765175 h 787400"/>
                <a:gd name="connsiteX22" fmla="*/ 692150 w 1174750"/>
                <a:gd name="connsiteY22" fmla="*/ 784225 h 787400"/>
                <a:gd name="connsiteX23" fmla="*/ 577850 w 1174750"/>
                <a:gd name="connsiteY23" fmla="*/ 784225 h 787400"/>
                <a:gd name="connsiteX24" fmla="*/ 482600 w 1174750"/>
                <a:gd name="connsiteY24" fmla="*/ 765175 h 787400"/>
                <a:gd name="connsiteX25" fmla="*/ 406400 w 1174750"/>
                <a:gd name="connsiteY25" fmla="*/ 746125 h 787400"/>
                <a:gd name="connsiteX26" fmla="*/ 330200 w 1174750"/>
                <a:gd name="connsiteY26" fmla="*/ 727075 h 787400"/>
                <a:gd name="connsiteX27" fmla="*/ 254000 w 1174750"/>
                <a:gd name="connsiteY27" fmla="*/ 688975 h 787400"/>
                <a:gd name="connsiteX28" fmla="*/ 177800 w 1174750"/>
                <a:gd name="connsiteY28" fmla="*/ 650875 h 787400"/>
                <a:gd name="connsiteX29" fmla="*/ 120650 w 1174750"/>
                <a:gd name="connsiteY29" fmla="*/ 612775 h 787400"/>
                <a:gd name="connsiteX30" fmla="*/ 101600 w 1174750"/>
                <a:gd name="connsiteY30" fmla="*/ 593725 h 787400"/>
                <a:gd name="connsiteX31" fmla="*/ 63500 w 1174750"/>
                <a:gd name="connsiteY31" fmla="*/ 498475 h 78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74750" h="787400">
                  <a:moveTo>
                    <a:pt x="63500" y="498475"/>
                  </a:moveTo>
                  <a:cubicBezTo>
                    <a:pt x="127000" y="463550"/>
                    <a:pt x="412750" y="406400"/>
                    <a:pt x="482600" y="384175"/>
                  </a:cubicBezTo>
                  <a:cubicBezTo>
                    <a:pt x="552450" y="361950"/>
                    <a:pt x="482600" y="365125"/>
                    <a:pt x="482600" y="365125"/>
                  </a:cubicBezTo>
                  <a:cubicBezTo>
                    <a:pt x="482600" y="355600"/>
                    <a:pt x="479425" y="352425"/>
                    <a:pt x="482600" y="327025"/>
                  </a:cubicBezTo>
                  <a:cubicBezTo>
                    <a:pt x="485775" y="301625"/>
                    <a:pt x="492125" y="238125"/>
                    <a:pt x="501650" y="212725"/>
                  </a:cubicBezTo>
                  <a:cubicBezTo>
                    <a:pt x="511175" y="187325"/>
                    <a:pt x="523875" y="193675"/>
                    <a:pt x="539750" y="174625"/>
                  </a:cubicBezTo>
                  <a:cubicBezTo>
                    <a:pt x="555625" y="155575"/>
                    <a:pt x="571500" y="120650"/>
                    <a:pt x="596900" y="98425"/>
                  </a:cubicBezTo>
                  <a:cubicBezTo>
                    <a:pt x="622300" y="76200"/>
                    <a:pt x="660400" y="53975"/>
                    <a:pt x="692150" y="41275"/>
                  </a:cubicBezTo>
                  <a:cubicBezTo>
                    <a:pt x="723900" y="28575"/>
                    <a:pt x="749300" y="28575"/>
                    <a:pt x="787400" y="22225"/>
                  </a:cubicBezTo>
                  <a:cubicBezTo>
                    <a:pt x="825500" y="15875"/>
                    <a:pt x="885825" y="0"/>
                    <a:pt x="920750" y="3175"/>
                  </a:cubicBezTo>
                  <a:cubicBezTo>
                    <a:pt x="955675" y="6350"/>
                    <a:pt x="996950" y="41275"/>
                    <a:pt x="996950" y="41275"/>
                  </a:cubicBezTo>
                  <a:cubicBezTo>
                    <a:pt x="1022350" y="53975"/>
                    <a:pt x="1050925" y="66675"/>
                    <a:pt x="1073150" y="79375"/>
                  </a:cubicBezTo>
                  <a:cubicBezTo>
                    <a:pt x="1095375" y="92075"/>
                    <a:pt x="1114425" y="98425"/>
                    <a:pt x="1130300" y="117475"/>
                  </a:cubicBezTo>
                  <a:cubicBezTo>
                    <a:pt x="1146175" y="136525"/>
                    <a:pt x="1162050" y="168275"/>
                    <a:pt x="1168400" y="193675"/>
                  </a:cubicBezTo>
                  <a:cubicBezTo>
                    <a:pt x="1174750" y="219075"/>
                    <a:pt x="1168400" y="269875"/>
                    <a:pt x="1168400" y="269875"/>
                  </a:cubicBezTo>
                  <a:cubicBezTo>
                    <a:pt x="1168400" y="301625"/>
                    <a:pt x="1174750" y="349250"/>
                    <a:pt x="1168400" y="384175"/>
                  </a:cubicBezTo>
                  <a:cubicBezTo>
                    <a:pt x="1162050" y="419100"/>
                    <a:pt x="1143000" y="450850"/>
                    <a:pt x="1130300" y="479425"/>
                  </a:cubicBezTo>
                  <a:cubicBezTo>
                    <a:pt x="1117600" y="508000"/>
                    <a:pt x="1101725" y="533400"/>
                    <a:pt x="1092200" y="555625"/>
                  </a:cubicBezTo>
                  <a:cubicBezTo>
                    <a:pt x="1082675" y="577850"/>
                    <a:pt x="1092200" y="590550"/>
                    <a:pt x="1073150" y="612775"/>
                  </a:cubicBezTo>
                  <a:cubicBezTo>
                    <a:pt x="1054100" y="635000"/>
                    <a:pt x="1009650" y="666750"/>
                    <a:pt x="977900" y="688975"/>
                  </a:cubicBezTo>
                  <a:cubicBezTo>
                    <a:pt x="946150" y="711200"/>
                    <a:pt x="914400" y="733425"/>
                    <a:pt x="882650" y="746125"/>
                  </a:cubicBezTo>
                  <a:cubicBezTo>
                    <a:pt x="850900" y="758825"/>
                    <a:pt x="787400" y="765175"/>
                    <a:pt x="787400" y="765175"/>
                  </a:cubicBezTo>
                  <a:cubicBezTo>
                    <a:pt x="755650" y="771525"/>
                    <a:pt x="727075" y="781050"/>
                    <a:pt x="692150" y="784225"/>
                  </a:cubicBezTo>
                  <a:cubicBezTo>
                    <a:pt x="657225" y="787400"/>
                    <a:pt x="612775" y="787400"/>
                    <a:pt x="577850" y="784225"/>
                  </a:cubicBezTo>
                  <a:cubicBezTo>
                    <a:pt x="542925" y="781050"/>
                    <a:pt x="511175" y="771525"/>
                    <a:pt x="482600" y="765175"/>
                  </a:cubicBezTo>
                  <a:cubicBezTo>
                    <a:pt x="454025" y="758825"/>
                    <a:pt x="406400" y="746125"/>
                    <a:pt x="406400" y="746125"/>
                  </a:cubicBezTo>
                  <a:cubicBezTo>
                    <a:pt x="381000" y="739775"/>
                    <a:pt x="355600" y="736600"/>
                    <a:pt x="330200" y="727075"/>
                  </a:cubicBezTo>
                  <a:cubicBezTo>
                    <a:pt x="304800" y="717550"/>
                    <a:pt x="254000" y="688975"/>
                    <a:pt x="254000" y="688975"/>
                  </a:cubicBezTo>
                  <a:cubicBezTo>
                    <a:pt x="228600" y="676275"/>
                    <a:pt x="200025" y="663575"/>
                    <a:pt x="177800" y="650875"/>
                  </a:cubicBezTo>
                  <a:cubicBezTo>
                    <a:pt x="155575" y="638175"/>
                    <a:pt x="133350" y="622300"/>
                    <a:pt x="120650" y="612775"/>
                  </a:cubicBezTo>
                  <a:cubicBezTo>
                    <a:pt x="107950" y="603250"/>
                    <a:pt x="107950" y="606425"/>
                    <a:pt x="101600" y="593725"/>
                  </a:cubicBezTo>
                  <a:cubicBezTo>
                    <a:pt x="95250" y="581025"/>
                    <a:pt x="0" y="533400"/>
                    <a:pt x="63500" y="498475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700" b="0"/>
            </a:p>
          </p:txBody>
        </p:sp>
        <p:sp>
          <p:nvSpPr>
            <p:cNvPr id="12" name="자유형 11"/>
            <p:cNvSpPr/>
            <p:nvPr/>
          </p:nvSpPr>
          <p:spPr>
            <a:xfrm>
              <a:off x="965204" y="5829808"/>
              <a:ext cx="3466330" cy="2462392"/>
            </a:xfrm>
            <a:custGeom>
              <a:avLst/>
              <a:gdLst>
                <a:gd name="connsiteX0" fmla="*/ 73025 w 3467100"/>
                <a:gd name="connsiteY0" fmla="*/ 1466850 h 2463800"/>
                <a:gd name="connsiteX1" fmla="*/ 225425 w 3467100"/>
                <a:gd name="connsiteY1" fmla="*/ 1733550 h 2463800"/>
                <a:gd name="connsiteX2" fmla="*/ 377825 w 3467100"/>
                <a:gd name="connsiteY2" fmla="*/ 1905000 h 2463800"/>
                <a:gd name="connsiteX3" fmla="*/ 625475 w 3467100"/>
                <a:gd name="connsiteY3" fmla="*/ 2133600 h 2463800"/>
                <a:gd name="connsiteX4" fmla="*/ 949325 w 3467100"/>
                <a:gd name="connsiteY4" fmla="*/ 2305050 h 2463800"/>
                <a:gd name="connsiteX5" fmla="*/ 1196975 w 3467100"/>
                <a:gd name="connsiteY5" fmla="*/ 2381250 h 2463800"/>
                <a:gd name="connsiteX6" fmla="*/ 1425575 w 3467100"/>
                <a:gd name="connsiteY6" fmla="*/ 2438400 h 2463800"/>
                <a:gd name="connsiteX7" fmla="*/ 1882775 w 3467100"/>
                <a:gd name="connsiteY7" fmla="*/ 2457450 h 2463800"/>
                <a:gd name="connsiteX8" fmla="*/ 2187575 w 3467100"/>
                <a:gd name="connsiteY8" fmla="*/ 2400300 h 2463800"/>
                <a:gd name="connsiteX9" fmla="*/ 2435225 w 3467100"/>
                <a:gd name="connsiteY9" fmla="*/ 2324100 h 2463800"/>
                <a:gd name="connsiteX10" fmla="*/ 2873375 w 3467100"/>
                <a:gd name="connsiteY10" fmla="*/ 2038350 h 2463800"/>
                <a:gd name="connsiteX11" fmla="*/ 3178175 w 3467100"/>
                <a:gd name="connsiteY11" fmla="*/ 1695450 h 2463800"/>
                <a:gd name="connsiteX12" fmla="*/ 3368675 w 3467100"/>
                <a:gd name="connsiteY12" fmla="*/ 1371600 h 2463800"/>
                <a:gd name="connsiteX13" fmla="*/ 3444875 w 3467100"/>
                <a:gd name="connsiteY13" fmla="*/ 876300 h 2463800"/>
                <a:gd name="connsiteX14" fmla="*/ 3235325 w 3467100"/>
                <a:gd name="connsiteY14" fmla="*/ 514350 h 2463800"/>
                <a:gd name="connsiteX15" fmla="*/ 2873375 w 3467100"/>
                <a:gd name="connsiteY15" fmla="*/ 247650 h 2463800"/>
                <a:gd name="connsiteX16" fmla="*/ 2454275 w 3467100"/>
                <a:gd name="connsiteY16" fmla="*/ 57150 h 2463800"/>
                <a:gd name="connsiteX17" fmla="*/ 2054225 w 3467100"/>
                <a:gd name="connsiteY17" fmla="*/ 19050 h 2463800"/>
                <a:gd name="connsiteX18" fmla="*/ 1692275 w 3467100"/>
                <a:gd name="connsiteY18" fmla="*/ 19050 h 2463800"/>
                <a:gd name="connsiteX19" fmla="*/ 1311275 w 3467100"/>
                <a:gd name="connsiteY19" fmla="*/ 133350 h 2463800"/>
                <a:gd name="connsiteX20" fmla="*/ 1063625 w 3467100"/>
                <a:gd name="connsiteY20" fmla="*/ 304800 h 2463800"/>
                <a:gd name="connsiteX21" fmla="*/ 796925 w 3467100"/>
                <a:gd name="connsiteY21" fmla="*/ 628650 h 2463800"/>
                <a:gd name="connsiteX22" fmla="*/ 682625 w 3467100"/>
                <a:gd name="connsiteY22" fmla="*/ 1123950 h 2463800"/>
                <a:gd name="connsiteX23" fmla="*/ 758825 w 3467100"/>
                <a:gd name="connsiteY23" fmla="*/ 1504950 h 2463800"/>
                <a:gd name="connsiteX24" fmla="*/ 796925 w 3467100"/>
                <a:gd name="connsiteY24" fmla="*/ 1466850 h 2463800"/>
                <a:gd name="connsiteX25" fmla="*/ 1273175 w 3467100"/>
                <a:gd name="connsiteY25" fmla="*/ 1352550 h 2463800"/>
                <a:gd name="connsiteX26" fmla="*/ 1235075 w 3467100"/>
                <a:gd name="connsiteY26" fmla="*/ 1276350 h 2463800"/>
                <a:gd name="connsiteX27" fmla="*/ 1177925 w 3467100"/>
                <a:gd name="connsiteY27" fmla="*/ 990600 h 2463800"/>
                <a:gd name="connsiteX28" fmla="*/ 1425575 w 3467100"/>
                <a:gd name="connsiteY28" fmla="*/ 533400 h 2463800"/>
                <a:gd name="connsiteX29" fmla="*/ 1939925 w 3467100"/>
                <a:gd name="connsiteY29" fmla="*/ 342900 h 2463800"/>
                <a:gd name="connsiteX30" fmla="*/ 2740025 w 3467100"/>
                <a:gd name="connsiteY30" fmla="*/ 533400 h 2463800"/>
                <a:gd name="connsiteX31" fmla="*/ 2492375 w 3467100"/>
                <a:gd name="connsiteY31" fmla="*/ 476250 h 2463800"/>
                <a:gd name="connsiteX32" fmla="*/ 2682875 w 3467100"/>
                <a:gd name="connsiteY32" fmla="*/ 552450 h 2463800"/>
                <a:gd name="connsiteX33" fmla="*/ 2930525 w 3467100"/>
                <a:gd name="connsiteY33" fmla="*/ 838200 h 2463800"/>
                <a:gd name="connsiteX34" fmla="*/ 2911475 w 3467100"/>
                <a:gd name="connsiteY34" fmla="*/ 1352550 h 2463800"/>
                <a:gd name="connsiteX35" fmla="*/ 2625725 w 3467100"/>
                <a:gd name="connsiteY35" fmla="*/ 1752600 h 2463800"/>
                <a:gd name="connsiteX36" fmla="*/ 2149475 w 3467100"/>
                <a:gd name="connsiteY36" fmla="*/ 2038350 h 2463800"/>
                <a:gd name="connsiteX37" fmla="*/ 1425575 w 3467100"/>
                <a:gd name="connsiteY37" fmla="*/ 2019300 h 2463800"/>
                <a:gd name="connsiteX38" fmla="*/ 968375 w 3467100"/>
                <a:gd name="connsiteY38" fmla="*/ 1733550 h 2463800"/>
                <a:gd name="connsiteX39" fmla="*/ 796925 w 3467100"/>
                <a:gd name="connsiteY39" fmla="*/ 1562100 h 2463800"/>
                <a:gd name="connsiteX40" fmla="*/ 682625 w 3467100"/>
                <a:gd name="connsiteY40" fmla="*/ 1276350 h 2463800"/>
                <a:gd name="connsiteX41" fmla="*/ 663575 w 3467100"/>
                <a:gd name="connsiteY41" fmla="*/ 1162050 h 2463800"/>
                <a:gd name="connsiteX42" fmla="*/ 73025 w 3467100"/>
                <a:gd name="connsiteY42" fmla="*/ 1466850 h 246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467100" h="2463800">
                  <a:moveTo>
                    <a:pt x="73025" y="1466850"/>
                  </a:moveTo>
                  <a:cubicBezTo>
                    <a:pt x="0" y="1562100"/>
                    <a:pt x="174625" y="1660525"/>
                    <a:pt x="225425" y="1733550"/>
                  </a:cubicBezTo>
                  <a:cubicBezTo>
                    <a:pt x="276225" y="1806575"/>
                    <a:pt x="311150" y="1838325"/>
                    <a:pt x="377825" y="1905000"/>
                  </a:cubicBezTo>
                  <a:cubicBezTo>
                    <a:pt x="444500" y="1971675"/>
                    <a:pt x="530225" y="2066925"/>
                    <a:pt x="625475" y="2133600"/>
                  </a:cubicBezTo>
                  <a:cubicBezTo>
                    <a:pt x="720725" y="2200275"/>
                    <a:pt x="854075" y="2263775"/>
                    <a:pt x="949325" y="2305050"/>
                  </a:cubicBezTo>
                  <a:cubicBezTo>
                    <a:pt x="1044575" y="2346325"/>
                    <a:pt x="1117600" y="2359025"/>
                    <a:pt x="1196975" y="2381250"/>
                  </a:cubicBezTo>
                  <a:cubicBezTo>
                    <a:pt x="1276350" y="2403475"/>
                    <a:pt x="1311275" y="2425700"/>
                    <a:pt x="1425575" y="2438400"/>
                  </a:cubicBezTo>
                  <a:cubicBezTo>
                    <a:pt x="1539875" y="2451100"/>
                    <a:pt x="1755775" y="2463800"/>
                    <a:pt x="1882775" y="2457450"/>
                  </a:cubicBezTo>
                  <a:cubicBezTo>
                    <a:pt x="2009775" y="2451100"/>
                    <a:pt x="2095500" y="2422525"/>
                    <a:pt x="2187575" y="2400300"/>
                  </a:cubicBezTo>
                  <a:cubicBezTo>
                    <a:pt x="2279650" y="2378075"/>
                    <a:pt x="2320925" y="2384425"/>
                    <a:pt x="2435225" y="2324100"/>
                  </a:cubicBezTo>
                  <a:cubicBezTo>
                    <a:pt x="2549525" y="2263775"/>
                    <a:pt x="2749550" y="2143125"/>
                    <a:pt x="2873375" y="2038350"/>
                  </a:cubicBezTo>
                  <a:cubicBezTo>
                    <a:pt x="2997200" y="1933575"/>
                    <a:pt x="3095625" y="1806575"/>
                    <a:pt x="3178175" y="1695450"/>
                  </a:cubicBezTo>
                  <a:cubicBezTo>
                    <a:pt x="3260725" y="1584325"/>
                    <a:pt x="3324225" y="1508125"/>
                    <a:pt x="3368675" y="1371600"/>
                  </a:cubicBezTo>
                  <a:cubicBezTo>
                    <a:pt x="3413125" y="1235075"/>
                    <a:pt x="3467100" y="1019175"/>
                    <a:pt x="3444875" y="876300"/>
                  </a:cubicBezTo>
                  <a:cubicBezTo>
                    <a:pt x="3422650" y="733425"/>
                    <a:pt x="3330575" y="619125"/>
                    <a:pt x="3235325" y="514350"/>
                  </a:cubicBezTo>
                  <a:cubicBezTo>
                    <a:pt x="3140075" y="409575"/>
                    <a:pt x="3003550" y="323850"/>
                    <a:pt x="2873375" y="247650"/>
                  </a:cubicBezTo>
                  <a:cubicBezTo>
                    <a:pt x="2743200" y="171450"/>
                    <a:pt x="2590800" y="95250"/>
                    <a:pt x="2454275" y="57150"/>
                  </a:cubicBezTo>
                  <a:cubicBezTo>
                    <a:pt x="2317750" y="19050"/>
                    <a:pt x="2181225" y="25400"/>
                    <a:pt x="2054225" y="19050"/>
                  </a:cubicBezTo>
                  <a:cubicBezTo>
                    <a:pt x="1927225" y="12700"/>
                    <a:pt x="1816100" y="0"/>
                    <a:pt x="1692275" y="19050"/>
                  </a:cubicBezTo>
                  <a:cubicBezTo>
                    <a:pt x="1568450" y="38100"/>
                    <a:pt x="1416050" y="85725"/>
                    <a:pt x="1311275" y="133350"/>
                  </a:cubicBezTo>
                  <a:cubicBezTo>
                    <a:pt x="1206500" y="180975"/>
                    <a:pt x="1149350" y="222250"/>
                    <a:pt x="1063625" y="304800"/>
                  </a:cubicBezTo>
                  <a:cubicBezTo>
                    <a:pt x="977900" y="387350"/>
                    <a:pt x="860425" y="492125"/>
                    <a:pt x="796925" y="628650"/>
                  </a:cubicBezTo>
                  <a:cubicBezTo>
                    <a:pt x="733425" y="765175"/>
                    <a:pt x="688975" y="977900"/>
                    <a:pt x="682625" y="1123950"/>
                  </a:cubicBezTo>
                  <a:cubicBezTo>
                    <a:pt x="676275" y="1270000"/>
                    <a:pt x="739775" y="1447800"/>
                    <a:pt x="758825" y="1504950"/>
                  </a:cubicBezTo>
                  <a:cubicBezTo>
                    <a:pt x="777875" y="1562100"/>
                    <a:pt x="711200" y="1492250"/>
                    <a:pt x="796925" y="1466850"/>
                  </a:cubicBezTo>
                  <a:cubicBezTo>
                    <a:pt x="882650" y="1441450"/>
                    <a:pt x="1200150" y="1384300"/>
                    <a:pt x="1273175" y="1352550"/>
                  </a:cubicBezTo>
                  <a:cubicBezTo>
                    <a:pt x="1346200" y="1320800"/>
                    <a:pt x="1250950" y="1336675"/>
                    <a:pt x="1235075" y="1276350"/>
                  </a:cubicBezTo>
                  <a:cubicBezTo>
                    <a:pt x="1219200" y="1216025"/>
                    <a:pt x="1146175" y="1114425"/>
                    <a:pt x="1177925" y="990600"/>
                  </a:cubicBezTo>
                  <a:cubicBezTo>
                    <a:pt x="1209675" y="866775"/>
                    <a:pt x="1298575" y="641350"/>
                    <a:pt x="1425575" y="533400"/>
                  </a:cubicBezTo>
                  <a:cubicBezTo>
                    <a:pt x="1552575" y="425450"/>
                    <a:pt x="1720850" y="342900"/>
                    <a:pt x="1939925" y="342900"/>
                  </a:cubicBezTo>
                  <a:cubicBezTo>
                    <a:pt x="2159000" y="342900"/>
                    <a:pt x="2647950" y="511175"/>
                    <a:pt x="2740025" y="533400"/>
                  </a:cubicBezTo>
                  <a:cubicBezTo>
                    <a:pt x="2832100" y="555625"/>
                    <a:pt x="2501900" y="473075"/>
                    <a:pt x="2492375" y="476250"/>
                  </a:cubicBezTo>
                  <a:cubicBezTo>
                    <a:pt x="2482850" y="479425"/>
                    <a:pt x="2609850" y="492125"/>
                    <a:pt x="2682875" y="552450"/>
                  </a:cubicBezTo>
                  <a:cubicBezTo>
                    <a:pt x="2755900" y="612775"/>
                    <a:pt x="2892425" y="704850"/>
                    <a:pt x="2930525" y="838200"/>
                  </a:cubicBezTo>
                  <a:cubicBezTo>
                    <a:pt x="2968625" y="971550"/>
                    <a:pt x="2962275" y="1200150"/>
                    <a:pt x="2911475" y="1352550"/>
                  </a:cubicBezTo>
                  <a:cubicBezTo>
                    <a:pt x="2860675" y="1504950"/>
                    <a:pt x="2752725" y="1638300"/>
                    <a:pt x="2625725" y="1752600"/>
                  </a:cubicBezTo>
                  <a:cubicBezTo>
                    <a:pt x="2498725" y="1866900"/>
                    <a:pt x="2349500" y="1993900"/>
                    <a:pt x="2149475" y="2038350"/>
                  </a:cubicBezTo>
                  <a:cubicBezTo>
                    <a:pt x="1949450" y="2082800"/>
                    <a:pt x="1622425" y="2070100"/>
                    <a:pt x="1425575" y="2019300"/>
                  </a:cubicBezTo>
                  <a:cubicBezTo>
                    <a:pt x="1228725" y="1968500"/>
                    <a:pt x="1073150" y="1809750"/>
                    <a:pt x="968375" y="1733550"/>
                  </a:cubicBezTo>
                  <a:cubicBezTo>
                    <a:pt x="863600" y="1657350"/>
                    <a:pt x="844550" y="1638300"/>
                    <a:pt x="796925" y="1562100"/>
                  </a:cubicBezTo>
                  <a:cubicBezTo>
                    <a:pt x="749300" y="1485900"/>
                    <a:pt x="704850" y="1343025"/>
                    <a:pt x="682625" y="1276350"/>
                  </a:cubicBezTo>
                  <a:cubicBezTo>
                    <a:pt x="660400" y="1209675"/>
                    <a:pt x="771525" y="1133475"/>
                    <a:pt x="663575" y="1162050"/>
                  </a:cubicBezTo>
                  <a:cubicBezTo>
                    <a:pt x="555625" y="1190625"/>
                    <a:pt x="146050" y="1371600"/>
                    <a:pt x="73025" y="146685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700" b="0"/>
            </a:p>
          </p:txBody>
        </p:sp>
        <p:sp>
          <p:nvSpPr>
            <p:cNvPr id="13" name="자유형 12"/>
            <p:cNvSpPr/>
            <p:nvPr/>
          </p:nvSpPr>
          <p:spPr>
            <a:xfrm>
              <a:off x="1676294" y="6171348"/>
              <a:ext cx="2241358" cy="1724225"/>
            </a:xfrm>
            <a:custGeom>
              <a:avLst/>
              <a:gdLst>
                <a:gd name="connsiteX0" fmla="*/ 561975 w 2241550"/>
                <a:gd name="connsiteY0" fmla="*/ 952500 h 1724025"/>
                <a:gd name="connsiteX1" fmla="*/ 485775 w 2241550"/>
                <a:gd name="connsiteY1" fmla="*/ 723900 h 1724025"/>
                <a:gd name="connsiteX2" fmla="*/ 542925 w 2241550"/>
                <a:gd name="connsiteY2" fmla="*/ 495300 h 1724025"/>
                <a:gd name="connsiteX3" fmla="*/ 676275 w 2241550"/>
                <a:gd name="connsiteY3" fmla="*/ 247650 h 1724025"/>
                <a:gd name="connsiteX4" fmla="*/ 809625 w 2241550"/>
                <a:gd name="connsiteY4" fmla="*/ 133350 h 1724025"/>
                <a:gd name="connsiteX5" fmla="*/ 1000125 w 2241550"/>
                <a:gd name="connsiteY5" fmla="*/ 38100 h 1724025"/>
                <a:gd name="connsiteX6" fmla="*/ 1209675 w 2241550"/>
                <a:gd name="connsiteY6" fmla="*/ 0 h 1724025"/>
                <a:gd name="connsiteX7" fmla="*/ 1514475 w 2241550"/>
                <a:gd name="connsiteY7" fmla="*/ 38100 h 1724025"/>
                <a:gd name="connsiteX8" fmla="*/ 1724025 w 2241550"/>
                <a:gd name="connsiteY8" fmla="*/ 95250 h 1724025"/>
                <a:gd name="connsiteX9" fmla="*/ 1895475 w 2241550"/>
                <a:gd name="connsiteY9" fmla="*/ 190500 h 1724025"/>
                <a:gd name="connsiteX10" fmla="*/ 2105025 w 2241550"/>
                <a:gd name="connsiteY10" fmla="*/ 361950 h 1724025"/>
                <a:gd name="connsiteX11" fmla="*/ 2219325 w 2241550"/>
                <a:gd name="connsiteY11" fmla="*/ 514350 h 1724025"/>
                <a:gd name="connsiteX12" fmla="*/ 2238375 w 2241550"/>
                <a:gd name="connsiteY12" fmla="*/ 742950 h 1724025"/>
                <a:gd name="connsiteX13" fmla="*/ 2200275 w 2241550"/>
                <a:gd name="connsiteY13" fmla="*/ 971550 h 1724025"/>
                <a:gd name="connsiteX14" fmla="*/ 2105025 w 2241550"/>
                <a:gd name="connsiteY14" fmla="*/ 1162050 h 1724025"/>
                <a:gd name="connsiteX15" fmla="*/ 2009775 w 2241550"/>
                <a:gd name="connsiteY15" fmla="*/ 1314450 h 1724025"/>
                <a:gd name="connsiteX16" fmla="*/ 1914525 w 2241550"/>
                <a:gd name="connsiteY16" fmla="*/ 1409700 h 1724025"/>
                <a:gd name="connsiteX17" fmla="*/ 1743075 w 2241550"/>
                <a:gd name="connsiteY17" fmla="*/ 1543050 h 1724025"/>
                <a:gd name="connsiteX18" fmla="*/ 1514475 w 2241550"/>
                <a:gd name="connsiteY18" fmla="*/ 1657350 h 1724025"/>
                <a:gd name="connsiteX19" fmla="*/ 1247775 w 2241550"/>
                <a:gd name="connsiteY19" fmla="*/ 1714500 h 1724025"/>
                <a:gd name="connsiteX20" fmla="*/ 885825 w 2241550"/>
                <a:gd name="connsiteY20" fmla="*/ 1695450 h 1724025"/>
                <a:gd name="connsiteX21" fmla="*/ 466725 w 2241550"/>
                <a:gd name="connsiteY21" fmla="*/ 1543050 h 1724025"/>
                <a:gd name="connsiteX22" fmla="*/ 314325 w 2241550"/>
                <a:gd name="connsiteY22" fmla="*/ 1409700 h 1724025"/>
                <a:gd name="connsiteX23" fmla="*/ 142875 w 2241550"/>
                <a:gd name="connsiteY23" fmla="*/ 1257300 h 1724025"/>
                <a:gd name="connsiteX24" fmla="*/ 66675 w 2241550"/>
                <a:gd name="connsiteY24" fmla="*/ 1143000 h 1724025"/>
                <a:gd name="connsiteX25" fmla="*/ 542925 w 2241550"/>
                <a:gd name="connsiteY25" fmla="*/ 1009650 h 1724025"/>
                <a:gd name="connsiteX26" fmla="*/ 581025 w 2241550"/>
                <a:gd name="connsiteY26" fmla="*/ 1047750 h 1724025"/>
                <a:gd name="connsiteX27" fmla="*/ 714375 w 2241550"/>
                <a:gd name="connsiteY27" fmla="*/ 1143000 h 1724025"/>
                <a:gd name="connsiteX28" fmla="*/ 847725 w 2241550"/>
                <a:gd name="connsiteY28" fmla="*/ 1200150 h 1724025"/>
                <a:gd name="connsiteX29" fmla="*/ 1228725 w 2241550"/>
                <a:gd name="connsiteY29" fmla="*/ 1257300 h 1724025"/>
                <a:gd name="connsiteX30" fmla="*/ 1381125 w 2241550"/>
                <a:gd name="connsiteY30" fmla="*/ 1219200 h 1724025"/>
                <a:gd name="connsiteX31" fmla="*/ 1609725 w 2241550"/>
                <a:gd name="connsiteY31" fmla="*/ 1104900 h 1724025"/>
                <a:gd name="connsiteX32" fmla="*/ 1704975 w 2241550"/>
                <a:gd name="connsiteY32" fmla="*/ 819150 h 1724025"/>
                <a:gd name="connsiteX33" fmla="*/ 1685925 w 2241550"/>
                <a:gd name="connsiteY33" fmla="*/ 609600 h 1724025"/>
                <a:gd name="connsiteX34" fmla="*/ 1419225 w 2241550"/>
                <a:gd name="connsiteY34" fmla="*/ 457200 h 1724025"/>
                <a:gd name="connsiteX35" fmla="*/ 1152525 w 2241550"/>
                <a:gd name="connsiteY35" fmla="*/ 514350 h 1724025"/>
                <a:gd name="connsiteX36" fmla="*/ 1057275 w 2241550"/>
                <a:gd name="connsiteY36" fmla="*/ 647700 h 1724025"/>
                <a:gd name="connsiteX37" fmla="*/ 1000125 w 2241550"/>
                <a:gd name="connsiteY37" fmla="*/ 838200 h 1724025"/>
                <a:gd name="connsiteX38" fmla="*/ 561975 w 2241550"/>
                <a:gd name="connsiteY38" fmla="*/ 952500 h 172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241550" h="1724025">
                  <a:moveTo>
                    <a:pt x="561975" y="952500"/>
                  </a:moveTo>
                  <a:cubicBezTo>
                    <a:pt x="476250" y="933450"/>
                    <a:pt x="488950" y="800100"/>
                    <a:pt x="485775" y="723900"/>
                  </a:cubicBezTo>
                  <a:cubicBezTo>
                    <a:pt x="482600" y="647700"/>
                    <a:pt x="511175" y="574675"/>
                    <a:pt x="542925" y="495300"/>
                  </a:cubicBezTo>
                  <a:cubicBezTo>
                    <a:pt x="574675" y="415925"/>
                    <a:pt x="631825" y="307975"/>
                    <a:pt x="676275" y="247650"/>
                  </a:cubicBezTo>
                  <a:cubicBezTo>
                    <a:pt x="720725" y="187325"/>
                    <a:pt x="755650" y="168275"/>
                    <a:pt x="809625" y="133350"/>
                  </a:cubicBezTo>
                  <a:cubicBezTo>
                    <a:pt x="863600" y="98425"/>
                    <a:pt x="933450" y="60325"/>
                    <a:pt x="1000125" y="38100"/>
                  </a:cubicBezTo>
                  <a:cubicBezTo>
                    <a:pt x="1066800" y="15875"/>
                    <a:pt x="1123950" y="0"/>
                    <a:pt x="1209675" y="0"/>
                  </a:cubicBezTo>
                  <a:cubicBezTo>
                    <a:pt x="1295400" y="0"/>
                    <a:pt x="1428750" y="22225"/>
                    <a:pt x="1514475" y="38100"/>
                  </a:cubicBezTo>
                  <a:cubicBezTo>
                    <a:pt x="1600200" y="53975"/>
                    <a:pt x="1660525" y="69850"/>
                    <a:pt x="1724025" y="95250"/>
                  </a:cubicBezTo>
                  <a:cubicBezTo>
                    <a:pt x="1787525" y="120650"/>
                    <a:pt x="1831975" y="146050"/>
                    <a:pt x="1895475" y="190500"/>
                  </a:cubicBezTo>
                  <a:cubicBezTo>
                    <a:pt x="1958975" y="234950"/>
                    <a:pt x="2051050" y="307975"/>
                    <a:pt x="2105025" y="361950"/>
                  </a:cubicBezTo>
                  <a:cubicBezTo>
                    <a:pt x="2159000" y="415925"/>
                    <a:pt x="2197100" y="450850"/>
                    <a:pt x="2219325" y="514350"/>
                  </a:cubicBezTo>
                  <a:cubicBezTo>
                    <a:pt x="2241550" y="577850"/>
                    <a:pt x="2241550" y="666750"/>
                    <a:pt x="2238375" y="742950"/>
                  </a:cubicBezTo>
                  <a:cubicBezTo>
                    <a:pt x="2235200" y="819150"/>
                    <a:pt x="2222500" y="901700"/>
                    <a:pt x="2200275" y="971550"/>
                  </a:cubicBezTo>
                  <a:cubicBezTo>
                    <a:pt x="2178050" y="1041400"/>
                    <a:pt x="2136775" y="1104900"/>
                    <a:pt x="2105025" y="1162050"/>
                  </a:cubicBezTo>
                  <a:cubicBezTo>
                    <a:pt x="2073275" y="1219200"/>
                    <a:pt x="2041525" y="1273175"/>
                    <a:pt x="2009775" y="1314450"/>
                  </a:cubicBezTo>
                  <a:cubicBezTo>
                    <a:pt x="1978025" y="1355725"/>
                    <a:pt x="1958975" y="1371600"/>
                    <a:pt x="1914525" y="1409700"/>
                  </a:cubicBezTo>
                  <a:cubicBezTo>
                    <a:pt x="1870075" y="1447800"/>
                    <a:pt x="1809750" y="1501775"/>
                    <a:pt x="1743075" y="1543050"/>
                  </a:cubicBezTo>
                  <a:cubicBezTo>
                    <a:pt x="1676400" y="1584325"/>
                    <a:pt x="1597025" y="1628775"/>
                    <a:pt x="1514475" y="1657350"/>
                  </a:cubicBezTo>
                  <a:cubicBezTo>
                    <a:pt x="1431925" y="1685925"/>
                    <a:pt x="1352550" y="1708150"/>
                    <a:pt x="1247775" y="1714500"/>
                  </a:cubicBezTo>
                  <a:cubicBezTo>
                    <a:pt x="1143000" y="1720850"/>
                    <a:pt x="1016000" y="1724025"/>
                    <a:pt x="885825" y="1695450"/>
                  </a:cubicBezTo>
                  <a:cubicBezTo>
                    <a:pt x="755650" y="1666875"/>
                    <a:pt x="561975" y="1590675"/>
                    <a:pt x="466725" y="1543050"/>
                  </a:cubicBezTo>
                  <a:cubicBezTo>
                    <a:pt x="371475" y="1495425"/>
                    <a:pt x="314325" y="1409700"/>
                    <a:pt x="314325" y="1409700"/>
                  </a:cubicBezTo>
                  <a:cubicBezTo>
                    <a:pt x="260350" y="1362075"/>
                    <a:pt x="184150" y="1301750"/>
                    <a:pt x="142875" y="1257300"/>
                  </a:cubicBezTo>
                  <a:cubicBezTo>
                    <a:pt x="101600" y="1212850"/>
                    <a:pt x="0" y="1184275"/>
                    <a:pt x="66675" y="1143000"/>
                  </a:cubicBezTo>
                  <a:cubicBezTo>
                    <a:pt x="133350" y="1101725"/>
                    <a:pt x="457200" y="1025525"/>
                    <a:pt x="542925" y="1009650"/>
                  </a:cubicBezTo>
                  <a:cubicBezTo>
                    <a:pt x="628650" y="993775"/>
                    <a:pt x="552450" y="1025525"/>
                    <a:pt x="581025" y="1047750"/>
                  </a:cubicBezTo>
                  <a:cubicBezTo>
                    <a:pt x="609600" y="1069975"/>
                    <a:pt x="669925" y="1117600"/>
                    <a:pt x="714375" y="1143000"/>
                  </a:cubicBezTo>
                  <a:cubicBezTo>
                    <a:pt x="758825" y="1168400"/>
                    <a:pt x="762000" y="1181100"/>
                    <a:pt x="847725" y="1200150"/>
                  </a:cubicBezTo>
                  <a:cubicBezTo>
                    <a:pt x="933450" y="1219200"/>
                    <a:pt x="1139825" y="1254125"/>
                    <a:pt x="1228725" y="1257300"/>
                  </a:cubicBezTo>
                  <a:cubicBezTo>
                    <a:pt x="1317625" y="1260475"/>
                    <a:pt x="1317625" y="1244600"/>
                    <a:pt x="1381125" y="1219200"/>
                  </a:cubicBezTo>
                  <a:cubicBezTo>
                    <a:pt x="1444625" y="1193800"/>
                    <a:pt x="1555750" y="1171575"/>
                    <a:pt x="1609725" y="1104900"/>
                  </a:cubicBezTo>
                  <a:cubicBezTo>
                    <a:pt x="1663700" y="1038225"/>
                    <a:pt x="1692275" y="901700"/>
                    <a:pt x="1704975" y="819150"/>
                  </a:cubicBezTo>
                  <a:cubicBezTo>
                    <a:pt x="1717675" y="736600"/>
                    <a:pt x="1733550" y="669925"/>
                    <a:pt x="1685925" y="609600"/>
                  </a:cubicBezTo>
                  <a:cubicBezTo>
                    <a:pt x="1638300" y="549275"/>
                    <a:pt x="1508125" y="473075"/>
                    <a:pt x="1419225" y="457200"/>
                  </a:cubicBezTo>
                  <a:cubicBezTo>
                    <a:pt x="1330325" y="441325"/>
                    <a:pt x="1212850" y="482600"/>
                    <a:pt x="1152525" y="514350"/>
                  </a:cubicBezTo>
                  <a:cubicBezTo>
                    <a:pt x="1092200" y="546100"/>
                    <a:pt x="1082675" y="593725"/>
                    <a:pt x="1057275" y="647700"/>
                  </a:cubicBezTo>
                  <a:cubicBezTo>
                    <a:pt x="1031875" y="701675"/>
                    <a:pt x="1082675" y="784225"/>
                    <a:pt x="1000125" y="838200"/>
                  </a:cubicBezTo>
                  <a:cubicBezTo>
                    <a:pt x="917575" y="892175"/>
                    <a:pt x="647700" y="971550"/>
                    <a:pt x="561975" y="95250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700" b="0"/>
            </a:p>
          </p:txBody>
        </p:sp>
        <p:sp>
          <p:nvSpPr>
            <p:cNvPr id="14" name="원호 13"/>
            <p:cNvSpPr/>
            <p:nvPr/>
          </p:nvSpPr>
          <p:spPr bwMode="auto">
            <a:xfrm rot="7752090">
              <a:off x="2021452" y="5943001"/>
              <a:ext cx="1221097" cy="1608013"/>
            </a:xfrm>
            <a:prstGeom prst="arc">
              <a:avLst>
                <a:gd name="adj1" fmla="val 14200587"/>
                <a:gd name="adj2" fmla="val 773632"/>
              </a:avLst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700" b="0"/>
            </a:p>
          </p:txBody>
        </p:sp>
        <p:sp>
          <p:nvSpPr>
            <p:cNvPr id="15" name="원호 14"/>
            <p:cNvSpPr/>
            <p:nvPr/>
          </p:nvSpPr>
          <p:spPr bwMode="auto">
            <a:xfrm rot="16743983">
              <a:off x="2687406" y="6631349"/>
              <a:ext cx="721641" cy="752807"/>
            </a:xfrm>
            <a:prstGeom prst="arc">
              <a:avLst>
                <a:gd name="adj1" fmla="val 15524600"/>
                <a:gd name="adj2" fmla="val 3047307"/>
              </a:avLst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700" b="0"/>
            </a:p>
          </p:txBody>
        </p:sp>
        <p:sp>
          <p:nvSpPr>
            <p:cNvPr id="16" name="원호 15"/>
            <p:cNvSpPr/>
            <p:nvPr/>
          </p:nvSpPr>
          <p:spPr bwMode="auto">
            <a:xfrm rot="17745331">
              <a:off x="2329303" y="6017927"/>
              <a:ext cx="1551620" cy="1920892"/>
            </a:xfrm>
            <a:prstGeom prst="arc">
              <a:avLst>
                <a:gd name="adj1" fmla="val 14061622"/>
                <a:gd name="adj2" fmla="val 2475133"/>
              </a:avLst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700" b="0"/>
            </a:p>
          </p:txBody>
        </p:sp>
        <p:sp>
          <p:nvSpPr>
            <p:cNvPr id="72746" name="TextBox 837"/>
            <p:cNvSpPr txBox="1">
              <a:spLocks noChangeArrowheads="1"/>
            </p:cNvSpPr>
            <p:nvPr/>
          </p:nvSpPr>
          <p:spPr bwMode="auto">
            <a:xfrm>
              <a:off x="3755570" y="5919798"/>
              <a:ext cx="997857" cy="267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9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위험분석</a:t>
              </a:r>
              <a:endPara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 bwMode="auto">
            <a:xfrm flipV="1">
              <a:off x="828675" y="6377006"/>
              <a:ext cx="4124325" cy="120273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 bwMode="auto">
            <a:xfrm rot="5400000" flipH="1" flipV="1">
              <a:off x="1741498" y="6295852"/>
              <a:ext cx="2423831" cy="14733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 bwMode="auto">
            <a:xfrm rot="16200000" flipH="1">
              <a:off x="2024159" y="5901806"/>
              <a:ext cx="980550" cy="102017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750" name="TextBox 836"/>
            <p:cNvSpPr txBox="1">
              <a:spLocks noChangeArrowheads="1"/>
            </p:cNvSpPr>
            <p:nvPr/>
          </p:nvSpPr>
          <p:spPr bwMode="auto">
            <a:xfrm>
              <a:off x="2286000" y="5791200"/>
              <a:ext cx="1066800" cy="427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-4572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9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테스트 계획 및 설계</a:t>
              </a:r>
              <a:endPara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751" name="TextBox 832"/>
            <p:cNvSpPr txBox="1">
              <a:spLocks noChangeArrowheads="1"/>
            </p:cNvSpPr>
            <p:nvPr/>
          </p:nvSpPr>
          <p:spPr bwMode="auto">
            <a:xfrm>
              <a:off x="1143000" y="6096000"/>
              <a:ext cx="990600" cy="507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-4572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9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사전분석</a:t>
              </a:r>
              <a:r>
                <a:rPr lang="en-US" altLang="ko-KR" sz="9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</a:p>
            <a:p>
              <a:pPr eaLnBrk="1" hangingPunct="1"/>
              <a:r>
                <a:rPr lang="ko-KR" altLang="en-US" sz="9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설계변경</a:t>
              </a:r>
              <a:endPara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752" name="TextBox 833"/>
            <p:cNvSpPr txBox="1">
              <a:spLocks noChangeArrowheads="1"/>
            </p:cNvSpPr>
            <p:nvPr/>
          </p:nvSpPr>
          <p:spPr bwMode="auto">
            <a:xfrm>
              <a:off x="3810000" y="7543800"/>
              <a:ext cx="864811" cy="267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9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</a:t>
              </a:r>
            </a:p>
          </p:txBody>
        </p:sp>
        <p:sp>
          <p:nvSpPr>
            <p:cNvPr id="72753" name="TextBox 834"/>
            <p:cNvSpPr txBox="1">
              <a:spLocks noChangeArrowheads="1"/>
            </p:cNvSpPr>
            <p:nvPr/>
          </p:nvSpPr>
          <p:spPr bwMode="auto">
            <a:xfrm>
              <a:off x="1295400" y="7848599"/>
              <a:ext cx="685800" cy="427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-4572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900" b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리뷰 및 보완</a:t>
              </a:r>
            </a:p>
          </p:txBody>
        </p:sp>
        <p:sp>
          <p:nvSpPr>
            <p:cNvPr id="25" name="원호 24"/>
            <p:cNvSpPr/>
            <p:nvPr/>
          </p:nvSpPr>
          <p:spPr bwMode="auto">
            <a:xfrm rot="6266892">
              <a:off x="1665390" y="5630217"/>
              <a:ext cx="2175940" cy="2343755"/>
            </a:xfrm>
            <a:prstGeom prst="arc">
              <a:avLst>
                <a:gd name="adj1" fmla="val 14854573"/>
                <a:gd name="adj2" fmla="val 3139231"/>
              </a:avLst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700" b="0"/>
            </a:p>
          </p:txBody>
        </p:sp>
        <p:sp>
          <p:nvSpPr>
            <p:cNvPr id="26" name="원호 25"/>
            <p:cNvSpPr/>
            <p:nvPr/>
          </p:nvSpPr>
          <p:spPr bwMode="auto">
            <a:xfrm rot="17288296">
              <a:off x="1898448" y="5580267"/>
              <a:ext cx="2455047" cy="3005544"/>
            </a:xfrm>
            <a:prstGeom prst="arc">
              <a:avLst>
                <a:gd name="adj1" fmla="val 14623090"/>
                <a:gd name="adj2" fmla="val 2826034"/>
              </a:avLst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700" b="0"/>
            </a:p>
          </p:txBody>
        </p:sp>
        <p:sp>
          <p:nvSpPr>
            <p:cNvPr id="27" name="모서리가 둥근 직사각형 26"/>
            <p:cNvSpPr/>
            <p:nvPr/>
          </p:nvSpPr>
          <p:spPr bwMode="auto">
            <a:xfrm>
              <a:off x="2040373" y="6698347"/>
              <a:ext cx="889338" cy="328687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800" b="0" dirty="0" err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프로토타입</a:t>
              </a:r>
              <a:r>
                <a:rPr lang="en-US" altLang="ko-KR" sz="800" b="0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800" b="0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수행</a:t>
              </a:r>
            </a:p>
          </p:txBody>
        </p:sp>
        <p:sp>
          <p:nvSpPr>
            <p:cNvPr id="28" name="정육면체 27"/>
            <p:cNvSpPr/>
            <p:nvPr/>
          </p:nvSpPr>
          <p:spPr bwMode="auto">
            <a:xfrm>
              <a:off x="1524595" y="7162915"/>
              <a:ext cx="367871" cy="251564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700" b="0"/>
            </a:p>
          </p:txBody>
        </p:sp>
        <p:sp>
          <p:nvSpPr>
            <p:cNvPr id="29" name="정육면체 28"/>
            <p:cNvSpPr/>
            <p:nvPr/>
          </p:nvSpPr>
          <p:spPr bwMode="auto">
            <a:xfrm>
              <a:off x="2057440" y="7010507"/>
              <a:ext cx="367871" cy="251565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700" b="0"/>
            </a:p>
          </p:txBody>
        </p:sp>
        <p:sp>
          <p:nvSpPr>
            <p:cNvPr id="30" name="모서리가 둥근 직사각형 29"/>
            <p:cNvSpPr/>
            <p:nvPr/>
          </p:nvSpPr>
          <p:spPr bwMode="auto">
            <a:xfrm>
              <a:off x="1700946" y="7302469"/>
              <a:ext cx="1063791" cy="24605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800" b="0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lang="ko-KR" altLang="en-US" sz="800" b="0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차 </a:t>
              </a:r>
              <a:r>
                <a:rPr lang="en-US" altLang="ko-KR" sz="800" b="0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Iteration</a:t>
              </a:r>
              <a:endParaRPr lang="ko-KR" altLang="en-US" sz="8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1" name="원호 30"/>
            <p:cNvSpPr/>
            <p:nvPr/>
          </p:nvSpPr>
          <p:spPr bwMode="auto">
            <a:xfrm rot="6262226">
              <a:off x="922374" y="4790687"/>
              <a:ext cx="3413563" cy="3585792"/>
            </a:xfrm>
            <a:prstGeom prst="arc">
              <a:avLst>
                <a:gd name="adj1" fmla="val 15255733"/>
                <a:gd name="adj2" fmla="val 3139231"/>
              </a:avLst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700" b="0"/>
            </a:p>
          </p:txBody>
        </p:sp>
        <p:sp>
          <p:nvSpPr>
            <p:cNvPr id="32" name="정육면체 31"/>
            <p:cNvSpPr/>
            <p:nvPr/>
          </p:nvSpPr>
          <p:spPr bwMode="auto">
            <a:xfrm>
              <a:off x="914005" y="7315322"/>
              <a:ext cx="367871" cy="251565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800" b="0" dirty="0"/>
            </a:p>
          </p:txBody>
        </p:sp>
        <p:sp>
          <p:nvSpPr>
            <p:cNvPr id="33" name="모서리가 둥근 직사각형 32"/>
            <p:cNvSpPr/>
            <p:nvPr/>
          </p:nvSpPr>
          <p:spPr bwMode="auto">
            <a:xfrm>
              <a:off x="1001232" y="7543015"/>
              <a:ext cx="1063792" cy="24605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sz="800" b="0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ko-KR" altLang="en-US" sz="800" b="0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차 </a:t>
              </a:r>
              <a:r>
                <a:rPr lang="en-US" altLang="ko-KR" sz="800" b="0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Iteration</a:t>
              </a:r>
              <a:endParaRPr lang="ko-KR" altLang="en-US" sz="8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4" name="설명선 2 33"/>
          <p:cNvSpPr/>
          <p:nvPr/>
        </p:nvSpPr>
        <p:spPr bwMode="auto">
          <a:xfrm flipH="1">
            <a:off x="960438" y="4200525"/>
            <a:ext cx="1501775" cy="554038"/>
          </a:xfrm>
          <a:prstGeom prst="borderCallout2">
            <a:avLst>
              <a:gd name="adj1" fmla="val 18750"/>
              <a:gd name="adj2" fmla="val 0"/>
              <a:gd name="adj3" fmla="val 18750"/>
              <a:gd name="adj4" fmla="val -16667"/>
              <a:gd name="adj5" fmla="val 134912"/>
              <a:gd name="adj6" fmla="val -53267"/>
            </a:avLst>
          </a:prstGeom>
          <a:noFill/>
          <a:ln w="127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b="0" dirty="0">
                <a:latin typeface="맑은 고딕" pitchFamily="50" charset="-127"/>
                <a:ea typeface="맑은 고딕" pitchFamily="50" charset="-127"/>
              </a:rPr>
              <a:t>정의 된 공통기능 중 </a:t>
            </a:r>
            <a:r>
              <a:rPr lang="ko-KR" altLang="en-US" b="0" dirty="0" err="1">
                <a:latin typeface="맑은 고딕" pitchFamily="50" charset="-127"/>
                <a:ea typeface="맑은 고딕" pitchFamily="50" charset="-127"/>
              </a:rPr>
              <a:t>프로토타입</a:t>
            </a:r>
            <a:r>
              <a:rPr lang="ko-KR" altLang="en-US" b="0" dirty="0">
                <a:latin typeface="맑은 고딕" pitchFamily="50" charset="-127"/>
                <a:ea typeface="맑은 고딕" pitchFamily="50" charset="-127"/>
              </a:rPr>
              <a:t> 수행 공통기능 구현</a:t>
            </a:r>
          </a:p>
        </p:txBody>
      </p:sp>
      <p:sp>
        <p:nvSpPr>
          <p:cNvPr id="35" name="설명선 2 34"/>
          <p:cNvSpPr/>
          <p:nvPr/>
        </p:nvSpPr>
        <p:spPr bwMode="auto">
          <a:xfrm flipH="1">
            <a:off x="550863" y="4895850"/>
            <a:ext cx="1503362" cy="400050"/>
          </a:xfrm>
          <a:prstGeom prst="borderCallout2">
            <a:avLst>
              <a:gd name="adj1" fmla="val 18750"/>
              <a:gd name="adj2" fmla="val 0"/>
              <a:gd name="adj3" fmla="val 18750"/>
              <a:gd name="adj4" fmla="val -16667"/>
              <a:gd name="adj5" fmla="val 134912"/>
              <a:gd name="adj6" fmla="val -53267"/>
            </a:avLst>
          </a:prstGeom>
          <a:noFill/>
          <a:ln w="127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b="0" dirty="0">
                <a:latin typeface="맑은 고딕" pitchFamily="50" charset="-127"/>
                <a:ea typeface="맑은 고딕" pitchFamily="50" charset="-127"/>
              </a:rPr>
              <a:t>공통기능의 </a:t>
            </a:r>
            <a:r>
              <a:rPr lang="en-US" altLang="ko-KR" b="0" dirty="0">
                <a:latin typeface="맑은 고딕" pitchFamily="50" charset="-127"/>
                <a:ea typeface="맑은 고딕" pitchFamily="50" charset="-127"/>
              </a:rPr>
              <a:t>80%</a:t>
            </a:r>
            <a:r>
              <a:rPr lang="ko-KR" altLang="en-US" b="0" dirty="0">
                <a:latin typeface="맑은 고딕" pitchFamily="50" charset="-127"/>
                <a:ea typeface="맑은 고딕" pitchFamily="50" charset="-127"/>
              </a:rPr>
              <a:t>이상 구현</a:t>
            </a:r>
          </a:p>
        </p:txBody>
      </p:sp>
      <p:sp>
        <p:nvSpPr>
          <p:cNvPr id="36" name="설명선 2 35"/>
          <p:cNvSpPr/>
          <p:nvPr/>
        </p:nvSpPr>
        <p:spPr bwMode="auto">
          <a:xfrm flipH="1">
            <a:off x="320675" y="5483225"/>
            <a:ext cx="1503363" cy="400050"/>
          </a:xfrm>
          <a:prstGeom prst="borderCallout2">
            <a:avLst>
              <a:gd name="adj1" fmla="val 18750"/>
              <a:gd name="adj2" fmla="val 0"/>
              <a:gd name="adj3" fmla="val 18750"/>
              <a:gd name="adj4" fmla="val -16667"/>
              <a:gd name="adj5" fmla="val 62504"/>
              <a:gd name="adj6" fmla="val -35195"/>
            </a:avLst>
          </a:prstGeom>
          <a:noFill/>
          <a:ln w="127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b="0" dirty="0">
                <a:latin typeface="맑은 고딕" pitchFamily="50" charset="-127"/>
                <a:ea typeface="맑은 고딕" pitchFamily="50" charset="-127"/>
              </a:rPr>
              <a:t>공통기능 추가요구사항 반영 및 정제</a:t>
            </a:r>
          </a:p>
        </p:txBody>
      </p:sp>
      <p:sp>
        <p:nvSpPr>
          <p:cNvPr id="72738" name="TextBox 9"/>
          <p:cNvSpPr txBox="1">
            <a:spLocks noChangeArrowheads="1"/>
          </p:cNvSpPr>
          <p:nvPr/>
        </p:nvSpPr>
        <p:spPr bwMode="auto">
          <a:xfrm>
            <a:off x="3200400" y="6265863"/>
            <a:ext cx="35433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 프로토타입 수행 결과물의 확장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739" name="TextBox 9"/>
          <p:cNvSpPr txBox="1">
            <a:spLocks noChangeArrowheads="1"/>
          </p:cNvSpPr>
          <p:nvPr/>
        </p:nvSpPr>
        <p:spPr bwMode="auto">
          <a:xfrm>
            <a:off x="3165475" y="3044825"/>
            <a:ext cx="35433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  프로토타입 수행 결과에 포함되어야 하는 내용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8. </a:t>
            </a:r>
            <a:r>
              <a:rPr lang="ko-KR" altLang="en-US" sz="1800" smtClean="0">
                <a:solidFill>
                  <a:srgbClr val="000000"/>
                </a:solidFill>
              </a:rPr>
              <a:t>구현이슈 </a:t>
            </a:r>
            <a:r>
              <a:rPr lang="en-US" altLang="ko-KR" sz="1800" smtClean="0">
                <a:solidFill>
                  <a:srgbClr val="000000"/>
                </a:solidFill>
              </a:rPr>
              <a:t>Follow-up</a:t>
            </a:r>
            <a:r>
              <a:rPr lang="ko-KR" altLang="en-US" sz="1800" smtClean="0">
                <a:solidFill>
                  <a:srgbClr val="000000"/>
                </a:solidFill>
              </a:rPr>
              <a:t>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10525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프로젝트 진행 중 각 업무의 설계 및 개발 담당자의 진행상황을 모니터링하고 진행 시 발생하는 문제점과 요청사항을 취합하고 분석하여 해결점을 도출한다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이를 통해 프로젝트의 리스크를 조기에 발견하고 제거하는 역할을 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기술이슈의 경우는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수행업무 중에 아키텍처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및 기술이슈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Follow-up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영역으로 전달한다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수행 영역에서는 업무구현에서 발생하는 설계이슈나 업무로직 상의 이슈를 주로 다룬다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505200" y="2124075"/>
            <a:ext cx="2933700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8.1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팀원 요청사항 취합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진행 중 건의 및 요청사항 수렴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8.2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해결방안 도출 및 진행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해결방안 도출 및 피드백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해결방안 피드백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733" name="TextBox 14"/>
          <p:cNvSpPr txBox="1">
            <a:spLocks noChangeArrowheads="1"/>
          </p:cNvSpPr>
          <p:nvPr/>
        </p:nvSpPr>
        <p:spPr bwMode="auto">
          <a:xfrm>
            <a:off x="504825" y="2143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진행 상황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(WBS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진척도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일간이슈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주간이슈 등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팀원 요청 사항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734" name="TextBox 15"/>
          <p:cNvSpPr txBox="1">
            <a:spLocks noChangeArrowheads="1"/>
          </p:cNvSpPr>
          <p:nvPr/>
        </p:nvSpPr>
        <p:spPr bwMode="auto">
          <a:xfrm>
            <a:off x="7296150" y="2133600"/>
            <a:ext cx="2085975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구현 이슈 목록 및 해결방안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의사소통도구를 통한 팀내 공지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AutoShape 73"/>
          <p:cNvSpPr>
            <a:spLocks noChangeArrowheads="1"/>
          </p:cNvSpPr>
          <p:nvPr/>
        </p:nvSpPr>
        <p:spPr bwMode="auto">
          <a:xfrm>
            <a:off x="4289425" y="5591175"/>
            <a:ext cx="809625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설계자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73736" name="TextBox 14"/>
          <p:cNvSpPr txBox="1">
            <a:spLocks noChangeArrowheads="1"/>
          </p:cNvSpPr>
          <p:nvPr/>
        </p:nvSpPr>
        <p:spPr bwMode="auto">
          <a:xfrm>
            <a:off x="504825" y="4905375"/>
            <a:ext cx="216217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각 단계별 업무수행 가이드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분석설계 가이드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개발가이드 등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사전 제공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의사소통 도구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게시판 등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73737" name="TextBox 15"/>
          <p:cNvSpPr txBox="1">
            <a:spLocks noChangeArrowheads="1"/>
          </p:cNvSpPr>
          <p:nvPr/>
        </p:nvSpPr>
        <p:spPr bwMode="auto">
          <a:xfrm>
            <a:off x="7296150" y="4886325"/>
            <a:ext cx="210502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해결방안에 대한 팀내 공유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이슈 해결 완료여부 체크</a:t>
            </a:r>
          </a:p>
        </p:txBody>
      </p:sp>
      <p:sp>
        <p:nvSpPr>
          <p:cNvPr id="73738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800350" y="2665413"/>
            <a:ext cx="533400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73739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564313" y="2665413"/>
            <a:ext cx="598487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17" name="위쪽/아래쪽 화살표 16"/>
          <p:cNvSpPr/>
          <p:nvPr/>
        </p:nvSpPr>
        <p:spPr bwMode="auto">
          <a:xfrm>
            <a:off x="4648200" y="5153025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18" name="AutoShape 73"/>
          <p:cNvSpPr>
            <a:spLocks noChangeArrowheads="1"/>
          </p:cNvSpPr>
          <p:nvPr/>
        </p:nvSpPr>
        <p:spPr bwMode="auto">
          <a:xfrm>
            <a:off x="5165725" y="5591175"/>
            <a:ext cx="1417638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개발자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19" name="AutoShape 73"/>
          <p:cNvSpPr>
            <a:spLocks noChangeArrowheads="1"/>
          </p:cNvSpPr>
          <p:nvPr/>
        </p:nvSpPr>
        <p:spPr bwMode="auto">
          <a:xfrm>
            <a:off x="3413125" y="5591175"/>
            <a:ext cx="809625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업무 </a:t>
            </a: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PL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3494088" y="1828800"/>
            <a:ext cx="2952750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506413" y="1855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Input</a:t>
            </a: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7288213" y="1839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Output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506413" y="4625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Prerequisite</a:t>
            </a: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7288213" y="4618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  <a:latin typeface="Arial" charset="0"/>
              </a:rPr>
              <a:t>Criteria</a:t>
            </a:r>
            <a:endParaRPr lang="en-US" altLang="zh-CN" sz="1400" dirty="0">
              <a:solidFill>
                <a:schemeClr val="bg1"/>
              </a:solidFill>
              <a:latin typeface="Arial" charset="0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8. </a:t>
            </a:r>
            <a:r>
              <a:rPr lang="ko-KR" altLang="en-US" sz="1800" smtClean="0">
                <a:solidFill>
                  <a:srgbClr val="000000"/>
                </a:solidFill>
              </a:rPr>
              <a:t>구현이슈 </a:t>
            </a:r>
            <a:r>
              <a:rPr lang="en-US" altLang="ko-KR" sz="1800" smtClean="0">
                <a:solidFill>
                  <a:srgbClr val="000000"/>
                </a:solidFill>
              </a:rPr>
              <a:t>Follow-up</a:t>
            </a:r>
            <a:r>
              <a:rPr lang="ko-KR" altLang="en-US" sz="1800" smtClean="0">
                <a:solidFill>
                  <a:srgbClr val="000000"/>
                </a:solidFill>
              </a:rPr>
              <a:t> </a:t>
            </a:r>
            <a:r>
              <a:rPr lang="en-US" altLang="ko-KR" sz="1800" smtClean="0">
                <a:solidFill>
                  <a:srgbClr val="000000"/>
                </a:solidFill>
              </a:rPr>
              <a:t>&gt; AA</a:t>
            </a:r>
            <a:r>
              <a:rPr lang="ko-KR" altLang="en-US" sz="1800" smtClean="0">
                <a:solidFill>
                  <a:srgbClr val="000000"/>
                </a:solidFill>
              </a:rPr>
              <a:t>의 역할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323388" cy="6826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구현이슈가 발생하였을 때 이를 빨리 감지하고 이에 대한 대처방안을 수립하여 해결하는 것이 중요하다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프로젝트에서 다양한 이슈 발생 분야가 존재하나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기술이슈를 제외하고 구현과 관련한 이슈를 분류하면 아래와 같다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Group 57"/>
          <p:cNvGraphicFramePr>
            <a:graphicFrameLocks noGrp="1"/>
          </p:cNvGraphicFramePr>
          <p:nvPr>
            <p:ph sz="half" idx="4294967295"/>
          </p:nvPr>
        </p:nvGraphicFramePr>
        <p:xfrm>
          <a:off x="320675" y="1495425"/>
          <a:ext cx="9323388" cy="2835274"/>
        </p:xfrm>
        <a:graphic>
          <a:graphicData uri="http://schemas.openxmlformats.org/drawingml/2006/table">
            <a:tbl>
              <a:tblPr/>
              <a:tblGrid>
                <a:gridCol w="1784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7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0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4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이슈 발생 분야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정의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책임자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3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가이드 및 표준 관련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설계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개발 표준 또는 가이드의 미비나 오류로 인하여 수행상 어려움 발생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특히 다양한 종류의 업무요건에 의한 예외상황에 대한 피드백이 필요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.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AA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또는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SA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협업의 문제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레이어간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담당자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(UI,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업무로직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DB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등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의 의사소통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컴포넌트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업무모듈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간 상호작용 등에서 업무개발 담당자간의  우선순위 갈등이 흔히 존재하며 이에 대한 의견조율이 필요함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대내외 연동 설계 및 개발 진행 시 원활한 담당자 협업 미흡 가능성 존재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AA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또는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SA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40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설계 개발 생산성 부분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설계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개발 환경정의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도구의 편리성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기반 솔루션 지원 등이 미비할 경우 생산성 저하 발생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SA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산출물의 범위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중복요소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선후관계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기타 비합리적인 문제로 생산성이 저하되는 경우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AA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3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비즈니스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로직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구현의 문제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업무로직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설계의 비합리성으로 구현의 어려움 발생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고객의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요구사항에 대해 고객의 설득이 필요한 경우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AA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9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기타 불만 요소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기타 소속 팀원들의 불만요소를 수시로 모니터링 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. 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주로 인간적 갈등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조직적 갈등요소 파악 필요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PM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4789" name="TextBox 4"/>
          <p:cNvSpPr txBox="1">
            <a:spLocks noChangeArrowheads="1"/>
          </p:cNvSpPr>
          <p:nvPr/>
        </p:nvSpPr>
        <p:spPr bwMode="auto">
          <a:xfrm>
            <a:off x="6475413" y="4344988"/>
            <a:ext cx="31686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기술이슈 영역은 제외</a:t>
            </a:r>
          </a:p>
        </p:txBody>
      </p:sp>
      <p:graphicFrame>
        <p:nvGraphicFramePr>
          <p:cNvPr id="6" name="Group 57"/>
          <p:cNvGraphicFramePr>
            <a:graphicFrameLocks noGrp="1"/>
          </p:cNvGraphicFramePr>
          <p:nvPr>
            <p:ph sz="half" idx="4294967295"/>
          </p:nvPr>
        </p:nvGraphicFramePr>
        <p:xfrm>
          <a:off x="320675" y="5199063"/>
          <a:ext cx="9323390" cy="736600"/>
        </p:xfrm>
        <a:graphic>
          <a:graphicData uri="http://schemas.openxmlformats.org/drawingml/2006/table">
            <a:tbl>
              <a:tblPr/>
              <a:tblGrid>
                <a:gridCol w="865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72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30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30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08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0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이슈영역</a:t>
                      </a: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이슈명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설명</a:t>
                      </a: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이슈제기자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파트</a:t>
                      </a: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해결방안</a:t>
                      </a: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해결예정일</a:t>
                      </a: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해결여부</a:t>
                      </a: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담당자</a:t>
                      </a: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T="45764" marB="457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내용 개체 틀 13"/>
          <p:cNvSpPr txBox="1">
            <a:spLocks/>
          </p:cNvSpPr>
          <p:nvPr/>
        </p:nvSpPr>
        <p:spPr>
          <a:xfrm>
            <a:off x="320675" y="4713288"/>
            <a:ext cx="9323388" cy="6826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이슈관리를 체계적으로 관리하고 해결하기 위해 아래와 같은 양식을 정의하고 이에 대한 결과를 관련자에게 의사소통 도구를 통해 즉시 피드백 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820" name="TextBox 9"/>
          <p:cNvSpPr txBox="1">
            <a:spLocks noChangeArrowheads="1"/>
          </p:cNvSpPr>
          <p:nvPr/>
        </p:nvSpPr>
        <p:spPr bwMode="auto">
          <a:xfrm>
            <a:off x="3165475" y="5995988"/>
            <a:ext cx="35433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  이슈관리 양식 예시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821" name="TextBox 9"/>
          <p:cNvSpPr txBox="1">
            <a:spLocks noChangeArrowheads="1"/>
          </p:cNvSpPr>
          <p:nvPr/>
        </p:nvSpPr>
        <p:spPr bwMode="auto">
          <a:xfrm>
            <a:off x="3219450" y="4384675"/>
            <a:ext cx="35433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  구현단계에서 발생할 수 있는 이슈의 종류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9. </a:t>
            </a:r>
            <a:r>
              <a:rPr lang="ko-KR" altLang="en-US" sz="1800" smtClean="0">
                <a:solidFill>
                  <a:srgbClr val="000000"/>
                </a:solidFill>
              </a:rPr>
              <a:t>인스펙션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10525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응용시스템의 품질을 높이기 위해 결함발생 예방활동의 일환으로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인스펙션을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수행의 대상은 분석설계 산출물과 프로그램 소스코드이다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각각에 대한 협업 대상은 분석설계의 경우 각 업무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PL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과 방법론 담당자이며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코드의 경우는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일반적으로 코드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경우는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전문도구를 사용하여 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분석설계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코드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수행시점은 연속적이지 않으며 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수립한 일정에 따른다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인스펙션 수행 계획부터 결과 피드백까지 전체과정을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리딩한다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780" name="Rectangle 6"/>
          <p:cNvSpPr>
            <a:spLocks noChangeArrowheads="1"/>
          </p:cNvSpPr>
          <p:nvPr/>
        </p:nvSpPr>
        <p:spPr bwMode="auto">
          <a:xfrm>
            <a:off x="3505200" y="2124075"/>
            <a:ext cx="2933700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358775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SzPct val="120000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9.1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분석설계 인스펙션 수행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설계 산출물 리뷰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SzPct val="120000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9.2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코드 인스펙션 수행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개발 소스코드 인스펙션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781" name="TextBox 14"/>
          <p:cNvSpPr txBox="1">
            <a:spLocks noChangeArrowheads="1"/>
          </p:cNvSpPr>
          <p:nvPr/>
        </p:nvSpPr>
        <p:spPr bwMode="auto">
          <a:xfrm>
            <a:off x="504825" y="2143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인스펙션 수행 계획서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계획 부분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QA)</a:t>
            </a: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설계 산출물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분석 설계 표준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분석 설계 가이드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개발 소스 코드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개발 표준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개발 가이드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endParaRPr lang="ko-KR" altLang="en-US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7296150" y="2133600"/>
            <a:ext cx="2085975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수행 내용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 QA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가 지정한 양식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수행 계획 및 결과서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(QA)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AutoShape 73"/>
          <p:cNvSpPr>
            <a:spLocks noChangeArrowheads="1"/>
          </p:cNvSpPr>
          <p:nvPr/>
        </p:nvSpPr>
        <p:spPr bwMode="auto">
          <a:xfrm>
            <a:off x="5838825" y="5591175"/>
            <a:ext cx="725488" cy="492125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SA</a:t>
            </a:r>
          </a:p>
        </p:txBody>
      </p:sp>
      <p:sp>
        <p:nvSpPr>
          <p:cNvPr id="75784" name="TextBox 14"/>
          <p:cNvSpPr txBox="1">
            <a:spLocks noChangeArrowheads="1"/>
          </p:cNvSpPr>
          <p:nvPr/>
        </p:nvSpPr>
        <p:spPr bwMode="auto">
          <a:xfrm>
            <a:off x="504825" y="4905375"/>
            <a:ext cx="216217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QA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의 인스펙션 계획수립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785" name="TextBox 15"/>
          <p:cNvSpPr txBox="1">
            <a:spLocks noChangeArrowheads="1"/>
          </p:cNvSpPr>
          <p:nvPr/>
        </p:nvSpPr>
        <p:spPr bwMode="auto">
          <a:xfrm>
            <a:off x="7296150" y="4886325"/>
            <a:ext cx="210502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인스펙션 결과 피드백 및 조치사항 확인</a:t>
            </a:r>
          </a:p>
        </p:txBody>
      </p:sp>
      <p:sp>
        <p:nvSpPr>
          <p:cNvPr id="75786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800350" y="2665413"/>
            <a:ext cx="533400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75787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564313" y="2665413"/>
            <a:ext cx="598487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17" name="위쪽/아래쪽 화살표 16"/>
          <p:cNvSpPr/>
          <p:nvPr/>
        </p:nvSpPr>
        <p:spPr bwMode="auto">
          <a:xfrm>
            <a:off x="4648200" y="5153025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20" name="AutoShape 73"/>
          <p:cNvSpPr>
            <a:spLocks noChangeArrowheads="1"/>
          </p:cNvSpPr>
          <p:nvPr/>
        </p:nvSpPr>
        <p:spPr bwMode="auto">
          <a:xfrm>
            <a:off x="3421063" y="5591175"/>
            <a:ext cx="752475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업무 </a:t>
            </a: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PL</a:t>
            </a:r>
          </a:p>
        </p:txBody>
      </p:sp>
      <p:sp>
        <p:nvSpPr>
          <p:cNvPr id="21" name="AutoShape 73"/>
          <p:cNvSpPr>
            <a:spLocks noChangeArrowheads="1"/>
          </p:cNvSpPr>
          <p:nvPr/>
        </p:nvSpPr>
        <p:spPr bwMode="auto">
          <a:xfrm>
            <a:off x="4237038" y="5599113"/>
            <a:ext cx="777875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방법론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담당자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22" name="AutoShape 73"/>
          <p:cNvSpPr>
            <a:spLocks noChangeArrowheads="1"/>
          </p:cNvSpPr>
          <p:nvPr/>
        </p:nvSpPr>
        <p:spPr bwMode="auto">
          <a:xfrm>
            <a:off x="5059363" y="5597525"/>
            <a:ext cx="725487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QA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3494088" y="1828800"/>
            <a:ext cx="2952750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506413" y="1855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Input</a:t>
            </a: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7288213" y="1839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Output</a:t>
            </a: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06413" y="4625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Prerequisite</a:t>
            </a: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7288213" y="4618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  <a:latin typeface="Arial" charset="0"/>
              </a:rPr>
              <a:t>Criteria</a:t>
            </a:r>
            <a:endParaRPr lang="en-US" altLang="zh-CN" sz="1400" dirty="0">
              <a:solidFill>
                <a:schemeClr val="bg1"/>
              </a:solidFill>
              <a:latin typeface="Arial" charset="0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9. </a:t>
            </a:r>
            <a:r>
              <a:rPr lang="ko-KR" altLang="en-US" sz="1800" smtClean="0">
                <a:solidFill>
                  <a:srgbClr val="000000"/>
                </a:solidFill>
              </a:rPr>
              <a:t>인스펙션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수행 업무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55959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 설계 </a:t>
            </a:r>
            <a:r>
              <a:rPr lang="ko-KR" altLang="en-US" sz="120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 업무 설명 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 설계 </a:t>
            </a:r>
            <a:r>
              <a:rPr lang="ko-KR" altLang="en-US" sz="1200" b="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분석모델과 설계모델 산출물을 대상으로 하며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QA,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방법론 담당자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분석 설계자들과 협업하여 진행한다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전체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리딩은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 의해 수행되며 수행절차와 방법은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 의해 정의한 대로 따르되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시기는 일반적으로 각 단계별 산출물이 완료되는 시점에서 각각 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 모델에 대한 검토 시 소프트웨어 아키텍처 정의에서 수립된 소프트웨어의 구조가 설계모델링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상세설계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시에 반영되었는지 확인해야 하는데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이는 프로토타입 수행 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협업하여 수립한 설계의 표준모델과 비교하여 확인한다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단계에서의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역할 범위는 다음과 같다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1259550" lvl="3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업무영역의 분석 설계 산출물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수행 및 체크결과리스트 작성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일반적으로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전업무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범위 리뷰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1259550" lvl="3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공통영역의 분석 설계 산출물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수행 및 체크결과리스트 작성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259550" lvl="3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공통영역의 분석 설계 산출물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체크결과의 적용 반영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단계에서의 체크해야 하는 대상 산출물은 다음과 같다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자세한 내용은 방법론 참조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1259550" lvl="3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분석 단계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대상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유즈케이스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모형기술서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요구사항 명세서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 ,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유즈케이스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분석서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프로세스 모델 정의서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), UI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정의서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259550" lvl="3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 단계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대상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컴포넌트 명세서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컴포넌트 기술서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유즈케이스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설계서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프로그램 설계서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), UI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설계서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259550" lvl="3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코드 </a:t>
            </a:r>
            <a:r>
              <a:rPr lang="ko-KR" altLang="en-US" sz="120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 업무 설명 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코드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사전에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및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S/A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아키텍트와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협의하여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코드인스펙션에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관한 진행방법을 정의한다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일반적으로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코드인스펙션은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전문도구에 의해 수행하는 것이 바람직한데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이는 코드인스펙션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도구과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이를 지원하는 전문가로부터 세부 체크리스트 기준과 수행방안을 도출한다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 startAt="3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유의 사항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분석 설계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대상 산출물은 적용 방법론에 따라 다르며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이는 방법론 테일러링 내역서를 통해 확인한다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업무영역의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범위과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광범위할 경우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공통팀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내부에서 방법론 담당자와 협의하여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범위를 조정하여 분할 담당하도록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9. </a:t>
            </a:r>
            <a:r>
              <a:rPr lang="ko-KR" altLang="en-US" sz="1800" smtClean="0">
                <a:solidFill>
                  <a:srgbClr val="000000"/>
                </a:solidFill>
              </a:rPr>
              <a:t>인스펙션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수행 절차 및 주체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269413" cy="4984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defRPr/>
            </a:pP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각 단계별 수행 주체를 다음과 같이 정의하였다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프로젝트의 상황에 따라 수행주체는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 의해 변경 조정될 수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Group 205"/>
          <p:cNvGraphicFramePr>
            <a:graphicFrameLocks noGrp="1"/>
          </p:cNvGraphicFramePr>
          <p:nvPr/>
        </p:nvGraphicFramePr>
        <p:xfrm>
          <a:off x="320675" y="1274763"/>
          <a:ext cx="9323389" cy="4803777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964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59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태스크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수행 내용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인스펙션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수행 주체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코드 </a:t>
                      </a: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인스펙션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수행 주체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Planning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인스펙션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범위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참가자 결정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대상 산출물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모델링 표준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 규칙 등의 체크 범위 결정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참가자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선정 및 역할 지정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QA, SA, AA,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방법론 담당자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QA, SA, AA,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툴지원담당자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9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Overview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대상산출물의 이해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대상 산출물에 대한 이해의 확인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참가자들이 대상 산출물을 알고 있다면 생략 가능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(Informal Meeting)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QA, AA, SA, PL,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방법론 담당자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QA, AA, SA, PL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툴지원담당자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Preparation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Preparation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개별 진행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체크리스트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룰셋과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같은 도구를 활용하여 대상산출물의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완정성과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시정 대상 여부 및 적절성을 판단함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참여자 별로 자료 개별 검토를 실시하여 발견된 부적합사항 기록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인스펙션의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가장 중요한 단계임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코드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인스펙션인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경우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자동인스펙션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도구 사용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전수검사 실시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PL, AA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SA,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툴지원담당자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PL, AA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597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Meeting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Discussion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Meeting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실시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인스펙션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대상 산출물의 부적합사항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및 이슈에 대한 토의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Re-Inspection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여부를 결정하고 일정 검토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핵심 관련자는 반드시 참여해야 함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SA, AA, QA, PL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SA, QA, AA, PL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97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0" marB="18000" anchor="ctr" horzOverflow="overflow"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인스펙션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미팅 결과 피드백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진행자는 최종 확정된 결함 내용을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인스펙션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결과서에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정리한 후 작성자에게 배포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QA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QA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Rework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보완작업 실시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산출물 작성자는 각 결함에 대한 조치를 수행하고 이슈로그에 결과를 기록함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분석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98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Follow-up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시정조치 결과 확인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결함 보완 완료 여부를 확인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필요 시 재검토 실시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QA, PL, AA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QA, SA, PL 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98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0" marB="18000" anchor="ctr" horzOverflow="overflow"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결과보고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진행자는 결과 보고서를 작성하여 관련자에게 보고</a:t>
                      </a: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QA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QA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7" marB="17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7896" name="TextBox 9"/>
          <p:cNvSpPr txBox="1">
            <a:spLocks noChangeArrowheads="1"/>
          </p:cNvSpPr>
          <p:nvPr/>
        </p:nvSpPr>
        <p:spPr bwMode="auto">
          <a:xfrm>
            <a:off x="3228975" y="6132513"/>
            <a:ext cx="35433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  인스펙션 단계별 수행 주체 예시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9. </a:t>
            </a:r>
            <a:r>
              <a:rPr lang="ko-KR" altLang="en-US" sz="1800" smtClean="0">
                <a:solidFill>
                  <a:srgbClr val="000000"/>
                </a:solidFill>
              </a:rPr>
              <a:t>인스펙션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참조 기술 요소</a:t>
            </a:r>
            <a:endParaRPr lang="en-US" altLang="ko-KR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9413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아래는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인스펙션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프로세스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로드맵과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산출물 유형에 따른 참가자 선정 기준이다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(Inspection Process,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품질지원팀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2009) </a:t>
            </a: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8" name="Group 59"/>
          <p:cNvGraphicFramePr>
            <a:graphicFrameLocks noGrp="1"/>
          </p:cNvGraphicFramePr>
          <p:nvPr/>
        </p:nvGraphicFramePr>
        <p:xfrm>
          <a:off x="5083175" y="1212850"/>
          <a:ext cx="4560888" cy="4999039"/>
        </p:xfrm>
        <a:graphic>
          <a:graphicData uri="http://schemas.openxmlformats.org/drawingml/2006/table">
            <a:tbl>
              <a:tblPr/>
              <a:tblGrid>
                <a:gridCol w="1119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1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산출물 유형</a:t>
                      </a:r>
                    </a:p>
                  </a:txBody>
                  <a:tcPr marL="91441" marR="91441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참가자 </a:t>
                      </a:r>
                    </a:p>
                  </a:txBody>
                  <a:tcPr marL="91441" marR="91441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요구사항 명세서</a:t>
                      </a:r>
                    </a:p>
                  </a:txBody>
                  <a:tcPr marL="91441" marR="91441" marT="45723" marB="4572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요구사항분석가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프로젝트관리자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아키텍쳐전문가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시스템테스트담당자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품질보증담당자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 대표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산출물작성자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업무전문가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기술지원 대표</a:t>
                      </a:r>
                    </a:p>
                  </a:txBody>
                  <a:tcPr marL="91441" marR="91441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아키텍처 설계서</a:t>
                      </a:r>
                    </a:p>
                  </a:txBody>
                  <a:tcPr marL="91441" marR="91441" marT="45723" marB="4572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아키텍쳐전문가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요구사항분석가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프로젝트관리자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통합테스트엔지니어</a:t>
                      </a:r>
                    </a:p>
                  </a:txBody>
                  <a:tcPr marL="91441" marR="91441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상세 설계서</a:t>
                      </a:r>
                    </a:p>
                  </a:txBody>
                  <a:tcPr marL="91441" marR="91441" marT="45723" marB="4572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아키텍쳐전문가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프로그래머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통합테스트엔지니어</a:t>
                      </a:r>
                    </a:p>
                  </a:txBody>
                  <a:tcPr marL="91441" marR="91441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 인터페이스 설계서</a:t>
                      </a:r>
                    </a:p>
                  </a:txBody>
                  <a:tcPr marL="91441" marR="91441" marT="45723" marB="4572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 인터페이스 설계자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요구사항분석가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어플리케이션 도메인 전문가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b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사용성전문가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시스템테스트엔지니어</a:t>
                      </a:r>
                    </a:p>
                  </a:txBody>
                  <a:tcPr marL="91441" marR="91441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Source</a:t>
                      </a:r>
                    </a:p>
                  </a:txBody>
                  <a:tcPr marL="91441" marR="91441" marT="45723" marB="4572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프로그래머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단위테스트엔지니어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유지보수담당자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요구사항분석가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코딩표준전문가</a:t>
                      </a:r>
                    </a:p>
                  </a:txBody>
                  <a:tcPr marL="91441" marR="91441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테스트 산출물</a:t>
                      </a:r>
                    </a:p>
                  </a:txBody>
                  <a:tcPr marL="91441" marR="91441" marT="45723" marB="4572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테스트엔지니어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프로그래머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단위테스트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또는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아키텍쳐전문가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통합테스트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또는 요구사항  분석가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시스템테스트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품질보증담당자</a:t>
                      </a:r>
                    </a:p>
                  </a:txBody>
                  <a:tcPr marL="91441" marR="91441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 기술 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명세서</a:t>
                      </a:r>
                    </a:p>
                  </a:txBody>
                  <a:tcPr marL="91441" marR="91441" marT="45723" marB="4572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프로젝트관리자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유지보수담당자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프로그래머</a:t>
                      </a:r>
                    </a:p>
                  </a:txBody>
                  <a:tcPr marL="91441" marR="91441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 매뉴얼</a:t>
                      </a:r>
                    </a:p>
                  </a:txBody>
                  <a:tcPr marL="91441" marR="91441" marT="45723" marB="4572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 작성자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요구사항분석가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 대표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시스템테스트엔지니어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유지보수담당자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교육담당자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기술지원 대표</a:t>
                      </a:r>
                    </a:p>
                  </a:txBody>
                  <a:tcPr marL="91441" marR="91441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8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프로젝트 계획서</a:t>
                      </a:r>
                    </a:p>
                  </a:txBody>
                  <a:tcPr marL="91441" marR="91441" marT="45723" marB="4572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프로젝트관리자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개발관리자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비즈니스 스폰서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마케팅 또는 영업 대표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기술 리더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b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품질보증담당자</a:t>
                      </a:r>
                    </a:p>
                  </a:txBody>
                  <a:tcPr marL="91441" marR="91441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 산출물</a:t>
                      </a:r>
                    </a:p>
                  </a:txBody>
                  <a:tcPr marL="91441" marR="91441" marT="45723" marB="4572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QA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리더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QA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팀원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Owner,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 사용자</a:t>
                      </a:r>
                    </a:p>
                  </a:txBody>
                  <a:tcPr marL="91441" marR="91441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9" name="AutoShape 88"/>
          <p:cNvSpPr>
            <a:spLocks noChangeArrowheads="1"/>
          </p:cNvSpPr>
          <p:nvPr/>
        </p:nvSpPr>
        <p:spPr bwMode="auto">
          <a:xfrm>
            <a:off x="1479550" y="1195388"/>
            <a:ext cx="2439988" cy="4986337"/>
          </a:xfrm>
          <a:prstGeom prst="roundRect">
            <a:avLst>
              <a:gd name="adj" fmla="val 2741"/>
            </a:avLst>
          </a:prstGeom>
          <a:solidFill>
            <a:schemeClr val="bg1">
              <a:lumMod val="95000"/>
            </a:schemeClr>
          </a:solidFill>
          <a:ln w="38100" algn="ctr">
            <a:solidFill>
              <a:schemeClr val="bg2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ts val="0"/>
              </a:spcBef>
              <a:defRPr/>
            </a:pPr>
            <a:endParaRPr lang="ko-KR" altLang="en-US" sz="7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Rectangle 11"/>
          <p:cNvSpPr>
            <a:spLocks noChangeArrowheads="1"/>
          </p:cNvSpPr>
          <p:nvPr/>
        </p:nvSpPr>
        <p:spPr bwMode="auto">
          <a:xfrm>
            <a:off x="1571625" y="1296988"/>
            <a:ext cx="1181100" cy="16351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>
                <a:latin typeface="맑은 고딕" pitchFamily="50" charset="-127"/>
                <a:ea typeface="맑은 고딕" pitchFamily="50" charset="-127"/>
              </a:rPr>
              <a:t>Planning</a:t>
            </a:r>
          </a:p>
        </p:txBody>
      </p:sp>
      <p:sp>
        <p:nvSpPr>
          <p:cNvPr id="51" name="Rectangle 13"/>
          <p:cNvSpPr>
            <a:spLocks noChangeArrowheads="1"/>
          </p:cNvSpPr>
          <p:nvPr/>
        </p:nvSpPr>
        <p:spPr bwMode="auto">
          <a:xfrm>
            <a:off x="1571625" y="1460500"/>
            <a:ext cx="1181100" cy="323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>
                <a:latin typeface="맑은 고딕" pitchFamily="50" charset="-127"/>
                <a:ea typeface="맑은 고딕" pitchFamily="50" charset="-127"/>
              </a:rPr>
              <a:t>Producer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>
                <a:latin typeface="맑은 고딕" pitchFamily="50" charset="-127"/>
                <a:ea typeface="맑은 고딕" pitchFamily="50" charset="-127"/>
              </a:rPr>
              <a:t>Moderator</a:t>
            </a: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1587500" y="2071688"/>
            <a:ext cx="1182688" cy="16351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>
                <a:latin typeface="맑은 고딕" pitchFamily="50" charset="-127"/>
                <a:ea typeface="맑은 고딕" pitchFamily="50" charset="-127"/>
              </a:rPr>
              <a:t>Overview</a:t>
            </a:r>
          </a:p>
        </p:txBody>
      </p:sp>
      <p:sp>
        <p:nvSpPr>
          <p:cNvPr id="53" name="Rectangle 15"/>
          <p:cNvSpPr>
            <a:spLocks noChangeArrowheads="1"/>
          </p:cNvSpPr>
          <p:nvPr/>
        </p:nvSpPr>
        <p:spPr bwMode="auto">
          <a:xfrm>
            <a:off x="1587500" y="2235200"/>
            <a:ext cx="1182688" cy="323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 dirty="0">
                <a:latin typeface="맑은 고딕" pitchFamily="50" charset="-127"/>
                <a:ea typeface="맑은 고딕" pitchFamily="50" charset="-127"/>
              </a:rPr>
              <a:t>All Inspectors</a:t>
            </a:r>
          </a:p>
        </p:txBody>
      </p:sp>
      <p:sp>
        <p:nvSpPr>
          <p:cNvPr id="54" name="Rectangle 16"/>
          <p:cNvSpPr>
            <a:spLocks noChangeArrowheads="1"/>
          </p:cNvSpPr>
          <p:nvPr/>
        </p:nvSpPr>
        <p:spPr bwMode="auto">
          <a:xfrm>
            <a:off x="1587500" y="2844800"/>
            <a:ext cx="1182688" cy="1635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>
                <a:latin typeface="맑은 고딕" pitchFamily="50" charset="-127"/>
                <a:ea typeface="맑은 고딕" pitchFamily="50" charset="-127"/>
              </a:rPr>
              <a:t>Preparation</a:t>
            </a:r>
          </a:p>
        </p:txBody>
      </p:sp>
      <p:sp>
        <p:nvSpPr>
          <p:cNvPr id="55" name="Rectangle 17"/>
          <p:cNvSpPr>
            <a:spLocks noChangeArrowheads="1"/>
          </p:cNvSpPr>
          <p:nvPr/>
        </p:nvSpPr>
        <p:spPr bwMode="auto">
          <a:xfrm>
            <a:off x="1587500" y="3008313"/>
            <a:ext cx="1182688" cy="241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 dirty="0">
                <a:latin typeface="맑은 고딕" pitchFamily="50" charset="-127"/>
                <a:ea typeface="맑은 고딕" pitchFamily="50" charset="-127"/>
              </a:rPr>
              <a:t>All Inspectors</a:t>
            </a:r>
          </a:p>
        </p:txBody>
      </p:sp>
      <p:sp>
        <p:nvSpPr>
          <p:cNvPr id="56" name="Rectangle 18"/>
          <p:cNvSpPr>
            <a:spLocks noChangeArrowheads="1"/>
          </p:cNvSpPr>
          <p:nvPr/>
        </p:nvSpPr>
        <p:spPr bwMode="auto">
          <a:xfrm>
            <a:off x="1570038" y="3517900"/>
            <a:ext cx="1181100" cy="1635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>
                <a:latin typeface="맑은 고딕" pitchFamily="50" charset="-127"/>
                <a:ea typeface="맑은 고딕" pitchFamily="50" charset="-127"/>
              </a:rPr>
              <a:t>Meeting</a:t>
            </a:r>
          </a:p>
        </p:txBody>
      </p:sp>
      <p:sp>
        <p:nvSpPr>
          <p:cNvPr id="57" name="Rectangle 19"/>
          <p:cNvSpPr>
            <a:spLocks noChangeArrowheads="1"/>
          </p:cNvSpPr>
          <p:nvPr/>
        </p:nvSpPr>
        <p:spPr bwMode="auto">
          <a:xfrm>
            <a:off x="1570038" y="3681413"/>
            <a:ext cx="1181100" cy="268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 dirty="0">
                <a:latin typeface="맑은 고딕" pitchFamily="50" charset="-127"/>
                <a:ea typeface="맑은 고딕" pitchFamily="50" charset="-127"/>
              </a:rPr>
              <a:t>All Inspectors</a:t>
            </a:r>
          </a:p>
        </p:txBody>
      </p:sp>
      <p:sp>
        <p:nvSpPr>
          <p:cNvPr id="65" name="Rectangle 20"/>
          <p:cNvSpPr>
            <a:spLocks noChangeArrowheads="1"/>
          </p:cNvSpPr>
          <p:nvPr/>
        </p:nvSpPr>
        <p:spPr bwMode="auto">
          <a:xfrm>
            <a:off x="1571625" y="4217988"/>
            <a:ext cx="1181100" cy="16351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>
                <a:latin typeface="맑은 고딕" pitchFamily="50" charset="-127"/>
                <a:ea typeface="맑은 고딕" pitchFamily="50" charset="-127"/>
              </a:rPr>
              <a:t>Rework</a:t>
            </a:r>
          </a:p>
        </p:txBody>
      </p:sp>
      <p:sp>
        <p:nvSpPr>
          <p:cNvPr id="66" name="Rectangle 21"/>
          <p:cNvSpPr>
            <a:spLocks noChangeArrowheads="1"/>
          </p:cNvSpPr>
          <p:nvPr/>
        </p:nvSpPr>
        <p:spPr bwMode="auto">
          <a:xfrm>
            <a:off x="1571625" y="4381500"/>
            <a:ext cx="1181100" cy="160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>
                <a:latin typeface="맑은 고딕" pitchFamily="50" charset="-127"/>
                <a:ea typeface="맑은 고딕" pitchFamily="50" charset="-127"/>
              </a:rPr>
              <a:t>Producer</a:t>
            </a:r>
          </a:p>
        </p:txBody>
      </p:sp>
      <p:sp>
        <p:nvSpPr>
          <p:cNvPr id="68" name="Rectangle 22"/>
          <p:cNvSpPr>
            <a:spLocks noChangeArrowheads="1"/>
          </p:cNvSpPr>
          <p:nvPr/>
        </p:nvSpPr>
        <p:spPr bwMode="auto">
          <a:xfrm>
            <a:off x="1571625" y="4789488"/>
            <a:ext cx="1181100" cy="16351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>
                <a:latin typeface="맑은 고딕" pitchFamily="50" charset="-127"/>
                <a:ea typeface="맑은 고딕" pitchFamily="50" charset="-127"/>
              </a:rPr>
              <a:t>Follow-up</a:t>
            </a:r>
          </a:p>
        </p:txBody>
      </p:sp>
      <p:sp>
        <p:nvSpPr>
          <p:cNvPr id="69" name="Rectangle 23"/>
          <p:cNvSpPr>
            <a:spLocks noChangeArrowheads="1"/>
          </p:cNvSpPr>
          <p:nvPr/>
        </p:nvSpPr>
        <p:spPr bwMode="auto">
          <a:xfrm>
            <a:off x="1571625" y="4953000"/>
            <a:ext cx="1181100" cy="323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 dirty="0">
                <a:latin typeface="맑은 고딕" pitchFamily="50" charset="-127"/>
                <a:ea typeface="맑은 고딕" pitchFamily="50" charset="-127"/>
              </a:rPr>
              <a:t>Producer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 dirty="0">
                <a:latin typeface="맑은 고딕" pitchFamily="50" charset="-127"/>
                <a:ea typeface="맑은 고딕" pitchFamily="50" charset="-127"/>
              </a:rPr>
              <a:t>Verifier</a:t>
            </a:r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1577975" y="5511800"/>
            <a:ext cx="1181100" cy="2714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ko-KR" altLang="en-US" b="0" dirty="0">
                <a:latin typeface="맑은 고딕" pitchFamily="50" charset="-127"/>
                <a:ea typeface="맑은 고딕" pitchFamily="50" charset="-127"/>
              </a:rPr>
              <a:t>데이터 수집 및 </a:t>
            </a:r>
            <a:endParaRPr lang="en-US" altLang="ko-KR" b="0" dirty="0"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>
              <a:spcBef>
                <a:spcPts val="0"/>
              </a:spcBef>
              <a:defRPr/>
            </a:pPr>
            <a:r>
              <a:rPr lang="ko-KR" altLang="en-US" b="0" dirty="0">
                <a:latin typeface="맑은 고딕" pitchFamily="50" charset="-127"/>
                <a:ea typeface="맑은 고딕" pitchFamily="50" charset="-127"/>
              </a:rPr>
              <a:t>원인 분석</a:t>
            </a:r>
          </a:p>
        </p:txBody>
      </p:sp>
      <p:sp>
        <p:nvSpPr>
          <p:cNvPr id="73" name="Rectangle 25"/>
          <p:cNvSpPr>
            <a:spLocks noChangeArrowheads="1"/>
          </p:cNvSpPr>
          <p:nvPr/>
        </p:nvSpPr>
        <p:spPr bwMode="auto">
          <a:xfrm>
            <a:off x="1577975" y="5783263"/>
            <a:ext cx="1181100" cy="323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>
                <a:latin typeface="맑은 고딕" pitchFamily="50" charset="-127"/>
                <a:ea typeface="맑은 고딕" pitchFamily="50" charset="-127"/>
              </a:rPr>
              <a:t>Inspectors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n-US" altLang="ko-KR" sz="1050" b="0">
                <a:latin typeface="맑은 고딕" pitchFamily="50" charset="-127"/>
                <a:ea typeface="맑은 고딕" pitchFamily="50" charset="-127"/>
              </a:rPr>
              <a:t>QA engineers</a:t>
            </a:r>
          </a:p>
        </p:txBody>
      </p:sp>
      <p:sp>
        <p:nvSpPr>
          <p:cNvPr id="75" name="AutoShape 26"/>
          <p:cNvSpPr>
            <a:spLocks noChangeArrowheads="1"/>
          </p:cNvSpPr>
          <p:nvPr/>
        </p:nvSpPr>
        <p:spPr bwMode="auto">
          <a:xfrm>
            <a:off x="3098800" y="2333625"/>
            <a:ext cx="681038" cy="484188"/>
          </a:xfrm>
          <a:prstGeom prst="flowChartDocument">
            <a:avLst/>
          </a:prstGeom>
          <a:gradFill rotWithShape="1">
            <a:gsLst>
              <a:gs pos="0">
                <a:srgbClr val="B5B5B5">
                  <a:gamma/>
                  <a:tint val="41176"/>
                  <a:invGamma/>
                </a:srgbClr>
              </a:gs>
              <a:gs pos="100000">
                <a:srgbClr val="B5B5B5"/>
              </a:gs>
            </a:gsLst>
            <a:lin ang="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kumimoji="0" lang="ko-KR" altLang="en-US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결함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kumimoji="0" lang="en-US" altLang="ko-KR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Checklists</a:t>
            </a:r>
          </a:p>
        </p:txBody>
      </p:sp>
      <p:sp>
        <p:nvSpPr>
          <p:cNvPr id="77" name="AutoShape 27"/>
          <p:cNvSpPr>
            <a:spLocks noChangeArrowheads="1"/>
          </p:cNvSpPr>
          <p:nvPr/>
        </p:nvSpPr>
        <p:spPr bwMode="auto">
          <a:xfrm>
            <a:off x="4129088" y="2849563"/>
            <a:ext cx="817562" cy="555625"/>
          </a:xfrm>
          <a:prstGeom prst="flowChartDocument">
            <a:avLst/>
          </a:prstGeom>
          <a:gradFill rotWithShape="1">
            <a:gsLst>
              <a:gs pos="0">
                <a:srgbClr val="B5B5B5">
                  <a:gamma/>
                  <a:tint val="41176"/>
                  <a:invGamma/>
                </a:srgbClr>
              </a:gs>
              <a:gs pos="100000">
                <a:srgbClr val="B5B5B5"/>
              </a:gs>
            </a:gsLst>
            <a:lin ang="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kumimoji="0" lang="ko-KR" altLang="en-US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관련 산출물 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kumimoji="0" lang="ko-KR" altLang="en-US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및 작성 기준</a:t>
            </a:r>
          </a:p>
        </p:txBody>
      </p:sp>
      <p:sp>
        <p:nvSpPr>
          <p:cNvPr id="78" name="AutoShape 28"/>
          <p:cNvSpPr>
            <a:spLocks noChangeArrowheads="1"/>
          </p:cNvSpPr>
          <p:nvPr/>
        </p:nvSpPr>
        <p:spPr bwMode="auto">
          <a:xfrm>
            <a:off x="3079750" y="3355975"/>
            <a:ext cx="681038" cy="484188"/>
          </a:xfrm>
          <a:prstGeom prst="flowChartDocument">
            <a:avLst/>
          </a:prstGeom>
          <a:gradFill rotWithShape="1">
            <a:gsLst>
              <a:gs pos="0">
                <a:srgbClr val="B5B5B5">
                  <a:gamma/>
                  <a:tint val="41176"/>
                  <a:invGamma/>
                </a:srgbClr>
              </a:gs>
              <a:gs pos="100000">
                <a:srgbClr val="B5B5B5"/>
              </a:gs>
            </a:gsLst>
            <a:lin ang="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kumimoji="0" lang="en-US" altLang="ko-KR" sz="1050" b="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Inspection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kumimoji="0" lang="ko-KR" altLang="en-US" sz="1050" b="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결과서</a:t>
            </a:r>
          </a:p>
        </p:txBody>
      </p:sp>
      <p:sp>
        <p:nvSpPr>
          <p:cNvPr id="79" name="AutoShape 29"/>
          <p:cNvSpPr>
            <a:spLocks noChangeArrowheads="1"/>
          </p:cNvSpPr>
          <p:nvPr/>
        </p:nvSpPr>
        <p:spPr bwMode="auto">
          <a:xfrm>
            <a:off x="3079750" y="3949700"/>
            <a:ext cx="681038" cy="539750"/>
          </a:xfrm>
          <a:prstGeom prst="flowChartDocument">
            <a:avLst/>
          </a:prstGeom>
          <a:gradFill rotWithShape="1">
            <a:gsLst>
              <a:gs pos="0">
                <a:srgbClr val="B5B5B5">
                  <a:gamma/>
                  <a:tint val="41176"/>
                  <a:invGamma/>
                </a:srgbClr>
              </a:gs>
              <a:gs pos="100000">
                <a:srgbClr val="B5B5B5"/>
              </a:gs>
            </a:gsLst>
            <a:lin ang="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kumimoji="0" lang="en-US" altLang="ko-KR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Inspection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kumimoji="0" lang="en-US" altLang="ko-KR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Lessons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kumimoji="0" lang="en-US" altLang="ko-KR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Learned</a:t>
            </a:r>
          </a:p>
        </p:txBody>
      </p:sp>
      <p:sp>
        <p:nvSpPr>
          <p:cNvPr id="81" name="AutoShape 30"/>
          <p:cNvSpPr>
            <a:spLocks noChangeArrowheads="1"/>
          </p:cNvSpPr>
          <p:nvPr/>
        </p:nvSpPr>
        <p:spPr bwMode="auto">
          <a:xfrm>
            <a:off x="434975" y="5183188"/>
            <a:ext cx="817563" cy="431800"/>
          </a:xfrm>
          <a:prstGeom prst="flowChartDocument">
            <a:avLst/>
          </a:prstGeom>
          <a:gradFill rotWithShape="1">
            <a:gsLst>
              <a:gs pos="0">
                <a:srgbClr val="B5B5B5">
                  <a:gamma/>
                  <a:tint val="41176"/>
                  <a:invGamma/>
                </a:srgbClr>
              </a:gs>
              <a:gs pos="100000">
                <a:srgbClr val="B5B5B5"/>
              </a:gs>
            </a:gsLst>
            <a:lin ang="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kumimoji="0" lang="en-US" altLang="ko-KR" sz="1050" b="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Baseline</a:t>
            </a:r>
            <a:r>
              <a:rPr kumimoji="0" lang="ko-KR" altLang="en-US" sz="1050" b="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된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kumimoji="0" lang="ko-KR" altLang="en-US" sz="1050" b="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대상 산출물</a:t>
            </a:r>
          </a:p>
        </p:txBody>
      </p:sp>
      <p:sp>
        <p:nvSpPr>
          <p:cNvPr id="83" name="AutoShape 31"/>
          <p:cNvSpPr>
            <a:spLocks noChangeArrowheads="1"/>
          </p:cNvSpPr>
          <p:nvPr/>
        </p:nvSpPr>
        <p:spPr bwMode="auto">
          <a:xfrm>
            <a:off x="4127500" y="5429250"/>
            <a:ext cx="819150" cy="431800"/>
          </a:xfrm>
          <a:prstGeom prst="flowChartDocument">
            <a:avLst/>
          </a:prstGeom>
          <a:gradFill rotWithShape="1">
            <a:gsLst>
              <a:gs pos="0">
                <a:srgbClr val="B5B5B5">
                  <a:gamma/>
                  <a:tint val="41176"/>
                  <a:invGamma/>
                </a:srgbClr>
              </a:gs>
              <a:gs pos="100000">
                <a:srgbClr val="B5B5B5"/>
              </a:gs>
            </a:gsLst>
            <a:lin ang="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kumimoji="0" lang="ko-KR" altLang="en-US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프로세스 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kumimoji="0" lang="ko-KR" altLang="en-US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개선 제안</a:t>
            </a:r>
          </a:p>
        </p:txBody>
      </p:sp>
      <p:sp>
        <p:nvSpPr>
          <p:cNvPr id="85" name="AutoShape 32"/>
          <p:cNvSpPr>
            <a:spLocks noChangeArrowheads="1"/>
          </p:cNvSpPr>
          <p:nvPr/>
        </p:nvSpPr>
        <p:spPr bwMode="auto">
          <a:xfrm>
            <a:off x="434975" y="3519488"/>
            <a:ext cx="817563" cy="433387"/>
          </a:xfrm>
          <a:prstGeom prst="flowChartDocument">
            <a:avLst/>
          </a:prstGeom>
          <a:gradFill rotWithShape="1">
            <a:gsLst>
              <a:gs pos="0">
                <a:srgbClr val="B5B5B5">
                  <a:gamma/>
                  <a:tint val="41176"/>
                  <a:invGamma/>
                </a:srgbClr>
              </a:gs>
              <a:gs pos="100000">
                <a:srgbClr val="B5B5B5"/>
              </a:gs>
            </a:gsLst>
            <a:lin ang="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kumimoji="0" lang="ko-KR" altLang="en-US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변경된 </a:t>
            </a:r>
            <a:br>
              <a:rPr kumimoji="0" lang="ko-KR" altLang="en-US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</a:br>
            <a:r>
              <a:rPr kumimoji="0" lang="ko-KR" altLang="en-US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대상 산출물</a:t>
            </a:r>
          </a:p>
        </p:txBody>
      </p:sp>
      <p:sp>
        <p:nvSpPr>
          <p:cNvPr id="86" name="AutoShape 34"/>
          <p:cNvSpPr>
            <a:spLocks noChangeArrowheads="1"/>
          </p:cNvSpPr>
          <p:nvPr/>
        </p:nvSpPr>
        <p:spPr bwMode="auto">
          <a:xfrm>
            <a:off x="434975" y="1331913"/>
            <a:ext cx="817563" cy="433387"/>
          </a:xfrm>
          <a:prstGeom prst="flowChartDocument">
            <a:avLst/>
          </a:prstGeom>
          <a:gradFill rotWithShape="1">
            <a:gsLst>
              <a:gs pos="0">
                <a:srgbClr val="B5B5B5">
                  <a:gamma/>
                  <a:tint val="41176"/>
                  <a:invGamma/>
                </a:srgbClr>
              </a:gs>
              <a:gs pos="100000">
                <a:srgbClr val="B5B5B5"/>
              </a:gs>
            </a:gsLst>
            <a:lin ang="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kumimoji="0" lang="en-US" altLang="ko-KR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Inspection 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kumimoji="0" lang="ko-KR" altLang="en-US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일정 통지</a:t>
            </a:r>
          </a:p>
        </p:txBody>
      </p:sp>
      <p:sp>
        <p:nvSpPr>
          <p:cNvPr id="88" name="AutoShape 35"/>
          <p:cNvSpPr>
            <a:spLocks noChangeArrowheads="1"/>
          </p:cNvSpPr>
          <p:nvPr/>
        </p:nvSpPr>
        <p:spPr bwMode="auto">
          <a:xfrm>
            <a:off x="4127500" y="1484313"/>
            <a:ext cx="819150" cy="554037"/>
          </a:xfrm>
          <a:prstGeom prst="flowChartDocument">
            <a:avLst/>
          </a:prstGeom>
          <a:gradFill rotWithShape="1">
            <a:gsLst>
              <a:gs pos="0">
                <a:srgbClr val="B5B5B5">
                  <a:gamma/>
                  <a:tint val="41176"/>
                  <a:invGamma/>
                </a:srgbClr>
              </a:gs>
              <a:gs pos="100000">
                <a:srgbClr val="B5B5B5"/>
              </a:gs>
            </a:gsLst>
            <a:lin ang="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kumimoji="0" lang="ko-KR" altLang="en-US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산출물 작성 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kumimoji="0" lang="ko-KR" altLang="en-US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의도 및 목적</a:t>
            </a:r>
          </a:p>
        </p:txBody>
      </p:sp>
      <p:sp>
        <p:nvSpPr>
          <p:cNvPr id="89" name="AutoShape 37"/>
          <p:cNvSpPr>
            <a:spLocks noChangeArrowheads="1"/>
          </p:cNvSpPr>
          <p:nvPr/>
        </p:nvSpPr>
        <p:spPr bwMode="auto">
          <a:xfrm>
            <a:off x="434975" y="2384425"/>
            <a:ext cx="817563" cy="431800"/>
          </a:xfrm>
          <a:prstGeom prst="flowChartDocument">
            <a:avLst/>
          </a:prstGeom>
          <a:gradFill rotWithShape="1">
            <a:gsLst>
              <a:gs pos="0">
                <a:srgbClr val="B5B5B5">
                  <a:gamma/>
                  <a:tint val="41176"/>
                  <a:invGamma/>
                </a:srgbClr>
              </a:gs>
              <a:gs pos="100000">
                <a:srgbClr val="B5B5B5"/>
              </a:gs>
            </a:gsLst>
            <a:lin ang="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kumimoji="0" lang="ko-KR" altLang="en-US" sz="1050" b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대상 산출물</a:t>
            </a:r>
          </a:p>
        </p:txBody>
      </p:sp>
      <p:cxnSp>
        <p:nvCxnSpPr>
          <p:cNvPr id="78915" name="AutoShape 38"/>
          <p:cNvCxnSpPr>
            <a:cxnSpLocks noChangeShapeType="1"/>
            <a:stCxn id="51" idx="2"/>
            <a:endCxn id="52" idx="0"/>
          </p:cNvCxnSpPr>
          <p:nvPr/>
        </p:nvCxnSpPr>
        <p:spPr bwMode="auto">
          <a:xfrm rot="16200000" flipH="1">
            <a:off x="2027238" y="1919287"/>
            <a:ext cx="287338" cy="17463"/>
          </a:xfrm>
          <a:prstGeom prst="straightConnector1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16" name="AutoShape 39"/>
          <p:cNvCxnSpPr>
            <a:cxnSpLocks noChangeShapeType="1"/>
            <a:stCxn id="53" idx="2"/>
            <a:endCxn id="54" idx="0"/>
          </p:cNvCxnSpPr>
          <p:nvPr/>
        </p:nvCxnSpPr>
        <p:spPr bwMode="auto">
          <a:xfrm rot="5400000">
            <a:off x="2035175" y="2701925"/>
            <a:ext cx="287338" cy="1588"/>
          </a:xfrm>
          <a:prstGeom prst="straightConnector1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17" name="AutoShape 40"/>
          <p:cNvCxnSpPr>
            <a:cxnSpLocks noChangeShapeType="1"/>
            <a:stCxn id="55" idx="2"/>
            <a:endCxn id="56" idx="0"/>
          </p:cNvCxnSpPr>
          <p:nvPr/>
        </p:nvCxnSpPr>
        <p:spPr bwMode="auto">
          <a:xfrm rot="5400000">
            <a:off x="2035969" y="3374232"/>
            <a:ext cx="268287" cy="19050"/>
          </a:xfrm>
          <a:prstGeom prst="straightConnector1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18" name="AutoShape 41"/>
          <p:cNvCxnSpPr>
            <a:cxnSpLocks noChangeShapeType="1"/>
            <a:stCxn id="57" idx="2"/>
            <a:endCxn id="65" idx="0"/>
          </p:cNvCxnSpPr>
          <p:nvPr/>
        </p:nvCxnSpPr>
        <p:spPr bwMode="auto">
          <a:xfrm rot="16200000" flipH="1">
            <a:off x="2027238" y="4083050"/>
            <a:ext cx="268288" cy="1587"/>
          </a:xfrm>
          <a:prstGeom prst="straightConnector1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19" name="AutoShape 42"/>
          <p:cNvCxnSpPr>
            <a:cxnSpLocks noChangeShapeType="1"/>
            <a:stCxn id="66" idx="2"/>
            <a:endCxn id="68" idx="0"/>
          </p:cNvCxnSpPr>
          <p:nvPr/>
        </p:nvCxnSpPr>
        <p:spPr bwMode="auto">
          <a:xfrm rot="5400000">
            <a:off x="2036763" y="4665663"/>
            <a:ext cx="249237" cy="1587"/>
          </a:xfrm>
          <a:prstGeom prst="straightConnector1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20" name="AutoShape 43"/>
          <p:cNvCxnSpPr>
            <a:cxnSpLocks noChangeShapeType="1"/>
            <a:stCxn id="69" idx="2"/>
            <a:endCxn id="71" idx="0"/>
          </p:cNvCxnSpPr>
          <p:nvPr/>
        </p:nvCxnSpPr>
        <p:spPr bwMode="auto">
          <a:xfrm rot="16200000" flipH="1">
            <a:off x="2047875" y="5391150"/>
            <a:ext cx="234950" cy="6350"/>
          </a:xfrm>
          <a:prstGeom prst="straightConnector1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21" name="AutoShape 67"/>
          <p:cNvCxnSpPr>
            <a:cxnSpLocks noChangeShapeType="1"/>
            <a:stCxn id="50" idx="1"/>
            <a:endCxn id="86" idx="3"/>
          </p:cNvCxnSpPr>
          <p:nvPr/>
        </p:nvCxnSpPr>
        <p:spPr bwMode="auto">
          <a:xfrm rot="10800000" flipV="1">
            <a:off x="1252538" y="1379538"/>
            <a:ext cx="319087" cy="1682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22" name="AutoShape 68"/>
          <p:cNvCxnSpPr>
            <a:cxnSpLocks noChangeShapeType="1"/>
            <a:stCxn id="88" idx="1"/>
            <a:endCxn id="52" idx="3"/>
          </p:cNvCxnSpPr>
          <p:nvPr/>
        </p:nvCxnSpPr>
        <p:spPr bwMode="auto">
          <a:xfrm rot="10800000" flipV="1">
            <a:off x="2770188" y="1760538"/>
            <a:ext cx="1357312" cy="3937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23" name="AutoShape 69"/>
          <p:cNvCxnSpPr>
            <a:cxnSpLocks noChangeShapeType="1"/>
            <a:stCxn id="89" idx="3"/>
            <a:endCxn id="65" idx="1"/>
          </p:cNvCxnSpPr>
          <p:nvPr/>
        </p:nvCxnSpPr>
        <p:spPr bwMode="auto">
          <a:xfrm>
            <a:off x="1252538" y="2600325"/>
            <a:ext cx="319087" cy="16986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24" name="AutoShape 70"/>
          <p:cNvCxnSpPr>
            <a:cxnSpLocks noChangeShapeType="1"/>
            <a:stCxn id="89" idx="3"/>
            <a:endCxn id="54" idx="1"/>
          </p:cNvCxnSpPr>
          <p:nvPr/>
        </p:nvCxnSpPr>
        <p:spPr bwMode="auto">
          <a:xfrm>
            <a:off x="1252538" y="2600325"/>
            <a:ext cx="334962" cy="32543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25" name="AutoShape 71"/>
          <p:cNvCxnSpPr>
            <a:cxnSpLocks noChangeShapeType="1"/>
            <a:stCxn id="89" idx="3"/>
            <a:endCxn id="56" idx="1"/>
          </p:cNvCxnSpPr>
          <p:nvPr/>
        </p:nvCxnSpPr>
        <p:spPr bwMode="auto">
          <a:xfrm>
            <a:off x="1252538" y="2600325"/>
            <a:ext cx="317500" cy="99853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26" name="AutoShape 72"/>
          <p:cNvCxnSpPr>
            <a:cxnSpLocks noChangeShapeType="1"/>
            <a:stCxn id="75" idx="1"/>
            <a:endCxn id="54" idx="3"/>
          </p:cNvCxnSpPr>
          <p:nvPr/>
        </p:nvCxnSpPr>
        <p:spPr bwMode="auto">
          <a:xfrm rot="10800000" flipV="1">
            <a:off x="2770188" y="2576513"/>
            <a:ext cx="328612" cy="3492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27" name="AutoShape 73"/>
          <p:cNvCxnSpPr>
            <a:cxnSpLocks noChangeShapeType="1"/>
            <a:stCxn id="77" idx="1"/>
            <a:endCxn id="55" idx="3"/>
          </p:cNvCxnSpPr>
          <p:nvPr/>
        </p:nvCxnSpPr>
        <p:spPr bwMode="auto">
          <a:xfrm rot="10800000" flipV="1">
            <a:off x="2770188" y="3127375"/>
            <a:ext cx="1358900" cy="1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28" name="AutoShape 74"/>
          <p:cNvCxnSpPr>
            <a:cxnSpLocks noChangeShapeType="1"/>
            <a:stCxn id="69" idx="1"/>
            <a:endCxn id="81" idx="3"/>
          </p:cNvCxnSpPr>
          <p:nvPr/>
        </p:nvCxnSpPr>
        <p:spPr bwMode="auto">
          <a:xfrm rot="10800000" flipV="1">
            <a:off x="1252538" y="5114925"/>
            <a:ext cx="319087" cy="2841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29" name="AutoShape 75"/>
          <p:cNvCxnSpPr>
            <a:cxnSpLocks noChangeShapeType="1"/>
            <a:stCxn id="66" idx="1"/>
            <a:endCxn id="85" idx="2"/>
          </p:cNvCxnSpPr>
          <p:nvPr/>
        </p:nvCxnSpPr>
        <p:spPr bwMode="auto">
          <a:xfrm rot="10800000">
            <a:off x="842963" y="3924300"/>
            <a:ext cx="728662" cy="536575"/>
          </a:xfrm>
          <a:prstGeom prst="bentConnector2">
            <a:avLst/>
          </a:prstGeom>
          <a:noFill/>
          <a:ln w="9525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30" name="AutoShape 76"/>
          <p:cNvCxnSpPr>
            <a:cxnSpLocks noChangeShapeType="1"/>
            <a:stCxn id="85" idx="1"/>
            <a:endCxn id="68" idx="1"/>
          </p:cNvCxnSpPr>
          <p:nvPr/>
        </p:nvCxnSpPr>
        <p:spPr bwMode="auto">
          <a:xfrm rot="10800000" flipH="1" flipV="1">
            <a:off x="434975" y="3736975"/>
            <a:ext cx="1136650" cy="1135063"/>
          </a:xfrm>
          <a:prstGeom prst="bentConnector3">
            <a:avLst>
              <a:gd name="adj1" fmla="val -10259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31" name="AutoShape 77"/>
          <p:cNvCxnSpPr>
            <a:cxnSpLocks noChangeShapeType="1"/>
            <a:stCxn id="56" idx="3"/>
            <a:endCxn id="78" idx="1"/>
          </p:cNvCxnSpPr>
          <p:nvPr/>
        </p:nvCxnSpPr>
        <p:spPr bwMode="auto">
          <a:xfrm flipV="1">
            <a:off x="2751138" y="3598863"/>
            <a:ext cx="328612" cy="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32" name="AutoShape 78"/>
          <p:cNvCxnSpPr>
            <a:cxnSpLocks noChangeShapeType="1"/>
            <a:stCxn id="56" idx="3"/>
            <a:endCxn id="79" idx="1"/>
          </p:cNvCxnSpPr>
          <p:nvPr/>
        </p:nvCxnSpPr>
        <p:spPr bwMode="auto">
          <a:xfrm>
            <a:off x="2751138" y="3598863"/>
            <a:ext cx="328612" cy="62071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933" name="AutoShape 79"/>
          <p:cNvCxnSpPr>
            <a:cxnSpLocks noChangeShapeType="1"/>
            <a:stCxn id="71" idx="3"/>
            <a:endCxn id="83" idx="1"/>
          </p:cNvCxnSpPr>
          <p:nvPr/>
        </p:nvCxnSpPr>
        <p:spPr bwMode="auto">
          <a:xfrm flipV="1">
            <a:off x="2759075" y="5645150"/>
            <a:ext cx="1368425" cy="1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8934" name="TextBox 9"/>
          <p:cNvSpPr txBox="1">
            <a:spLocks noChangeArrowheads="1"/>
          </p:cNvSpPr>
          <p:nvPr/>
        </p:nvSpPr>
        <p:spPr bwMode="auto">
          <a:xfrm>
            <a:off x="684213" y="6265863"/>
            <a:ext cx="35433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Inspection Process Road-Map&gt;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935" name="TextBox 9"/>
          <p:cNvSpPr txBox="1">
            <a:spLocks noChangeArrowheads="1"/>
          </p:cNvSpPr>
          <p:nvPr/>
        </p:nvSpPr>
        <p:spPr bwMode="auto">
          <a:xfrm>
            <a:off x="5029200" y="6265863"/>
            <a:ext cx="35433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인스펙션 산출물 유형 및 참가자 예시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/>
              <a:t>II. </a:t>
            </a:r>
            <a:r>
              <a:rPr lang="ko-KR" altLang="en-US" sz="1800" smtClean="0"/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10. </a:t>
            </a:r>
            <a:r>
              <a:rPr lang="ko-KR" altLang="en-US" sz="1800" smtClean="0">
                <a:solidFill>
                  <a:srgbClr val="000000"/>
                </a:solidFill>
              </a:rPr>
              <a:t>컴포넌트 취합</a:t>
            </a:r>
            <a:r>
              <a:rPr lang="en-US" altLang="ko-KR" sz="1800" smtClean="0">
                <a:solidFill>
                  <a:srgbClr val="000000"/>
                </a:solidFill>
              </a:rPr>
              <a:t>/</a:t>
            </a:r>
            <a:r>
              <a:rPr lang="ko-KR" altLang="en-US" sz="1800" smtClean="0">
                <a:solidFill>
                  <a:srgbClr val="000000"/>
                </a:solidFill>
              </a:rPr>
              <a:t>패키징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개발이 완료된 업무영역에 대해서는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통합빌드를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수행하여 실행모듈을 생성한다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프로그램 소스코드가 어떤 실행모듈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컴포넌트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로 생성이 되며 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레벨에 정의한 응용시스템 기능과 어떻게 연결되는지 정리한다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또한 프로그램 호출구조와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연관성를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분석하여 프로그램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변경시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어디까지 파급효과가 발생하는지 분석하여 효율적인 운영환경 구성을 준비한다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46084" name="Rectangle 6"/>
          <p:cNvSpPr>
            <a:spLocks noChangeArrowheads="1"/>
          </p:cNvSpPr>
          <p:nvPr/>
        </p:nvSpPr>
        <p:spPr bwMode="auto">
          <a:xfrm>
            <a:off x="3505200" y="2124075"/>
            <a:ext cx="2933700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10.1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실행 컴포넌트 취합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소스 취합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빌드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패키징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및 배포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(SA)</a:t>
            </a: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AV5 </a:t>
            </a:r>
            <a:r>
              <a:rPr lang="ko-KR" altLang="en-US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응용프로그램 목록 작성</a:t>
            </a:r>
            <a:endParaRPr lang="en-US" altLang="ko-KR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Application Component Diagram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작성 지원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(w/ SA)</a:t>
            </a: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endParaRPr lang="en-US" altLang="ko-KR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877" name="TextBox 14"/>
          <p:cNvSpPr txBox="1">
            <a:spLocks noChangeArrowheads="1"/>
          </p:cNvSpPr>
          <p:nvPr/>
        </p:nvSpPr>
        <p:spPr bwMode="auto">
          <a:xfrm>
            <a:off x="504825" y="2143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개발 프로그램 소스 코드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통합 빌드 구조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설계 산출물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7296150" y="2133600"/>
            <a:ext cx="2085975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응용프로그램 목록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Application Component Diagram (SA)</a:t>
            </a:r>
          </a:p>
        </p:txBody>
      </p:sp>
      <p:sp>
        <p:nvSpPr>
          <p:cNvPr id="10" name="AutoShape 73"/>
          <p:cNvSpPr>
            <a:spLocks noChangeArrowheads="1"/>
          </p:cNvSpPr>
          <p:nvPr/>
        </p:nvSpPr>
        <p:spPr bwMode="auto">
          <a:xfrm>
            <a:off x="3540125" y="5591175"/>
            <a:ext cx="1422400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SA</a:t>
            </a:r>
          </a:p>
        </p:txBody>
      </p:sp>
      <p:sp>
        <p:nvSpPr>
          <p:cNvPr id="79880" name="TextBox 14"/>
          <p:cNvSpPr txBox="1">
            <a:spLocks noChangeArrowheads="1"/>
          </p:cNvSpPr>
          <p:nvPr/>
        </p:nvSpPr>
        <p:spPr bwMode="auto">
          <a:xfrm>
            <a:off x="504825" y="4905375"/>
            <a:ext cx="216217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SA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에 의한 통합 빌드 자동화 구조에 의해 코드 컴파일 및 배포가 완료 되어야 함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79881" name="TextBox 15"/>
          <p:cNvSpPr txBox="1">
            <a:spLocks noChangeArrowheads="1"/>
          </p:cNvSpPr>
          <p:nvPr/>
        </p:nvSpPr>
        <p:spPr bwMode="auto">
          <a:xfrm>
            <a:off x="7296150" y="4886325"/>
            <a:ext cx="210502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의 응용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레벨을 위한 기능별 소스코드 목록이 추출 가능해야 함 </a:t>
            </a:r>
          </a:p>
        </p:txBody>
      </p:sp>
      <p:sp>
        <p:nvSpPr>
          <p:cNvPr id="79882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800350" y="2665413"/>
            <a:ext cx="533400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79883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564313" y="2665413"/>
            <a:ext cx="598487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17" name="위쪽/아래쪽 화살표 16"/>
          <p:cNvSpPr/>
          <p:nvPr/>
        </p:nvSpPr>
        <p:spPr bwMode="auto">
          <a:xfrm>
            <a:off x="4648200" y="5153025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18" name="AutoShape 73"/>
          <p:cNvSpPr>
            <a:spLocks noChangeArrowheads="1"/>
          </p:cNvSpPr>
          <p:nvPr/>
        </p:nvSpPr>
        <p:spPr bwMode="auto">
          <a:xfrm>
            <a:off x="5029200" y="5591175"/>
            <a:ext cx="1417638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 err="1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공통팀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 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3494088" y="1828800"/>
            <a:ext cx="2952750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506413" y="1855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Input</a:t>
            </a: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7288213" y="1839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Output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506413" y="4625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Prerequisite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7288213" y="4618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  <a:latin typeface="Arial" charset="0"/>
              </a:rPr>
              <a:t>Criteria</a:t>
            </a:r>
            <a:endParaRPr lang="en-US" altLang="zh-CN" sz="1400" dirty="0">
              <a:solidFill>
                <a:schemeClr val="bg1"/>
              </a:solidFill>
              <a:latin typeface="Arial" charset="0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10. </a:t>
            </a:r>
            <a:r>
              <a:rPr lang="ko-KR" altLang="en-US" sz="1800" smtClean="0">
                <a:solidFill>
                  <a:srgbClr val="000000"/>
                </a:solidFill>
              </a:rPr>
              <a:t>컴포넌트 취합</a:t>
            </a:r>
            <a:r>
              <a:rPr lang="en-US" altLang="ko-KR" sz="1800" smtClean="0">
                <a:solidFill>
                  <a:srgbClr val="000000"/>
                </a:solidFill>
              </a:rPr>
              <a:t>/</a:t>
            </a:r>
            <a:r>
              <a:rPr lang="ko-KR" altLang="en-US" sz="1800" smtClean="0">
                <a:solidFill>
                  <a:srgbClr val="000000"/>
                </a:solidFill>
              </a:rPr>
              <a:t>패키징 </a:t>
            </a:r>
            <a:r>
              <a:rPr lang="en-US" altLang="ko-KR" sz="1800" smtClean="0">
                <a:solidFill>
                  <a:srgbClr val="000000"/>
                </a:solidFill>
              </a:rPr>
              <a:t>&gt; 10.1 </a:t>
            </a:r>
            <a:r>
              <a:rPr lang="ko-KR" altLang="en-US" sz="1800" smtClean="0">
                <a:solidFill>
                  <a:srgbClr val="000000"/>
                </a:solidFill>
              </a:rPr>
              <a:t>실행 컴포넌트 취합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269413" cy="54848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관점에서 프로그램 소스코드를 취합하고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빌드를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수행하여 실행 컴포넌트를 생성하고 이에 대한 기능 목록을 작성하는 목적은 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레벨의 산출물인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AV5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응용프로그램 목록 작성을 용이하게 하기 위함이다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이는 프로그램의 추적을 가능하게 하여 향 후 관리자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설계자 관점에서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운영의 효율성을 달성할 수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이를 통해 정보자원의 효율적인 활용과 가시성을 확보한다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 업무 설명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일반적으로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소스의 취합을 위해 별도로 수행해야 하는 작업은 없다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왜냐하면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 의해 구축된 개발환경에 의해 소스는 형상관리서버에 일관되게 관리되고 있기 때문이다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그러나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소스코드의 관리 구조를 명확히 알고 있어야 하며 언제든지 현재버전의 소스를 취합하여 정리 할 수 있어야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소스 코드 프로그램을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빌드하면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실행 프로그램이 생성이 되는데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빌드의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과정은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담당한다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빌드가 정상적으로 수행된 후 생성되는 실행 프로그램의 위치와 종류를 파악하여 이를 기반으로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AV5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 프로그램 목록을 작성한다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아래는 응용프로그램과 소스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그리고 응용기능을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매핑한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표이다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이러한 형태의 표를 작성하고 관리한다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	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위 표의 작성기준이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응용기능명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대신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컴포넌트명이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될 수도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프로젝트 특성에 따라 정의한다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.).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작업의 핵심은 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레벨에서 분할 정의한 응용기능과 정확히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매핑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해야만 관리자와 개발자간의 연계가 이루어 진다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2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정리하면 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는 다음의 내용을 알고 있어야 한다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..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143000" lvl="3" indent="-2286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소스취합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물리적인 소스의 위치 파악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143000" lvl="3" indent="-2286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빌드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패키징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수행시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실행 컴포넌트의 위치 파악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어플리케이션 다이어그램은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AV2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응용시스템 구성도와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AV2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응용기능 분할도가 복합적으로 표현된 것으로서 응용시스템의 물리적인 관점에서 실행 컴포넌트 및 모듈의 구성을 기능과 결합하여 표현한 그림이다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이를 작성하기 위해서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AV5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응용 프로그램 목록이 필요하다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Group 57"/>
          <p:cNvGraphicFramePr>
            <a:graphicFrameLocks noGrp="1"/>
          </p:cNvGraphicFramePr>
          <p:nvPr>
            <p:ph sz="half" idx="4294967295"/>
          </p:nvPr>
        </p:nvGraphicFramePr>
        <p:xfrm>
          <a:off x="1077913" y="3008313"/>
          <a:ext cx="8566150" cy="1338263"/>
        </p:xfrm>
        <a:graphic>
          <a:graphicData uri="http://schemas.openxmlformats.org/drawingml/2006/table">
            <a:tbl>
              <a:tblPr/>
              <a:tblGrid>
                <a:gridCol w="1217612">
                  <a:extLst>
                    <a:ext uri="{9D8B030D-6E8A-4147-A177-3AD203B41FA5}">
                      <a16:colId xmlns:a16="http://schemas.microsoft.com/office/drawing/2014/main" val="263236129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1086102176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1995081779"/>
                    </a:ext>
                  </a:extLst>
                </a:gridCol>
                <a:gridCol w="1430338">
                  <a:extLst>
                    <a:ext uri="{9D8B030D-6E8A-4147-A177-3AD203B41FA5}">
                      <a16:colId xmlns:a16="http://schemas.microsoft.com/office/drawing/2014/main" val="2382607886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4286901361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3097045719"/>
                    </a:ext>
                  </a:extLst>
                </a:gridCol>
              </a:tblGrid>
              <a:tr h="259203"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응용기능명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소스코드 종류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소스위치 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컴포넌트명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위치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비고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672026"/>
                  </a:ext>
                </a:extLst>
              </a:tr>
              <a:tr h="259203">
                <a:tc rowSpan="4"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학사관리</a:t>
                      </a:r>
                      <a:endParaRPr kumimoji="1" lang="en-US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Biz</a:t>
                      </a:r>
                      <a:endParaRPr kumimoji="1" lang="ko-KR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./src/biz/AaaaSB.java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Aaaa.jar</a:t>
                      </a:r>
                    </a:p>
                  </a:txBody>
                  <a:tcPr marT="45742" marB="4574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/project/Biz/</a:t>
                      </a:r>
                    </a:p>
                  </a:txBody>
                  <a:tcPr marT="45742" marB="4574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324970"/>
                  </a:ext>
                </a:extLst>
              </a:tr>
              <a:tr h="2592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./src/biz/AaaaDAO.java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979031"/>
                  </a:ext>
                </a:extLst>
              </a:tr>
              <a:tr h="2700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Control</a:t>
                      </a:r>
                      <a:endParaRPr kumimoji="1" lang="ko-KR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./src/ctl/AaaaService.java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AaaaService.class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/project/Web/WEB-INF/classes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굴림" panose="020B0600000101010101" pitchFamily="50" charset="-127"/>
                      </a:endParaRP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64151"/>
                  </a:ext>
                </a:extLst>
              </a:tr>
              <a:tr h="2906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UI</a:t>
                      </a:r>
                      <a:endParaRPr kumimoji="1" lang="ko-KR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./src/jsp/Aaaa.jsp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/project/Web/WEB-INF/jsp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latinLnBrk="1" hangingPunct="0">
                        <a:buFont typeface="돋움" panose="020B0600000101010101" pitchFamily="50" charset="-127"/>
                        <a:defRPr kumimoji="1" sz="2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latinLnBrk="1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latinLnBrk="1" hangingPunct="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latinLnBrk="1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굴림" panose="020B0600000101010101" pitchFamily="50" charset="-127"/>
                      </a:endParaRPr>
                    </a:p>
                  </a:txBody>
                  <a:tcPr marT="45742" marB="457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886764"/>
                  </a:ext>
                </a:extLst>
              </a:tr>
            </a:tbl>
          </a:graphicData>
        </a:graphic>
      </p:graphicFrame>
      <p:sp>
        <p:nvSpPr>
          <p:cNvPr id="80939" name="TextBox 9"/>
          <p:cNvSpPr txBox="1">
            <a:spLocks noChangeArrowheads="1"/>
          </p:cNvSpPr>
          <p:nvPr/>
        </p:nvSpPr>
        <p:spPr bwMode="auto">
          <a:xfrm>
            <a:off x="3309938" y="4457700"/>
            <a:ext cx="35433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 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AV5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응용프로그램 목록을 위한 참고표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10. </a:t>
            </a:r>
            <a:r>
              <a:rPr lang="ko-KR" altLang="en-US" sz="1800" smtClean="0">
                <a:solidFill>
                  <a:srgbClr val="000000"/>
                </a:solidFill>
              </a:rPr>
              <a:t>컴포넌트 취합</a:t>
            </a:r>
            <a:r>
              <a:rPr lang="en-US" altLang="ko-KR" sz="1800" smtClean="0">
                <a:solidFill>
                  <a:srgbClr val="000000"/>
                </a:solidFill>
              </a:rPr>
              <a:t>/</a:t>
            </a:r>
            <a:r>
              <a:rPr lang="ko-KR" altLang="en-US" sz="1800" smtClean="0">
                <a:solidFill>
                  <a:srgbClr val="000000"/>
                </a:solidFill>
              </a:rPr>
              <a:t>패키징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참조 기술 사항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269413" cy="53736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AV5 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 프로그램 목록과 물리적인 소스코드 위치와의 연동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궁극적으로는 관리자는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EAMS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를 활용하여 업무변화에 따른 응용기능의 수정의 정도와 파급효과 예측을 스스로 확인하고 이를 설계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개발자와 투명하게 커뮤니케이션 하기를 원한다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이렇게 되기 위해서는 실제 물리적인 소스코드가 업무기능과 정확히 연결되어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EAMS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를 통해 확인가능 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AV5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 프로그램 목록의 관리와 형상관리와 연동하여 응용 프로그램의 소스코드 정보를 실시간으로 확인 하도록 연계하거나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 구조 분석과 소스 변경에 따른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영향도를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파악하는 기능과 연계된다면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운영의 궁극적인 목적을 달성할 수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응용시스템 구조 분석 및 변경 영향 분석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관리자 관점 뿐 아니라 개발자 관점의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자원을 효과적으로 활용하게 되면 응용시스템 유지보수에 대한 효율성을 높일 수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그러기 위해서는 응용시스템 구조 분석 및 변경 영향 분석이 효과적으로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EAMS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연동하여 적용되어져야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이에 대한 해결방안은 다음 세가지로 요약된다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1259550" lvl="3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상용 솔루션의 사용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Application Mining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도구를 활용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259550" lvl="3" indent="-342900" latinLnBrk="1">
              <a:spcBef>
                <a:spcPct val="20000"/>
              </a:spcBef>
              <a:buClr>
                <a:srgbClr val="3333CC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	- Application Mining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은 중요한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Technical Information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을 각각의 담당자들에게 제공하여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Project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예측이나 계획수립 및 정확한 업무에 대한 분석을 제공하여 줌으로써 평가를 위한 의사결정에 도움을 준다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다양한 응용시스템 플랫폼에 대해서 분석을 지원하므로 전사의 모든 응용시스템들을 통합관리 할 수 있는 장점이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1259550" lvl="3" indent="-342900" latinLnBrk="1">
              <a:spcBef>
                <a:spcPct val="20000"/>
              </a:spcBef>
              <a:buClr>
                <a:srgbClr val="3333CC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 	-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상용솔루션으로 </a:t>
            </a:r>
            <a:r>
              <a:rPr lang="en-US" altLang="ko-KR" sz="1200" b="0" kern="0" dirty="0" err="1">
                <a:latin typeface="맑은 고딕" pitchFamily="50" charset="-127"/>
                <a:ea typeface="맑은 고딕" pitchFamily="50" charset="-127"/>
              </a:rPr>
              <a:t>SmartDocu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같은 제품이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1259550" lvl="3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 startAt="2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 프레임워크를 통한 시스템 구현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259550" lvl="3" indent="-342900" latinLnBrk="1">
              <a:spcBef>
                <a:spcPct val="20000"/>
              </a:spcBef>
              <a:buClr>
                <a:srgbClr val="3333CC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	- NEXCORE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같은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J2EE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어플리케이션 프레임워크에는 프레임워크 기반의 컴포넌트 구조를 분석하여 메타정보를 저장하고 이를 기반으로 변경 영향 분석을 하는 기능이 내장되어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이를 커스터마이징 하여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EAMS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연동한다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259550" lvl="3" indent="-342900" latinLnBrk="1">
              <a:spcBef>
                <a:spcPct val="20000"/>
              </a:spcBef>
              <a:buClr>
                <a:srgbClr val="3333CC"/>
              </a:buClr>
              <a:buFont typeface="+mj-ea"/>
              <a:buAutoNum type="circleNumDbPlain" startAt="3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자체 개발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1259550" lvl="3" indent="-342900" latinLnBrk="1">
              <a:spcBef>
                <a:spcPct val="20000"/>
              </a:spcBef>
              <a:buClr>
                <a:srgbClr val="3333CC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	- EAMS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에서 응용시스템 의 소스코드와 직접 연결되도록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EAMS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를 수정하고 소스코드 간의 연관성을 찾은 기능을 직접 개발하여 추가한다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rgbClr val="3333CC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CBD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개념을 충실히 따라 응용시스템을 개발한다면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각각의 컴포넌트는 독립 실행 되므로 컴포넌트간의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Coupling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없다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따라서 인터페이스의 변화만 없다면 수정하고자 하는 응용기능의 단위 컴포넌트만 찾아서 수정하면 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데이터베이스 테이블의 변경은 예외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11. </a:t>
            </a:r>
            <a:r>
              <a:rPr lang="ko-KR" altLang="en-US" sz="1800" smtClean="0">
                <a:solidFill>
                  <a:srgbClr val="000000"/>
                </a:solidFill>
              </a:rPr>
              <a:t>통합테스트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SK C&amp;C Teaming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가이드에 의하면 통합테스트 및 시스템테스트의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리딩은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테스트관리자에 의해서 진행된다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별도지정이 없을 경우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QA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수행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 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그러나 시스템테스트의 실질적 환경 구성 및 진행은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통합테스트의 수행 지원은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담당한다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통합테스트 진행시 다음과 같이 업무를 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948" name="Rectangle 6"/>
          <p:cNvSpPr>
            <a:spLocks noChangeArrowheads="1"/>
          </p:cNvSpPr>
          <p:nvPr/>
        </p:nvSpPr>
        <p:spPr bwMode="auto">
          <a:xfrm>
            <a:off x="3505200" y="2124075"/>
            <a:ext cx="2933700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358775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SzPct val="120000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11.1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통합테스트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수행 준비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통합테스트 환경 조성</a:t>
            </a: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SzPct val="120000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11.2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통합테스트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수행  및 지원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통합테스트 케이스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작성 지원</a:t>
            </a: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결함 추적 취합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원인 분석</a:t>
            </a: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해결 방안 도출 및 해결 지원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SzPct val="120000"/>
            </a:pP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949" name="TextBox 14"/>
          <p:cNvSpPr txBox="1">
            <a:spLocks noChangeArrowheads="1"/>
          </p:cNvSpPr>
          <p:nvPr/>
        </p:nvSpPr>
        <p:spPr bwMode="auto">
          <a:xfrm>
            <a:off x="504825" y="2143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통합테스트 계획서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테스트관리자 또는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QA)</a:t>
            </a: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통합테스트 시나리오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통합테스트 케이스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7296150" y="2133600"/>
            <a:ext cx="2085975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통합테스트 케이스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로그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결함 추적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통합테스트 결과서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테스트관리자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QA)</a:t>
            </a:r>
          </a:p>
        </p:txBody>
      </p:sp>
      <p:sp>
        <p:nvSpPr>
          <p:cNvPr id="82951" name="TextBox 14"/>
          <p:cNvSpPr txBox="1">
            <a:spLocks noChangeArrowheads="1"/>
          </p:cNvSpPr>
          <p:nvPr/>
        </p:nvSpPr>
        <p:spPr bwMode="auto">
          <a:xfrm>
            <a:off x="504825" y="4905375"/>
            <a:ext cx="216217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단위 테스트의 완료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컴포넌트 취합 및 패키징의 완료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82952" name="TextBox 15"/>
          <p:cNvSpPr txBox="1">
            <a:spLocks noChangeArrowheads="1"/>
          </p:cNvSpPr>
          <p:nvPr/>
        </p:nvSpPr>
        <p:spPr bwMode="auto">
          <a:xfrm>
            <a:off x="7296150" y="4886325"/>
            <a:ext cx="210502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통합테스트 수행 결과에서 도출된 결함 제거</a:t>
            </a:r>
          </a:p>
        </p:txBody>
      </p:sp>
      <p:sp>
        <p:nvSpPr>
          <p:cNvPr id="82953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800350" y="2665413"/>
            <a:ext cx="533400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82954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564313" y="2665413"/>
            <a:ext cx="598487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12" name="위쪽/아래쪽 화살표 11"/>
          <p:cNvSpPr/>
          <p:nvPr/>
        </p:nvSpPr>
        <p:spPr bwMode="auto">
          <a:xfrm>
            <a:off x="4648200" y="5153025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13" name="AutoShape 73"/>
          <p:cNvSpPr>
            <a:spLocks noChangeArrowheads="1"/>
          </p:cNvSpPr>
          <p:nvPr/>
        </p:nvSpPr>
        <p:spPr bwMode="auto">
          <a:xfrm>
            <a:off x="3513138" y="5591175"/>
            <a:ext cx="1031875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65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테스트관리자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(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또는 </a:t>
            </a: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QA)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494088" y="1828800"/>
            <a:ext cx="2952750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506413" y="1855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Input</a:t>
            </a: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7288213" y="1839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Output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506413" y="4625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Prerequisite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7288213" y="4618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  <a:latin typeface="Arial" charset="0"/>
              </a:rPr>
              <a:t>Criteria</a:t>
            </a:r>
            <a:endParaRPr lang="en-US" altLang="zh-CN" sz="140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9" name="AutoShape 73"/>
          <p:cNvSpPr>
            <a:spLocks noChangeArrowheads="1"/>
          </p:cNvSpPr>
          <p:nvPr/>
        </p:nvSpPr>
        <p:spPr bwMode="auto">
          <a:xfrm>
            <a:off x="4625975" y="5599113"/>
            <a:ext cx="968375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설계자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20" name="AutoShape 73"/>
          <p:cNvSpPr>
            <a:spLocks noChangeArrowheads="1"/>
          </p:cNvSpPr>
          <p:nvPr/>
        </p:nvSpPr>
        <p:spPr bwMode="auto">
          <a:xfrm>
            <a:off x="5683250" y="5588000"/>
            <a:ext cx="969963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개발자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12. </a:t>
            </a:r>
            <a:r>
              <a:rPr lang="ko-KR" altLang="en-US" sz="1800" smtClean="0">
                <a:solidFill>
                  <a:srgbClr val="000000"/>
                </a:solidFill>
              </a:rPr>
              <a:t>매뉴얼 작성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개요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8683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사용자를 위한 매뉴얼 작성과 교육 훈련 계획을 통하여 곧 이어 수행될 응용시스템 이행에 만전을 기한다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수행 작성한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시스템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운영자 매뉴얼에 대해 어플리케이션 관점에서 검토 보완을 수행하여 응용시스템 운영관리의 이슈를 사전에 도출하여 위험을 제거한다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494088" y="1828800"/>
            <a:ext cx="2952750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06413" y="1855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Input</a:t>
            </a:r>
          </a:p>
        </p:txBody>
      </p:sp>
      <p:sp>
        <p:nvSpPr>
          <p:cNvPr id="83974" name="Rectangle 6"/>
          <p:cNvSpPr>
            <a:spLocks noChangeArrowheads="1"/>
          </p:cNvSpPr>
          <p:nvPr/>
        </p:nvSpPr>
        <p:spPr bwMode="auto">
          <a:xfrm>
            <a:off x="3505200" y="2124075"/>
            <a:ext cx="2933700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358775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SzPct val="120000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10.1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매뉴얼 작성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교육 훈련 계획 수립</a:t>
            </a: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업무 매뉴얼 작성 취합</a:t>
            </a: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SzPct val="120000"/>
            </a:pP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10.2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운영자 매뉴얼 검토</a:t>
            </a: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운영자 매뉴얼 검토 보완</a:t>
            </a: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SzPct val="120000"/>
            </a:pP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7288213" y="1839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Output</a:t>
            </a:r>
          </a:p>
        </p:txBody>
      </p:sp>
      <p:sp>
        <p:nvSpPr>
          <p:cNvPr id="83976" name="TextBox 14"/>
          <p:cNvSpPr txBox="1">
            <a:spLocks noChangeArrowheads="1"/>
          </p:cNvSpPr>
          <p:nvPr/>
        </p:nvSpPr>
        <p:spPr bwMode="auto">
          <a:xfrm>
            <a:off x="504825" y="2143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분석 설계 산출물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개발된 응용시스템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7296150" y="2133600"/>
            <a:ext cx="2085975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교육 훈련 계획서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사용자 매뉴얼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운영자 매뉴얼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(SA)</a:t>
            </a:r>
          </a:p>
        </p:txBody>
      </p:sp>
      <p:sp>
        <p:nvSpPr>
          <p:cNvPr id="10" name="AutoShape 73"/>
          <p:cNvSpPr>
            <a:spLocks noChangeArrowheads="1"/>
          </p:cNvSpPr>
          <p:nvPr/>
        </p:nvSpPr>
        <p:spPr bwMode="auto">
          <a:xfrm>
            <a:off x="5994400" y="5591175"/>
            <a:ext cx="849313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고객 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(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교육진행</a:t>
            </a: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)</a:t>
            </a:r>
          </a:p>
        </p:txBody>
      </p:sp>
      <p:sp>
        <p:nvSpPr>
          <p:cNvPr id="83979" name="TextBox 14"/>
          <p:cNvSpPr txBox="1">
            <a:spLocks noChangeArrowheads="1"/>
          </p:cNvSpPr>
          <p:nvPr/>
        </p:nvSpPr>
        <p:spPr bwMode="auto">
          <a:xfrm>
            <a:off x="504825" y="4905375"/>
            <a:ext cx="216217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어플리케이션 개발 및 테스트의 완료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83980" name="TextBox 15"/>
          <p:cNvSpPr txBox="1">
            <a:spLocks noChangeArrowheads="1"/>
          </p:cNvSpPr>
          <p:nvPr/>
        </p:nvSpPr>
        <p:spPr bwMode="auto">
          <a:xfrm>
            <a:off x="7296150" y="4886325"/>
            <a:ext cx="210502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고객 검토 확인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506413" y="4625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Prerequisite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7288213" y="4618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  <a:latin typeface="Arial" charset="0"/>
              </a:rPr>
              <a:t>Criteria</a:t>
            </a:r>
            <a:endParaRPr lang="en-US" altLang="zh-CN" sz="140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83983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800350" y="2665413"/>
            <a:ext cx="533400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83984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564313" y="2665413"/>
            <a:ext cx="598487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17" name="위쪽/아래쪽 화살표 16"/>
          <p:cNvSpPr/>
          <p:nvPr/>
        </p:nvSpPr>
        <p:spPr bwMode="auto">
          <a:xfrm>
            <a:off x="4648200" y="5153025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18" name="AutoShape 73"/>
          <p:cNvSpPr>
            <a:spLocks noChangeArrowheads="1"/>
          </p:cNvSpPr>
          <p:nvPr/>
        </p:nvSpPr>
        <p:spPr bwMode="auto">
          <a:xfrm>
            <a:off x="4386263" y="5591175"/>
            <a:ext cx="765175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 err="1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공통팀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 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19" name="AutoShape 73"/>
          <p:cNvSpPr>
            <a:spLocks noChangeArrowheads="1"/>
          </p:cNvSpPr>
          <p:nvPr/>
        </p:nvSpPr>
        <p:spPr bwMode="auto">
          <a:xfrm>
            <a:off x="5227638" y="5599113"/>
            <a:ext cx="711200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업무 </a:t>
            </a: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PL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 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20" name="AutoShape 73"/>
          <p:cNvSpPr>
            <a:spLocks noChangeArrowheads="1"/>
          </p:cNvSpPr>
          <p:nvPr/>
        </p:nvSpPr>
        <p:spPr bwMode="auto">
          <a:xfrm>
            <a:off x="3484563" y="5599113"/>
            <a:ext cx="850900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SA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12. </a:t>
            </a:r>
            <a:r>
              <a:rPr lang="ko-KR" altLang="en-US" sz="1800" smtClean="0">
                <a:solidFill>
                  <a:srgbClr val="000000"/>
                </a:solidFill>
              </a:rPr>
              <a:t>매뉴얼 작성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업무설명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25669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 업무 설명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먼저 사용자 교육 계획을 수립한다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시스템 규모 및 업무 특성에 따라 사용자 그룹은 다양한데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사용자의 특성에 따라 교육 방식과 일정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차수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차수당 인원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교육진행자 선정 등을 고객과 같이 협의하여 진행해야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사용자 매뉴얼 중 공통 업무 부분의 매뉴얼을 담당한다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단위 업무 매뉴얼은 각 업무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PL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책임하에 작성 취합하게 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업무 공통 영역의 사용자 매뉴얼을 기능별로 작성 취합한다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이를 각 업무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PL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에게 검토를 요청한다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시스템 운영자 매뉴얼의 작성은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책임하에 수행하게 되는데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응용시스템의 운영관리자 입장에서 매뉴얼 작성이 충실한지 검토하고 수정 반영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유의 사항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교육 훈련 계획 수립은 사용자 교육 외에 설계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개발 가이드와 같은 프로젝트 팀원도 대상이 되는 교육들이 존재하는데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이는 별도의 교육 훈련 계획에 따라 진행한다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13.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이행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개요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8683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응용시스템의 이행은 운영 환경 구축을 수행하여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컷오버를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통해 업무수행이 완료된다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운영 환경 구축이 완료되면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컷오버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전까지 사용자 교육 진행을 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수립한 운영전환 계획에 따라 운영 전환 업무를 수행하고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고객의 인수테스트가 완료되면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컷오버를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진행하고 전환 점검 및 결과서 작성을 공통팀 및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과 같이 수행하여 완료한다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505200" y="2124075"/>
            <a:ext cx="2933700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13.1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운영 환경 구축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운영 환경 구축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(SA)</a:t>
            </a: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데이터 이행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(DA)</a:t>
            </a: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응용시스템 운영 환경 확인 및 유지보수 환경 구축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(w/ SA)</a:t>
            </a: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endParaRPr lang="en-US" altLang="ko-KR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13.1 </a:t>
            </a:r>
            <a:r>
              <a:rPr lang="ko-KR" altLang="en-US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교육 훈련 수행</a:t>
            </a:r>
            <a:endParaRPr lang="en-US" altLang="ko-KR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사용자 교육 진행 </a:t>
            </a:r>
            <a:r>
              <a:rPr lang="ko-KR" altLang="en-US" sz="12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리딩</a:t>
            </a:r>
            <a:endParaRPr lang="en-US" altLang="ko-KR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endParaRPr lang="en-US" altLang="ko-KR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13.2 </a:t>
            </a:r>
            <a:r>
              <a:rPr lang="ko-KR" altLang="en-US" sz="12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컷오버</a:t>
            </a:r>
            <a:r>
              <a: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(Cutover)</a:t>
            </a:r>
          </a:p>
          <a:p>
            <a:pPr marL="358775" lvl="1" indent="-228600" defTabSz="787400" eaLnBrk="1" hangingPunct="1">
              <a:spcBef>
                <a:spcPct val="50000"/>
              </a:spcBef>
              <a:buSzPct val="120000"/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운영 전환 점검 결과서 작성 </a:t>
            </a:r>
            <a:r>
              <a:rPr lang="ko-KR" altLang="en-US" sz="12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리딩</a:t>
            </a:r>
            <a:endParaRPr lang="en-US" altLang="ko-KR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endParaRPr lang="en-US" altLang="ko-KR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defTabSz="787400" eaLnBrk="1" hangingPunct="1">
              <a:spcBef>
                <a:spcPct val="50000"/>
              </a:spcBef>
              <a:buSzPct val="120000"/>
              <a:defRPr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504825" y="2143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운영 전환 계획서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(SA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운영환경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(H/W, S/W,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네트워크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) </a:t>
            </a: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응용시스템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 eaLnBrk="1" hangingPunct="1">
              <a:spcBef>
                <a:spcPct val="50000"/>
              </a:spcBef>
              <a:buFontTx/>
              <a:buAutoNum type="alphaUcPeriod"/>
              <a:defRPr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데이터 이행 시나리오 및 </a:t>
            </a:r>
            <a:r>
              <a:rPr lang="ko-KR" altLang="en-US" sz="1200" dirty="0" err="1">
                <a:latin typeface="맑은 고딕" pitchFamily="50" charset="-127"/>
                <a:ea typeface="맑은 고딕" pitchFamily="50" charset="-127"/>
              </a:rPr>
              <a:t>구시스템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데이터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(DA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86022" name="TextBox 15"/>
          <p:cNvSpPr txBox="1">
            <a:spLocks noChangeArrowheads="1"/>
          </p:cNvSpPr>
          <p:nvPr/>
        </p:nvSpPr>
        <p:spPr bwMode="auto">
          <a:xfrm>
            <a:off x="7296150" y="2133600"/>
            <a:ext cx="2085975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교육 진행 결과 피드백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FontTx/>
              <a:buAutoNum type="alphaUcPeriod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운영전환 점검 결과서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(SA)</a:t>
            </a:r>
          </a:p>
        </p:txBody>
      </p:sp>
      <p:sp>
        <p:nvSpPr>
          <p:cNvPr id="10" name="AutoShape 73"/>
          <p:cNvSpPr>
            <a:spLocks noChangeArrowheads="1"/>
          </p:cNvSpPr>
          <p:nvPr/>
        </p:nvSpPr>
        <p:spPr bwMode="auto">
          <a:xfrm>
            <a:off x="3540125" y="5591175"/>
            <a:ext cx="1022350" cy="476250"/>
          </a:xfrm>
          <a:prstGeom prst="roundRect">
            <a:avLst>
              <a:gd name="adj" fmla="val 275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SA</a:t>
            </a:r>
          </a:p>
        </p:txBody>
      </p:sp>
      <p:sp>
        <p:nvSpPr>
          <p:cNvPr id="86024" name="TextBox 14"/>
          <p:cNvSpPr txBox="1">
            <a:spLocks noChangeArrowheads="1"/>
          </p:cNvSpPr>
          <p:nvPr/>
        </p:nvSpPr>
        <p:spPr bwMode="auto">
          <a:xfrm>
            <a:off x="504825" y="4905375"/>
            <a:ext cx="216217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실 운영 환경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(H/W, S/W,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의 준비</a:t>
            </a:r>
          </a:p>
        </p:txBody>
      </p:sp>
      <p:sp>
        <p:nvSpPr>
          <p:cNvPr id="86025" name="TextBox 15"/>
          <p:cNvSpPr txBox="1">
            <a:spLocks noChangeArrowheads="1"/>
          </p:cNvSpPr>
          <p:nvPr/>
        </p:nvSpPr>
        <p:spPr bwMode="auto">
          <a:xfrm>
            <a:off x="7296150" y="4886325"/>
            <a:ext cx="210502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운영 전환 점검결과에 대한 고객 검토 및 승인</a:t>
            </a:r>
          </a:p>
        </p:txBody>
      </p:sp>
      <p:sp>
        <p:nvSpPr>
          <p:cNvPr id="86026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800350" y="2665413"/>
            <a:ext cx="533400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86027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564313" y="2665413"/>
            <a:ext cx="598487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17" name="위쪽/아래쪽 화살표 16"/>
          <p:cNvSpPr/>
          <p:nvPr/>
        </p:nvSpPr>
        <p:spPr bwMode="auto">
          <a:xfrm>
            <a:off x="4648200" y="5153025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18" name="AutoShape 73"/>
          <p:cNvSpPr>
            <a:spLocks noChangeArrowheads="1"/>
          </p:cNvSpPr>
          <p:nvPr/>
        </p:nvSpPr>
        <p:spPr bwMode="auto">
          <a:xfrm>
            <a:off x="5586413" y="5591175"/>
            <a:ext cx="906462" cy="492125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 err="1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공통팀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 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3494088" y="1828800"/>
            <a:ext cx="2952750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506413" y="1855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Input</a:t>
            </a: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7288213" y="1839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Output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506413" y="4625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Prerequisite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7288213" y="4618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  <a:latin typeface="Arial" charset="0"/>
              </a:rPr>
              <a:t>Criteria</a:t>
            </a:r>
            <a:endParaRPr lang="en-US" altLang="zh-CN" sz="140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5" name="AutoShape 73"/>
          <p:cNvSpPr>
            <a:spLocks noChangeArrowheads="1"/>
          </p:cNvSpPr>
          <p:nvPr/>
        </p:nvSpPr>
        <p:spPr bwMode="auto">
          <a:xfrm>
            <a:off x="4624388" y="5599113"/>
            <a:ext cx="906462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DA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 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13. 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이행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업무설명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52625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5150" lvl="1" indent="-342900" latinLnBrk="1">
              <a:spcBef>
                <a:spcPct val="20000"/>
              </a:spcBef>
              <a:buClr>
                <a:srgbClr val="3333CC"/>
              </a:buClr>
              <a:buFont typeface="+mj-lt"/>
              <a:buAutoNum type="arabicParenR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 업무 설명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운영 서버로의 환경 구성 및 응용시스템의 설치는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총괄 담당하여 진행하고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DB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구성은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DA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담당하여 진행하는데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때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응용시스템이 계획대로 설치되었는지 확인하고 응용시스템 실행을 통해 기능동작의 적정성 여부를 확인해야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응용시스템 운영 환경이 확인되면 이후에 발생되는 시스템 오류나 간단한 기능 수정사항을 운영시스템에 반영하기 위해 최적의 유지보수 환경을 구축한다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이는 응용시스템 구축시 시스템 공통기능으로서 고객의 요구사항에 포함될 수도 있으나 그렇지 않은 경우는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협의하여 다음과 같은 방식으로 진행한다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NEXCORE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프레임워크를 사용하는 경우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NEXCORE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운영도구 내에 배포관리 모듈이 존재하므로 이를 적용한다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운영자가 운영화면으로 통하여 개발서버의 런타임 모듈을 선택하여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패키징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한 후 다수의 운영시스템으로 자동배포 하는 기능을 가지고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기타 상용 프레임워크를 사용하는 경우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상용프레임워크의 아키텍처에 맞는 배포 환경을 프레임워크 담당자 및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협의하여 구성한다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+mj-ea"/>
              <a:buAutoNum type="circleNumDbPlain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독자 개발 하는 경우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오픈소스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기반으로 자체 정의하여 구축하는 경우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 :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파일 복사 및 전송 기능을 활용하여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협의한 후 가장 간단하고 효과적인 방식을 선정하고 구축한다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유지보수 환경이 구축되면 이를 운영매뉴얼에 추가한다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사용자 교육 훈련 진행을 업무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PL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과 협의하여 진행 리딩을 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교육대상자들로부터 개선사항을 피드백 받고 이를 반영한다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후 고객과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PM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에게 교육 결과를 보고한다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컷오버의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수행으로 운영 전환이 완료되면 운영 전환 점검 결과를 수행하고 이에 대한 점검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결과서를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작성한다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smtClean="0">
                <a:solidFill>
                  <a:srgbClr val="000000"/>
                </a:solidFill>
              </a:rPr>
              <a:t>II. </a:t>
            </a:r>
            <a:r>
              <a:rPr lang="ko-KR" altLang="en-US" sz="1800" smtClean="0">
                <a:solidFill>
                  <a:srgbClr val="000000"/>
                </a:solidFill>
              </a:rPr>
              <a:t>수행 방안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14. EAMS </a:t>
            </a:r>
            <a:r>
              <a:rPr lang="ko-KR" altLang="en-US" sz="1800" smtClean="0">
                <a:solidFill>
                  <a:srgbClr val="000000"/>
                </a:solidFill>
              </a:rPr>
              <a:t>반영지원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9185275" cy="8683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수행의 마지막 단계로서 본 문서에 정의된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산출물을 고객의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EAMS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 반영하도록 고객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담당자를 지원한다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고객의 조직에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EAMS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가 이미 구축되어 있어야 이 단계를 수행할 수 있다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프로젝트에서 구축한 응용시스템의 최종정보를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EAMS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시스템에 반영하여 고객의 정보자원의 효율적인 운영을 조기에 달성하도록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068" name="Rectangle 6"/>
          <p:cNvSpPr>
            <a:spLocks noChangeArrowheads="1"/>
          </p:cNvSpPr>
          <p:nvPr/>
        </p:nvSpPr>
        <p:spPr bwMode="auto">
          <a:xfrm>
            <a:off x="3505200" y="2124075"/>
            <a:ext cx="2933700" cy="3009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358775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787400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787400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SzPct val="120000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14.1 EAMS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반영 지원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AA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산출물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(AV1, AV2, AV3, AV4, AV5)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리뷰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EAMS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요청 목록 정리</a:t>
            </a: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buSzPct val="1200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현행 아키텍처로의 전환 지원</a:t>
            </a: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buSzPct val="120000"/>
            </a:pP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069" name="TextBox 14"/>
          <p:cNvSpPr txBox="1">
            <a:spLocks noChangeArrowheads="1"/>
          </p:cNvSpPr>
          <p:nvPr/>
        </p:nvSpPr>
        <p:spPr bwMode="auto">
          <a:xfrm>
            <a:off x="504825" y="2143125"/>
            <a:ext cx="2181225" cy="23622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AA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수행 산출물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(AV1, AV2, AV3, AV4, AV5)</a:t>
            </a:r>
          </a:p>
        </p:txBody>
      </p:sp>
      <p:sp>
        <p:nvSpPr>
          <p:cNvPr id="88070" name="TextBox 15"/>
          <p:cNvSpPr txBox="1">
            <a:spLocks noChangeArrowheads="1"/>
          </p:cNvSpPr>
          <p:nvPr/>
        </p:nvSpPr>
        <p:spPr bwMode="auto">
          <a:xfrm>
            <a:off x="7296150" y="2133600"/>
            <a:ext cx="2085975" cy="22479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AutoNum type="alphaUcPeriod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EAMS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수정 요청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목록 및 관련 산출물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071" name="TextBox 14"/>
          <p:cNvSpPr txBox="1">
            <a:spLocks noChangeArrowheads="1"/>
          </p:cNvSpPr>
          <p:nvPr/>
        </p:nvSpPr>
        <p:spPr bwMode="auto">
          <a:xfrm>
            <a:off x="504825" y="4905375"/>
            <a:ext cx="216217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고객에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EAMS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기 구축 완료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88072" name="TextBox 15"/>
          <p:cNvSpPr txBox="1">
            <a:spLocks noChangeArrowheads="1"/>
          </p:cNvSpPr>
          <p:nvPr/>
        </p:nvSpPr>
        <p:spPr bwMode="auto">
          <a:xfrm>
            <a:off x="7296150" y="4886325"/>
            <a:ext cx="2105025" cy="12954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>
              <a:buFontTx/>
              <a:buChar char="-"/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N/A</a:t>
            </a:r>
            <a:endParaRPr lang="ko-KR" altLang="en-US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073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V="1">
            <a:off x="2800350" y="2665413"/>
            <a:ext cx="533400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88074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6564313" y="2665413"/>
            <a:ext cx="598487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rgbClr val="D0D0D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D0D0D0"/>
            </a:extrusionClr>
            <a:contourClr>
              <a:srgbClr val="D0D0D0"/>
            </a:contourClr>
          </a:sp3d>
        </p:spPr>
        <p:txBody>
          <a:bodyPr rot="10800000" tIns="91440" rIns="0" bIns="0">
            <a:flatTx/>
          </a:bodyPr>
          <a:lstStyle>
            <a:lvl1pPr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9377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9377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>
              <a:spcBef>
                <a:spcPct val="0"/>
              </a:spcBef>
            </a:pPr>
            <a:endParaRPr kumimoji="0" lang="zh-CN" altLang="en-US" sz="1200" b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12" name="위쪽/아래쪽 화살표 11"/>
          <p:cNvSpPr/>
          <p:nvPr/>
        </p:nvSpPr>
        <p:spPr bwMode="auto">
          <a:xfrm>
            <a:off x="4648200" y="5153025"/>
            <a:ext cx="685800" cy="416927"/>
          </a:xfrm>
          <a:prstGeom prst="upDownArrow">
            <a:avLst>
              <a:gd name="adj1" fmla="val 60818"/>
              <a:gd name="adj2" fmla="val 4158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44450" h="19050"/>
            <a:bevelB w="0" h="95250"/>
          </a:sp3d>
        </p:spPr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13" name="AutoShape 73"/>
          <p:cNvSpPr>
            <a:spLocks noChangeArrowheads="1"/>
          </p:cNvSpPr>
          <p:nvPr/>
        </p:nvSpPr>
        <p:spPr bwMode="auto">
          <a:xfrm>
            <a:off x="3513138" y="5591175"/>
            <a:ext cx="2933700" cy="476250"/>
          </a:xfrm>
          <a:prstGeom prst="roundRect">
            <a:avLst>
              <a:gd name="adj" fmla="val 2750"/>
            </a:avLst>
          </a:prstGeom>
          <a:solidFill>
            <a:srgbClr val="FFFFFF">
              <a:lumMod val="75000"/>
            </a:srgbClr>
          </a:solidFill>
          <a:ln w="9525" algn="ctr">
            <a:solidFill>
              <a:srgbClr val="00336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고객 </a:t>
            </a:r>
            <a:r>
              <a:rPr lang="en-US" altLang="ko-KR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EA </a:t>
            </a:r>
            <a:r>
              <a:rPr lang="ko-KR" altLang="en-US" sz="1050" b="0" dirty="0">
                <a:solidFill>
                  <a:schemeClr val="bg1"/>
                </a:solidFill>
                <a:latin typeface="산돌고딕B" pitchFamily="50" charset="-127"/>
                <a:ea typeface="-윤고딕140" pitchFamily="18" charset="-127"/>
                <a:cs typeface="Arial" pitchFamily="34" charset="0"/>
              </a:rPr>
              <a:t>담당자 </a:t>
            </a:r>
            <a:endParaRPr lang="en-US" altLang="ko-KR" sz="1050" b="0" dirty="0">
              <a:solidFill>
                <a:schemeClr val="bg1"/>
              </a:solidFill>
              <a:latin typeface="산돌고딕B" pitchFamily="50" charset="-127"/>
              <a:ea typeface="-윤고딕140" pitchFamily="18" charset="-127"/>
              <a:cs typeface="Arial" pitchFamily="34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494088" y="1828800"/>
            <a:ext cx="2952750" cy="2873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작업수행 내용</a:t>
            </a:r>
            <a:endParaRPr lang="en-US" altLang="zh-CN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506413" y="1855788"/>
            <a:ext cx="2190750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Input</a:t>
            </a: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7288213" y="1839913"/>
            <a:ext cx="2100262" cy="2873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Output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506413" y="4625975"/>
            <a:ext cx="2173287" cy="2714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zh-CN" sz="1400" dirty="0">
                <a:solidFill>
                  <a:schemeClr val="bg1"/>
                </a:solidFill>
                <a:latin typeface="Arial" charset="0"/>
              </a:rPr>
              <a:t>Prerequisite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7288213" y="4618038"/>
            <a:ext cx="2127250" cy="2524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 eaLnBrk="1" hangingPunct="1">
              <a:buSzPct val="120000"/>
              <a:defRPr/>
            </a:pPr>
            <a:r>
              <a:rPr lang="en-US" altLang="ko-KR" sz="1400" dirty="0">
                <a:solidFill>
                  <a:schemeClr val="bg1"/>
                </a:solidFill>
                <a:latin typeface="Arial" charset="0"/>
              </a:rPr>
              <a:t>Criteria</a:t>
            </a:r>
            <a:endParaRPr lang="en-US" altLang="zh-CN" sz="1400" dirty="0">
              <a:solidFill>
                <a:schemeClr val="bg1"/>
              </a:solidFill>
              <a:latin typeface="Arial" charset="0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395288"/>
            <a:r>
              <a:rPr lang="en-US" altLang="ko-KR" sz="1800" smtClean="0">
                <a:solidFill>
                  <a:srgbClr val="000000"/>
                </a:solidFill>
              </a:rPr>
              <a:t>III. </a:t>
            </a:r>
            <a:r>
              <a:rPr lang="ko-KR" altLang="en-US" sz="1800" smtClean="0">
                <a:solidFill>
                  <a:srgbClr val="000000"/>
                </a:solidFill>
              </a:rPr>
              <a:t>소프트웨어 아키텍처로의 반영 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1. </a:t>
            </a:r>
            <a:r>
              <a:rPr lang="ko-KR" altLang="en-US" sz="1800" smtClean="0">
                <a:solidFill>
                  <a:srgbClr val="000000"/>
                </a:solidFill>
              </a:rPr>
              <a:t>개요 </a:t>
            </a:r>
            <a:endParaRPr lang="en-US" altLang="ko-KR" smtClean="0"/>
          </a:p>
        </p:txBody>
      </p:sp>
      <p:sp>
        <p:nvSpPr>
          <p:cNvPr id="5" name="내용 개체 틀 13"/>
          <p:cNvSpPr txBox="1">
            <a:spLocks/>
          </p:cNvSpPr>
          <p:nvPr/>
        </p:nvSpPr>
        <p:spPr>
          <a:xfrm>
            <a:off x="320675" y="903288"/>
            <a:ext cx="9323388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응용아키텍처 관리 관점에서의 소프트웨어 아키텍처 수립을 위해서 기존의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업무에 다음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Task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를 보완하여 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화살표의 의미는 화살표의 시작인 해당 산출물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또는 수행업무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화살표 끝 방향의 업무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또는 산출물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에 영향을 미친다는 뜻이다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  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9092" name="그룹 49"/>
          <p:cNvGrpSpPr>
            <a:grpSpLocks/>
          </p:cNvGrpSpPr>
          <p:nvPr/>
        </p:nvGrpSpPr>
        <p:grpSpPr bwMode="auto">
          <a:xfrm>
            <a:off x="320675" y="1543050"/>
            <a:ext cx="9266238" cy="4665663"/>
            <a:chOff x="312738" y="1516063"/>
            <a:chExt cx="9266237" cy="4665662"/>
          </a:xfrm>
        </p:grpSpPr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>
              <a:off x="3663951" y="2187576"/>
              <a:ext cx="2927350" cy="6667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rgbClr val="B2B2B2"/>
              </a:solidFill>
              <a:miter lim="800000"/>
              <a:headEnd/>
              <a:tailEnd/>
            </a:ln>
            <a:effectLst/>
          </p:spPr>
          <p:txBody>
            <a:bodyPr tIns="10800" bIns="10800" anchor="ctr"/>
            <a:lstStyle/>
            <a:p>
              <a:pPr algn="ctr">
                <a:spcBef>
                  <a:spcPts val="0"/>
                </a:spcBef>
                <a:spcAft>
                  <a:spcPct val="20000"/>
                </a:spcAft>
                <a:buFont typeface="Wingdings" pitchFamily="2" charset="2"/>
                <a:buNone/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업무요구사항파악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ts val="0"/>
                </a:spcBef>
                <a:spcAft>
                  <a:spcPct val="20000"/>
                </a:spcAft>
                <a:buFont typeface="Wingdings" pitchFamily="2" charset="2"/>
                <a:buNone/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정보기술아키텍처원칙 반영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ts val="0"/>
                </a:spcBef>
                <a:spcAft>
                  <a:spcPct val="20000"/>
                </a:spcAft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응용시스템구성도</a:t>
              </a: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정의서 분석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685" name="Text Box 11"/>
            <p:cNvSpPr txBox="1">
              <a:spLocks noChangeArrowheads="1"/>
            </p:cNvSpPr>
            <p:nvPr/>
          </p:nvSpPr>
          <p:spPr bwMode="auto">
            <a:xfrm>
              <a:off x="3663951" y="2957513"/>
              <a:ext cx="2927350" cy="322263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rgbClr val="B2B2B2"/>
              </a:solidFill>
              <a:miter lim="800000"/>
              <a:headEnd/>
              <a:tailEnd/>
            </a:ln>
          </p:spPr>
          <p:txBody>
            <a:bodyPr tIns="10800" bIns="10800" anchor="ctr"/>
            <a:lstStyle/>
            <a:p>
              <a:pPr algn="ctr">
                <a:spcAft>
                  <a:spcPct val="20000"/>
                </a:spcAft>
                <a:defRPr/>
              </a:pPr>
              <a:r>
                <a:rPr lang="ko-KR" altLang="en-US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응용</a:t>
              </a:r>
              <a:r>
                <a:rPr lang="en-US" altLang="ko-KR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ko-KR" altLang="en-US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레벨 응용시스템관계도의 반영</a:t>
              </a:r>
            </a:p>
          </p:txBody>
        </p:sp>
        <p:sp>
          <p:nvSpPr>
            <p:cNvPr id="71686" name="Text Box 12"/>
            <p:cNvSpPr txBox="1">
              <a:spLocks noChangeArrowheads="1"/>
            </p:cNvSpPr>
            <p:nvPr/>
          </p:nvSpPr>
          <p:spPr bwMode="auto">
            <a:xfrm>
              <a:off x="3663951" y="5187950"/>
              <a:ext cx="2927350" cy="284162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rgbClr val="B2B2B2"/>
              </a:solidFill>
              <a:miter lim="800000"/>
              <a:headEnd/>
              <a:tailEnd/>
            </a:ln>
          </p:spPr>
          <p:txBody>
            <a:bodyPr tIns="10800" bIns="10800" anchor="ctr"/>
            <a:lstStyle/>
            <a:p>
              <a:pPr algn="ctr">
                <a:spcAft>
                  <a:spcPct val="20000"/>
                </a:spcAft>
                <a:defRPr/>
              </a:pPr>
              <a:r>
                <a:rPr lang="ko-KR" altLang="en-US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응용 </a:t>
              </a:r>
              <a:r>
                <a:rPr lang="en-US" altLang="ko-KR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레벨의 반영</a:t>
              </a:r>
            </a:p>
          </p:txBody>
        </p:sp>
        <p:sp>
          <p:nvSpPr>
            <p:cNvPr id="71687" name="Text Box 18"/>
            <p:cNvSpPr txBox="1">
              <a:spLocks noChangeArrowheads="1"/>
            </p:cNvSpPr>
            <p:nvPr/>
          </p:nvSpPr>
          <p:spPr bwMode="auto">
            <a:xfrm>
              <a:off x="3663951" y="4019550"/>
              <a:ext cx="2927350" cy="280987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rgbClr val="B2B2B2"/>
              </a:solidFill>
              <a:miter lim="800000"/>
              <a:headEnd/>
              <a:tailEnd/>
            </a:ln>
          </p:spPr>
          <p:txBody>
            <a:bodyPr tIns="10800" bIns="10800" anchor="ctr"/>
            <a:lstStyle/>
            <a:p>
              <a:pPr algn="ctr">
                <a:spcAft>
                  <a:spcPct val="20000"/>
                </a:spcAft>
                <a:defRPr/>
              </a:pPr>
              <a:r>
                <a:rPr lang="ko-KR" altLang="en-US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응용</a:t>
              </a:r>
              <a:r>
                <a:rPr lang="en-US" altLang="ko-KR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ko-KR" altLang="en-US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레벨 기능분할과 응용</a:t>
              </a:r>
              <a:r>
                <a:rPr lang="en-US" altLang="ko-KR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lang="ko-KR" altLang="en-US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레벨의 반영</a:t>
              </a:r>
            </a:p>
          </p:txBody>
        </p:sp>
        <p:sp>
          <p:nvSpPr>
            <p:cNvPr id="89097" name="Rectangle 105"/>
            <p:cNvSpPr>
              <a:spLocks noChangeArrowheads="1"/>
            </p:cNvSpPr>
            <p:nvPr/>
          </p:nvSpPr>
          <p:spPr bwMode="auto">
            <a:xfrm>
              <a:off x="3975100" y="1516063"/>
              <a:ext cx="2408238" cy="318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012" tIns="50800" rIns="100012" bIns="50800">
              <a:spAutoFit/>
            </a:bodyPr>
            <a:lstStyle>
              <a:lvl1pPr marL="174625" indent="-174625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spcAft>
                  <a:spcPct val="20000"/>
                </a:spcAft>
                <a:buFont typeface="Wingdings" panose="05000000000000000000" pitchFamily="2" charset="2"/>
                <a:buNone/>
              </a:pPr>
              <a:r>
                <a:rPr lang="en-US" altLang="ko-KR" sz="1400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AA+SA </a:t>
              </a:r>
              <a:r>
                <a:rPr lang="ko-KR" altLang="en-US" sz="1400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수행 </a:t>
              </a:r>
              <a:r>
                <a:rPr lang="en-US" altLang="ko-KR" sz="1400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Task</a:t>
              </a:r>
              <a:endParaRPr lang="ko-KR" altLang="en-US" sz="1400" u="sng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312738" y="1763713"/>
              <a:ext cx="592138" cy="44180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75B8D9"/>
              </a:solidFill>
              <a:miter lim="800000"/>
              <a:headEnd/>
              <a:tailEnd/>
            </a:ln>
            <a:effectLst/>
          </p:spPr>
          <p:txBody>
            <a:bodyPr wrap="none" lIns="2" tIns="2" rIns="2" bIns="2" anchor="ctr"/>
            <a:lstStyle/>
            <a:p>
              <a:pPr algn="ctr" defTabSz="976313">
                <a:spcBef>
                  <a:spcPct val="5000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소프트웨어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  <a:p>
              <a:pPr algn="ctr" defTabSz="976313">
                <a:spcBef>
                  <a:spcPct val="5000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아키텍처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  <a:p>
              <a:pPr algn="ctr" defTabSz="976313">
                <a:spcBef>
                  <a:spcPct val="5000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정의서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AutoShape 11"/>
            <p:cNvSpPr>
              <a:spLocks noChangeArrowheads="1"/>
            </p:cNvSpPr>
            <p:nvPr/>
          </p:nvSpPr>
          <p:spPr bwMode="auto">
            <a:xfrm>
              <a:off x="927101" y="3776663"/>
              <a:ext cx="2006600" cy="422275"/>
            </a:xfrm>
            <a:prstGeom prst="homePlat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ko-KR" altLang="en-US" sz="1050" i="1" dirty="0">
                  <a:latin typeface="맑은 고딕" pitchFamily="50" charset="-127"/>
                  <a:ea typeface="맑은 고딕" pitchFamily="50" charset="-127"/>
                </a:rPr>
                <a:t>비즈니스 컴포넌트 구현표준</a:t>
              </a:r>
              <a:endParaRPr lang="en-US" altLang="ko-KR" sz="1050" i="1" dirty="0">
                <a:latin typeface="맑은 고딕" pitchFamily="50" charset="-127"/>
                <a:ea typeface="맑은 고딕" pitchFamily="50" charset="-127"/>
              </a:endParaRPr>
            </a:p>
            <a:p>
              <a:pPr algn="ctr" defTabSz="974725">
                <a:spcBef>
                  <a:spcPct val="50000"/>
                </a:spcBef>
                <a:defRPr/>
              </a:pPr>
              <a:r>
                <a:rPr lang="en-US" altLang="ko-KR" sz="1050" i="1" dirty="0">
                  <a:latin typeface="맑은 고딕" pitchFamily="50" charset="-127"/>
                  <a:ea typeface="맑은 고딕" pitchFamily="50" charset="-127"/>
                </a:rPr>
                <a:t>(Implementation View)</a:t>
              </a:r>
              <a:endParaRPr lang="ko-KR" altLang="en-US" sz="1050" i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691" name="AutoShape 12"/>
            <p:cNvSpPr>
              <a:spLocks noChangeArrowheads="1"/>
            </p:cNvSpPr>
            <p:nvPr/>
          </p:nvSpPr>
          <p:spPr bwMode="auto">
            <a:xfrm>
              <a:off x="927101" y="1763713"/>
              <a:ext cx="2006600" cy="422275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Context Diagram</a:t>
              </a:r>
              <a:endParaRPr lang="ko-KR" altLang="en-US" sz="105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692" name="AutoShape 13"/>
            <p:cNvSpPr>
              <a:spLocks noChangeArrowheads="1"/>
            </p:cNvSpPr>
            <p:nvPr/>
          </p:nvSpPr>
          <p:spPr bwMode="auto">
            <a:xfrm>
              <a:off x="927101" y="4746625"/>
              <a:ext cx="2006600" cy="422275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Module View</a:t>
              </a:r>
            </a:p>
            <a:p>
              <a:pPr algn="ctr" defTabSz="974725">
                <a:spcBef>
                  <a:spcPct val="50000"/>
                </a:spcBef>
                <a:defRPr/>
              </a:pP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(Component Diagram)</a:t>
              </a:r>
              <a:endParaRPr lang="ko-KR" altLang="en-US" sz="105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693" name="AutoShape 14"/>
            <p:cNvSpPr>
              <a:spLocks noChangeArrowheads="1"/>
            </p:cNvSpPr>
            <p:nvPr/>
          </p:nvSpPr>
          <p:spPr bwMode="auto">
            <a:xfrm>
              <a:off x="927101" y="3275013"/>
              <a:ext cx="2006600" cy="422275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 Run-time View</a:t>
              </a: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71694" name="Rectangle 15"/>
            <p:cNvSpPr>
              <a:spLocks noChangeArrowheads="1"/>
            </p:cNvSpPr>
            <p:nvPr/>
          </p:nvSpPr>
          <p:spPr bwMode="auto">
            <a:xfrm>
              <a:off x="927101" y="4278312"/>
              <a:ext cx="2006600" cy="3857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시스템연계 구현표준</a:t>
              </a:r>
            </a:p>
          </p:txBody>
        </p:sp>
        <p:sp>
          <p:nvSpPr>
            <p:cNvPr id="71695" name="AutoShape 17"/>
            <p:cNvSpPr>
              <a:spLocks noChangeArrowheads="1"/>
            </p:cNvSpPr>
            <p:nvPr/>
          </p:nvSpPr>
          <p:spPr bwMode="auto">
            <a:xfrm>
              <a:off x="927101" y="5246687"/>
              <a:ext cx="2006600" cy="422275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Allocation View</a:t>
              </a:r>
            </a:p>
            <a:p>
              <a:pPr algn="ctr" defTabSz="974725">
                <a:spcBef>
                  <a:spcPct val="50000"/>
                </a:spcBef>
                <a:defRPr/>
              </a:pP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(Deployment View)</a:t>
              </a:r>
              <a:endParaRPr lang="ko-KR" altLang="en-US" sz="105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Text Box 8"/>
            <p:cNvSpPr txBox="1">
              <a:spLocks noChangeArrowheads="1"/>
            </p:cNvSpPr>
            <p:nvPr/>
          </p:nvSpPr>
          <p:spPr bwMode="auto">
            <a:xfrm>
              <a:off x="3663951" y="5472112"/>
              <a:ext cx="2927350" cy="6746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rgbClr val="B2B2B2"/>
              </a:solidFill>
              <a:miter lim="800000"/>
              <a:headEnd/>
              <a:tailEnd/>
            </a:ln>
            <a:effectLst/>
          </p:spPr>
          <p:txBody>
            <a:bodyPr tIns="10800" bIns="10800" anchor="ctr"/>
            <a:lstStyle/>
            <a:p>
              <a:pPr algn="ctr" eaLnBrk="1" hangingPunct="1">
                <a:spcBef>
                  <a:spcPts val="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응용계층정의</a:t>
              </a: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  </a:t>
              </a:r>
            </a:p>
            <a:p>
              <a:pPr algn="ctr" eaLnBrk="1" hangingPunct="1">
                <a:spcBef>
                  <a:spcPts val="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컴포넌트내부구조정의 </a:t>
              </a: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(UI</a:t>
              </a: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부터</a:t>
              </a: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DB</a:t>
              </a: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까지의 흐름</a:t>
              </a: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algn="ctr" eaLnBrk="1" hangingPunct="1">
                <a:spcBef>
                  <a:spcPts val="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응용프로그램취합 및 리뷰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7" name="직선 연결선 26"/>
            <p:cNvCxnSpPr>
              <a:stCxn id="25" idx="1"/>
              <a:endCxn id="71695" idx="3"/>
            </p:cNvCxnSpPr>
            <p:nvPr/>
          </p:nvCxnSpPr>
          <p:spPr>
            <a:xfrm rot="10800000">
              <a:off x="2933701" y="5457825"/>
              <a:ext cx="730250" cy="352425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>
              <a:stCxn id="6" idx="1"/>
              <a:endCxn id="71691" idx="3"/>
            </p:cNvCxnSpPr>
            <p:nvPr/>
          </p:nvCxnSpPr>
          <p:spPr>
            <a:xfrm rot="10800000">
              <a:off x="2933701" y="1974851"/>
              <a:ext cx="730250" cy="546100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 Box 8"/>
            <p:cNvSpPr txBox="1">
              <a:spLocks noChangeArrowheads="1"/>
            </p:cNvSpPr>
            <p:nvPr/>
          </p:nvSpPr>
          <p:spPr bwMode="auto">
            <a:xfrm>
              <a:off x="3663951" y="3287713"/>
              <a:ext cx="2927350" cy="6286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rgbClr val="B2B2B2"/>
              </a:solidFill>
              <a:miter lim="800000"/>
              <a:headEnd/>
              <a:tailEnd/>
            </a:ln>
            <a:effectLst/>
          </p:spPr>
          <p:txBody>
            <a:bodyPr tIns="10800" bIns="10800" anchor="ctr"/>
            <a:lstStyle/>
            <a:p>
              <a:pPr algn="ctr" eaLnBrk="1" hangingPunct="1">
                <a:spcBef>
                  <a:spcPts val="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응용시스템관계도</a:t>
              </a: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관계기술서 분석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  <a:p>
              <a:pPr algn="ctr" eaLnBrk="1" hangingPunct="1">
                <a:spcBef>
                  <a:spcPts val="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응용시스템간 연계 표준 정의 구현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Rectangle 4"/>
            <p:cNvSpPr>
              <a:spLocks noChangeArrowheads="1"/>
            </p:cNvSpPr>
            <p:nvPr/>
          </p:nvSpPr>
          <p:spPr bwMode="auto">
            <a:xfrm>
              <a:off x="9037637" y="2695576"/>
              <a:ext cx="541338" cy="7048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75B8D9"/>
              </a:solidFill>
              <a:miter lim="800000"/>
              <a:headEnd/>
              <a:tailEnd/>
            </a:ln>
            <a:effectLst/>
          </p:spPr>
          <p:txBody>
            <a:bodyPr wrap="none" lIns="2" tIns="2" rIns="2" bIns="2" anchor="ctr"/>
            <a:lstStyle/>
            <a:p>
              <a:pPr algn="ctr" defTabSz="976313">
                <a:spcBef>
                  <a:spcPct val="5000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응용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  <a:p>
              <a:pPr algn="ctr" defTabSz="976313">
                <a:spcBef>
                  <a:spcPct val="50000"/>
                </a:spcBef>
                <a:defRPr/>
              </a:pP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레벨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701" name="AutoShape 11"/>
            <p:cNvSpPr>
              <a:spLocks noChangeArrowheads="1"/>
            </p:cNvSpPr>
            <p:nvPr/>
          </p:nvSpPr>
          <p:spPr bwMode="auto">
            <a:xfrm>
              <a:off x="7161212" y="3475038"/>
              <a:ext cx="1835150" cy="533400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AV2 </a:t>
              </a: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응용시스템 관계도</a:t>
              </a: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관계기술서</a:t>
              </a:r>
              <a:endParaRPr lang="en-US" altLang="ko-KR" sz="105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702" name="AutoShape 12"/>
            <p:cNvSpPr>
              <a:spLocks noChangeArrowheads="1"/>
            </p:cNvSpPr>
            <p:nvPr/>
          </p:nvSpPr>
          <p:spPr bwMode="auto">
            <a:xfrm>
              <a:off x="7161212" y="2697163"/>
              <a:ext cx="1835150" cy="703263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AV1 </a:t>
              </a: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응용시스템 구성도</a:t>
              </a: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정의서</a:t>
              </a:r>
            </a:p>
          </p:txBody>
        </p:sp>
        <p:sp>
          <p:nvSpPr>
            <p:cNvPr id="71703" name="AutoShape 13"/>
            <p:cNvSpPr>
              <a:spLocks noChangeArrowheads="1"/>
            </p:cNvSpPr>
            <p:nvPr/>
          </p:nvSpPr>
          <p:spPr bwMode="auto">
            <a:xfrm>
              <a:off x="7161212" y="4065587"/>
              <a:ext cx="1835150" cy="554038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AV3 </a:t>
              </a: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응용기능 분할도</a:t>
              </a: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분할기술서</a:t>
              </a:r>
            </a:p>
          </p:txBody>
        </p:sp>
        <p:sp>
          <p:nvSpPr>
            <p:cNvPr id="61" name="Rectangle 16"/>
            <p:cNvSpPr>
              <a:spLocks noChangeArrowheads="1"/>
            </p:cNvSpPr>
            <p:nvPr/>
          </p:nvSpPr>
          <p:spPr bwMode="auto">
            <a:xfrm>
              <a:off x="9037637" y="3475038"/>
              <a:ext cx="541338" cy="11445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75B8D9"/>
              </a:solidFill>
              <a:miter lim="800000"/>
              <a:headEnd/>
              <a:tailEnd/>
            </a:ln>
            <a:effectLst/>
          </p:spPr>
          <p:txBody>
            <a:bodyPr wrap="none" lIns="2" tIns="2" rIns="2" bIns="2" anchor="ctr"/>
            <a:lstStyle/>
            <a:p>
              <a:pPr algn="ctr" defTabSz="976313">
                <a:spcBef>
                  <a:spcPct val="5000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응용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  <a:p>
              <a:pPr algn="ctr" defTabSz="976313">
                <a:spcBef>
                  <a:spcPct val="50000"/>
                </a:spcBef>
                <a:defRPr/>
              </a:pP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레벨</a:t>
              </a:r>
            </a:p>
          </p:txBody>
        </p:sp>
        <p:sp>
          <p:nvSpPr>
            <p:cNvPr id="71705" name="AutoShape 17"/>
            <p:cNvSpPr>
              <a:spLocks noChangeArrowheads="1"/>
            </p:cNvSpPr>
            <p:nvPr/>
          </p:nvSpPr>
          <p:spPr bwMode="auto">
            <a:xfrm>
              <a:off x="7161212" y="4684712"/>
              <a:ext cx="1835150" cy="706438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AV4 </a:t>
              </a: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응용기능설계도</a:t>
              </a: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설계서</a:t>
              </a:r>
            </a:p>
          </p:txBody>
        </p:sp>
        <p:sp>
          <p:nvSpPr>
            <p:cNvPr id="64" name="Rectangle 19"/>
            <p:cNvSpPr>
              <a:spLocks noChangeArrowheads="1"/>
            </p:cNvSpPr>
            <p:nvPr/>
          </p:nvSpPr>
          <p:spPr bwMode="auto">
            <a:xfrm>
              <a:off x="9037637" y="4695825"/>
              <a:ext cx="541338" cy="6969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75B8D9"/>
              </a:solidFill>
              <a:miter lim="800000"/>
              <a:headEnd/>
              <a:tailEnd/>
            </a:ln>
            <a:effectLst/>
          </p:spPr>
          <p:txBody>
            <a:bodyPr wrap="none" lIns="2" tIns="2" rIns="2" bIns="2" anchor="ctr"/>
            <a:lstStyle/>
            <a:p>
              <a:pPr algn="ctr" defTabSz="976313">
                <a:spcBef>
                  <a:spcPct val="5000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응용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  <a:p>
              <a:pPr algn="ctr" defTabSz="976313">
                <a:spcBef>
                  <a:spcPct val="50000"/>
                </a:spcBef>
                <a:defRPr/>
              </a:pP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레벨</a:t>
              </a:r>
            </a:p>
          </p:txBody>
        </p:sp>
        <p:sp>
          <p:nvSpPr>
            <p:cNvPr id="71707" name="AutoShape 20"/>
            <p:cNvSpPr>
              <a:spLocks noChangeArrowheads="1"/>
            </p:cNvSpPr>
            <p:nvPr/>
          </p:nvSpPr>
          <p:spPr bwMode="auto">
            <a:xfrm>
              <a:off x="7161212" y="5457825"/>
              <a:ext cx="1835150" cy="706437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AV5 </a:t>
              </a: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응용프로그램목록 </a:t>
              </a:r>
            </a:p>
          </p:txBody>
        </p:sp>
        <p:sp>
          <p:nvSpPr>
            <p:cNvPr id="71708" name="Text Box 11"/>
            <p:cNvSpPr txBox="1">
              <a:spLocks noChangeArrowheads="1"/>
            </p:cNvSpPr>
            <p:nvPr/>
          </p:nvSpPr>
          <p:spPr bwMode="auto">
            <a:xfrm>
              <a:off x="3663951" y="1882776"/>
              <a:ext cx="2927350" cy="296862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rgbClr val="B2B2B2"/>
              </a:solidFill>
              <a:miter lim="800000"/>
              <a:headEnd/>
              <a:tailEnd/>
            </a:ln>
          </p:spPr>
          <p:txBody>
            <a:bodyPr tIns="10800" bIns="10800" anchor="ctr"/>
            <a:lstStyle/>
            <a:p>
              <a:pPr algn="ctr">
                <a:spcAft>
                  <a:spcPct val="20000"/>
                </a:spcAft>
                <a:buFont typeface="Wingdings" pitchFamily="2" charset="2"/>
                <a:buNone/>
                <a:defRPr/>
              </a:pPr>
              <a:r>
                <a:rPr lang="en-US" altLang="ko-KR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EA </a:t>
              </a:r>
              <a:r>
                <a:rPr lang="ko-KR" altLang="en-US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공통 및 응용</a:t>
              </a:r>
              <a:r>
                <a:rPr lang="en-US" altLang="ko-KR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lang="ko-KR" altLang="en-US" sz="10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레벨의 반영</a:t>
              </a:r>
            </a:p>
          </p:txBody>
        </p:sp>
        <p:sp>
          <p:nvSpPr>
            <p:cNvPr id="80" name="Text Box 8"/>
            <p:cNvSpPr txBox="1">
              <a:spLocks noChangeArrowheads="1"/>
            </p:cNvSpPr>
            <p:nvPr/>
          </p:nvSpPr>
          <p:spPr bwMode="auto">
            <a:xfrm>
              <a:off x="3663951" y="4300537"/>
              <a:ext cx="2927350" cy="7413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rgbClr val="B2B2B2"/>
              </a:solidFill>
              <a:miter lim="800000"/>
              <a:headEnd/>
              <a:tailEnd/>
            </a:ln>
            <a:effectLst/>
          </p:spPr>
          <p:txBody>
            <a:bodyPr tIns="10800" bIns="10800" anchor="ctr"/>
            <a:lstStyle/>
            <a:p>
              <a:pPr algn="ctr" eaLnBrk="1" hangingPunct="1">
                <a:spcBef>
                  <a:spcPts val="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응용기능분할도</a:t>
              </a: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분할기술서 분석 적용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  <a:p>
              <a:pPr algn="ctr" eaLnBrk="1" hangingPunct="1">
                <a:spcBef>
                  <a:spcPts val="0"/>
                </a:spcBef>
                <a:defRPr/>
              </a:pPr>
              <a:r>
                <a:rPr lang="ko-KR" altLang="en-US" sz="1050" dirty="0" err="1">
                  <a:latin typeface="맑은 고딕" pitchFamily="50" charset="-127"/>
                  <a:ea typeface="맑은 고딕" pitchFamily="50" charset="-127"/>
                </a:rPr>
                <a:t>응용기능분할도와</a:t>
              </a: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 도출컴포넌트</a:t>
              </a: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모듈</a:t>
              </a: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정보의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  <a:p>
              <a:pPr algn="ctr" eaLnBrk="1" hangingPunct="1">
                <a:spcBef>
                  <a:spcPts val="0"/>
                </a:spcBef>
                <a:defRPr/>
              </a:pPr>
              <a:r>
                <a:rPr lang="ko-KR" altLang="en-US" sz="1050" dirty="0" err="1">
                  <a:latin typeface="맑은 고딕" pitchFamily="50" charset="-127"/>
                  <a:ea typeface="맑은 고딕" pitchFamily="50" charset="-127"/>
                </a:rPr>
                <a:t>매핑</a:t>
              </a: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 및 분석 설계 표준 가이드 작성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  <a:p>
              <a:pPr algn="ctr" eaLnBrk="1" hangingPunct="1">
                <a:spcBef>
                  <a:spcPts val="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응용기능설계서 작성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1" name="Rectangle 19"/>
            <p:cNvSpPr>
              <a:spLocks noChangeArrowheads="1"/>
            </p:cNvSpPr>
            <p:nvPr/>
          </p:nvSpPr>
          <p:spPr bwMode="auto">
            <a:xfrm>
              <a:off x="9037637" y="5457825"/>
              <a:ext cx="541338" cy="6969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75B8D9"/>
              </a:solidFill>
              <a:miter lim="800000"/>
              <a:headEnd/>
              <a:tailEnd/>
            </a:ln>
            <a:effectLst/>
          </p:spPr>
          <p:txBody>
            <a:bodyPr wrap="none" lIns="2" tIns="2" rIns="2" bIns="2" anchor="ctr"/>
            <a:lstStyle/>
            <a:p>
              <a:pPr algn="ctr" defTabSz="976313">
                <a:spcBef>
                  <a:spcPct val="5000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응용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  <a:p>
              <a:pPr algn="ctr" defTabSz="976313">
                <a:spcBef>
                  <a:spcPct val="50000"/>
                </a:spcBef>
                <a:defRPr/>
              </a:pP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레벨</a:t>
              </a:r>
            </a:p>
          </p:txBody>
        </p:sp>
        <p:sp>
          <p:nvSpPr>
            <p:cNvPr id="71711" name="AutoShape 12"/>
            <p:cNvSpPr>
              <a:spLocks noChangeArrowheads="1"/>
            </p:cNvSpPr>
            <p:nvPr/>
          </p:nvSpPr>
          <p:spPr bwMode="auto">
            <a:xfrm>
              <a:off x="927101" y="2259013"/>
              <a:ext cx="2006600" cy="422275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제약사항</a:t>
              </a: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품질속성</a:t>
              </a:r>
            </a:p>
          </p:txBody>
        </p:sp>
        <p:sp>
          <p:nvSpPr>
            <p:cNvPr id="83" name="AutoShape 12"/>
            <p:cNvSpPr>
              <a:spLocks noChangeArrowheads="1"/>
            </p:cNvSpPr>
            <p:nvPr/>
          </p:nvSpPr>
          <p:spPr bwMode="auto">
            <a:xfrm>
              <a:off x="927101" y="2763838"/>
              <a:ext cx="2006600" cy="422275"/>
            </a:xfrm>
            <a:prstGeom prst="homePlat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ko-KR" altLang="en-US" sz="1050" i="1" dirty="0">
                  <a:latin typeface="맑은 고딕" pitchFamily="50" charset="-127"/>
                  <a:ea typeface="맑은 고딕" pitchFamily="50" charset="-127"/>
                </a:rPr>
                <a:t>아키텍처 수립전략</a:t>
              </a:r>
            </a:p>
          </p:txBody>
        </p:sp>
        <p:sp>
          <p:nvSpPr>
            <p:cNvPr id="84" name="AutoShape 17"/>
            <p:cNvSpPr>
              <a:spLocks noChangeArrowheads="1"/>
            </p:cNvSpPr>
            <p:nvPr/>
          </p:nvSpPr>
          <p:spPr bwMode="auto">
            <a:xfrm>
              <a:off x="927101" y="5741987"/>
              <a:ext cx="2006600" cy="422275"/>
            </a:xfrm>
            <a:prstGeom prst="homePlat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ko-KR" altLang="en-US" sz="1050" i="1" dirty="0">
                  <a:latin typeface="맑은 고딕" pitchFamily="50" charset="-127"/>
                  <a:ea typeface="맑은 고딕" pitchFamily="50" charset="-127"/>
                </a:rPr>
                <a:t>대안아키텍처</a:t>
              </a:r>
              <a:endParaRPr lang="en-US" altLang="ko-KR" sz="1050" i="1" dirty="0">
                <a:latin typeface="맑은 고딕" pitchFamily="50" charset="-127"/>
                <a:ea typeface="맑은 고딕" pitchFamily="50" charset="-127"/>
              </a:endParaRPr>
            </a:p>
            <a:p>
              <a:pPr algn="ctr" defTabSz="974725">
                <a:spcBef>
                  <a:spcPct val="50000"/>
                </a:spcBef>
                <a:defRPr/>
              </a:pPr>
              <a:r>
                <a:rPr lang="en-US" altLang="ko-KR" sz="1050" i="1" dirty="0">
                  <a:latin typeface="맑은 고딕" pitchFamily="50" charset="-127"/>
                  <a:ea typeface="맑은 고딕" pitchFamily="50" charset="-127"/>
                </a:rPr>
                <a:t>(ATAM)</a:t>
              </a:r>
              <a:endParaRPr lang="ko-KR" altLang="en-US" sz="1050" i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5" name="Rectangle 4"/>
            <p:cNvSpPr>
              <a:spLocks noChangeArrowheads="1"/>
            </p:cNvSpPr>
            <p:nvPr/>
          </p:nvSpPr>
          <p:spPr bwMode="auto">
            <a:xfrm>
              <a:off x="9037637" y="1571626"/>
              <a:ext cx="541338" cy="10477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75B8D9"/>
              </a:solidFill>
              <a:miter lim="800000"/>
              <a:headEnd/>
              <a:tailEnd/>
            </a:ln>
            <a:effectLst/>
          </p:spPr>
          <p:txBody>
            <a:bodyPr wrap="none" lIns="2" tIns="2" rIns="2" bIns="2" anchor="ctr"/>
            <a:lstStyle/>
            <a:p>
              <a:pPr algn="ctr" defTabSz="976313">
                <a:spcBef>
                  <a:spcPct val="50000"/>
                </a:spcBef>
                <a:defRPr/>
              </a:pPr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EA</a:t>
              </a:r>
            </a:p>
            <a:p>
              <a:pPr algn="ctr" defTabSz="976313">
                <a:spcBef>
                  <a:spcPct val="50000"/>
                </a:spcBef>
                <a:defRPr/>
              </a:pPr>
              <a:r>
                <a:rPr lang="ko-KR" altLang="en-US" sz="1050" dirty="0">
                  <a:latin typeface="맑은 고딕" pitchFamily="50" charset="-127"/>
                  <a:ea typeface="맑은 고딕" pitchFamily="50" charset="-127"/>
                </a:rPr>
                <a:t>공통관점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715" name="AutoShape 12"/>
            <p:cNvSpPr>
              <a:spLocks noChangeArrowheads="1"/>
            </p:cNvSpPr>
            <p:nvPr/>
          </p:nvSpPr>
          <p:spPr bwMode="auto">
            <a:xfrm>
              <a:off x="7161212" y="1571626"/>
              <a:ext cx="1835150" cy="1047750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0078A2"/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algn="ctr" defTabSz="974725">
                <a:spcBef>
                  <a:spcPct val="50000"/>
                </a:spcBef>
                <a:defRPr/>
              </a:pP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방향 및 지침</a:t>
              </a: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(CV2 </a:t>
              </a: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정보기술아키텍처원칙</a:t>
              </a: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algn="ctr" defTabSz="974725">
                <a:spcBef>
                  <a:spcPct val="50000"/>
                </a:spcBef>
                <a:defRPr/>
              </a:pPr>
              <a:r>
                <a:rPr lang="ko-KR" altLang="en-US" sz="1050">
                  <a:latin typeface="맑은 고딕" pitchFamily="50" charset="-127"/>
                  <a:ea typeface="맑은 고딕" pitchFamily="50" charset="-127"/>
                </a:rPr>
                <a:t>참조모델 </a:t>
              </a:r>
              <a:r>
                <a:rPr lang="en-US" altLang="ko-KR" sz="1050">
                  <a:latin typeface="맑은 고딕" pitchFamily="50" charset="-127"/>
                  <a:ea typeface="맑은 고딕" pitchFamily="50" charset="-127"/>
                </a:rPr>
                <a:t>(RV2 SRM, RV4 TRM)</a:t>
              </a:r>
              <a:endParaRPr lang="ko-KR" altLang="en-US" sz="105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87" name="직선 연결선 86"/>
            <p:cNvCxnSpPr>
              <a:stCxn id="71715" idx="1"/>
              <a:endCxn id="6" idx="3"/>
            </p:cNvCxnSpPr>
            <p:nvPr/>
          </p:nvCxnSpPr>
          <p:spPr>
            <a:xfrm rot="10800000" flipV="1">
              <a:off x="6591300" y="2095501"/>
              <a:ext cx="569912" cy="425450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>
              <a:stCxn id="6" idx="1"/>
              <a:endCxn id="71711" idx="3"/>
            </p:cNvCxnSpPr>
            <p:nvPr/>
          </p:nvCxnSpPr>
          <p:spPr>
            <a:xfrm rot="10800000">
              <a:off x="2933701" y="2470151"/>
              <a:ext cx="730250" cy="50800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>
              <a:stCxn id="71702" idx="1"/>
              <a:endCxn id="6" idx="3"/>
            </p:cNvCxnSpPr>
            <p:nvPr/>
          </p:nvCxnSpPr>
          <p:spPr>
            <a:xfrm rot="10800000">
              <a:off x="6591300" y="2520951"/>
              <a:ext cx="569912" cy="528637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/>
            <p:cNvCxnSpPr>
              <a:stCxn id="37" idx="3"/>
              <a:endCxn id="71701" idx="1"/>
            </p:cNvCxnSpPr>
            <p:nvPr/>
          </p:nvCxnSpPr>
          <p:spPr>
            <a:xfrm>
              <a:off x="6591300" y="3602038"/>
              <a:ext cx="569912" cy="139700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>
              <a:stCxn id="80" idx="3"/>
              <a:endCxn id="71703" idx="1"/>
            </p:cNvCxnSpPr>
            <p:nvPr/>
          </p:nvCxnSpPr>
          <p:spPr>
            <a:xfrm flipV="1">
              <a:off x="6591300" y="4343400"/>
              <a:ext cx="569912" cy="328612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>
              <a:stCxn id="80" idx="3"/>
              <a:endCxn id="71705" idx="1"/>
            </p:cNvCxnSpPr>
            <p:nvPr/>
          </p:nvCxnSpPr>
          <p:spPr>
            <a:xfrm>
              <a:off x="6591300" y="4672012"/>
              <a:ext cx="569912" cy="366713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>
              <a:stCxn id="25" idx="3"/>
              <a:endCxn id="71707" idx="1"/>
            </p:cNvCxnSpPr>
            <p:nvPr/>
          </p:nvCxnSpPr>
          <p:spPr>
            <a:xfrm>
              <a:off x="6591300" y="5810250"/>
              <a:ext cx="569912" cy="1587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>
              <a:stCxn id="71694" idx="3"/>
              <a:endCxn id="37" idx="1"/>
            </p:cNvCxnSpPr>
            <p:nvPr/>
          </p:nvCxnSpPr>
          <p:spPr>
            <a:xfrm flipV="1">
              <a:off x="2933701" y="3602038"/>
              <a:ext cx="730250" cy="869950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>
              <a:stCxn id="71692" idx="3"/>
              <a:endCxn id="80" idx="1"/>
            </p:cNvCxnSpPr>
            <p:nvPr/>
          </p:nvCxnSpPr>
          <p:spPr>
            <a:xfrm flipV="1">
              <a:off x="2933701" y="4672012"/>
              <a:ext cx="730250" cy="285750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>
              <a:stCxn id="13" idx="3"/>
              <a:endCxn id="25" idx="1"/>
            </p:cNvCxnSpPr>
            <p:nvPr/>
          </p:nvCxnSpPr>
          <p:spPr>
            <a:xfrm>
              <a:off x="2933701" y="3987800"/>
              <a:ext cx="730250" cy="1822450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prstDash val="sysDash"/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직선 연결선 138"/>
            <p:cNvCxnSpPr>
              <a:stCxn id="25" idx="1"/>
              <a:endCxn id="71692" idx="3"/>
            </p:cNvCxnSpPr>
            <p:nvPr/>
          </p:nvCxnSpPr>
          <p:spPr>
            <a:xfrm rot="10800000">
              <a:off x="2933701" y="4957762"/>
              <a:ext cx="730250" cy="852488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>
              <a:stCxn id="37" idx="1"/>
              <a:endCxn id="71691" idx="3"/>
            </p:cNvCxnSpPr>
            <p:nvPr/>
          </p:nvCxnSpPr>
          <p:spPr>
            <a:xfrm rot="10800000">
              <a:off x="2933701" y="1974851"/>
              <a:ext cx="730250" cy="1627187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>
              <a:stCxn id="37" idx="1"/>
              <a:endCxn id="71711" idx="3"/>
            </p:cNvCxnSpPr>
            <p:nvPr/>
          </p:nvCxnSpPr>
          <p:spPr>
            <a:xfrm rot="10800000">
              <a:off x="2933701" y="2470151"/>
              <a:ext cx="730250" cy="1131887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>
              <a:stCxn id="37" idx="1"/>
              <a:endCxn id="71693" idx="3"/>
            </p:cNvCxnSpPr>
            <p:nvPr/>
          </p:nvCxnSpPr>
          <p:spPr>
            <a:xfrm rot="10800000">
              <a:off x="2933701" y="3486151"/>
              <a:ext cx="730250" cy="115887"/>
            </a:xfrm>
            <a:prstGeom prst="line">
              <a:avLst/>
            </a:prstGeom>
            <a:ln w="19050">
              <a:solidFill>
                <a:schemeClr val="tx2">
                  <a:lumMod val="65000"/>
                  <a:lumOff val="35000"/>
                </a:schemeClr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III. </a:t>
            </a:r>
            <a:r>
              <a:rPr lang="ko-KR" altLang="en-US" sz="1800" smtClean="0">
                <a:solidFill>
                  <a:srgbClr val="000000"/>
                </a:solidFill>
              </a:rPr>
              <a:t>소프트웨어 아키텍처로의 반영 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2. </a:t>
            </a:r>
            <a:r>
              <a:rPr lang="ko-KR" altLang="en-US" sz="1800" smtClean="0">
                <a:solidFill>
                  <a:srgbClr val="000000"/>
                </a:solidFill>
              </a:rPr>
              <a:t>수행 업무 </a:t>
            </a:r>
            <a:r>
              <a:rPr lang="en-US" altLang="ko-KR" sz="1800" smtClean="0">
                <a:solidFill>
                  <a:srgbClr val="000000"/>
                </a:solidFill>
              </a:rPr>
              <a:t>&gt; 2.1 EA</a:t>
            </a:r>
            <a:r>
              <a:rPr lang="ko-KR" altLang="en-US" sz="1800" smtClean="0">
                <a:solidFill>
                  <a:srgbClr val="000000"/>
                </a:solidFill>
              </a:rPr>
              <a:t>공통 및 응용</a:t>
            </a:r>
            <a:r>
              <a:rPr lang="en-US" altLang="ko-KR" sz="1800" smtClean="0">
                <a:solidFill>
                  <a:srgbClr val="000000"/>
                </a:solidFill>
              </a:rPr>
              <a:t>1</a:t>
            </a:r>
            <a:r>
              <a:rPr lang="ko-KR" altLang="en-US" sz="1800" smtClean="0">
                <a:solidFill>
                  <a:srgbClr val="000000"/>
                </a:solidFill>
              </a:rPr>
              <a:t>레벨의 반영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269413" cy="6826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소프트웨어 아키텍처 정의서의 초반부에는 아키텍처 결정요인을 도출하기 위해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Context Diagram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과 품질속성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및 제약사항을 정의한다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단계에서 아래와 같은 상세업무의 수행을 통해 산출물간의 일관성을 유지한다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9" name="Text Box 9"/>
          <p:cNvSpPr txBox="1">
            <a:spLocks noChangeArrowheads="1"/>
          </p:cNvSpPr>
          <p:nvPr/>
        </p:nvSpPr>
        <p:spPr bwMode="auto">
          <a:xfrm>
            <a:off x="3663950" y="2187575"/>
            <a:ext cx="2927350" cy="6667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rgbClr val="B2B2B2"/>
            </a:solidFill>
            <a:miter lim="800000"/>
            <a:headEnd/>
            <a:tailEnd/>
          </a:ln>
          <a:effectLst/>
        </p:spPr>
        <p:txBody>
          <a:bodyPr tIns="10800" bIns="10800" anchor="ctr"/>
          <a:lstStyle/>
          <a:p>
            <a:pPr algn="ctr">
              <a:spcBef>
                <a:spcPts val="0"/>
              </a:spcBef>
              <a:spcAft>
                <a:spcPct val="20000"/>
              </a:spcAft>
              <a:buFont typeface="Wingdings" pitchFamily="2" charset="2"/>
              <a:buNone/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업무요구사항파악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>
              <a:spcBef>
                <a:spcPts val="0"/>
              </a:spcBef>
              <a:spcAft>
                <a:spcPct val="20000"/>
              </a:spcAft>
              <a:buFont typeface="Wingdings" pitchFamily="2" charset="2"/>
              <a:buNone/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정보기술아키텍처원칙 반영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>
              <a:spcBef>
                <a:spcPts val="0"/>
              </a:spcBef>
              <a:spcAft>
                <a:spcPct val="20000"/>
              </a:spcAft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응용시스템구성도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정의서 분석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3" name="Rectangle 4"/>
          <p:cNvSpPr>
            <a:spLocks noChangeArrowheads="1"/>
          </p:cNvSpPr>
          <p:nvPr/>
        </p:nvSpPr>
        <p:spPr bwMode="auto">
          <a:xfrm>
            <a:off x="312738" y="2008188"/>
            <a:ext cx="592137" cy="9255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75B8D9"/>
            </a:solidFill>
            <a:miter lim="800000"/>
            <a:headEnd/>
            <a:tailEnd/>
          </a:ln>
          <a:effectLst/>
        </p:spPr>
        <p:txBody>
          <a:bodyPr wrap="none" lIns="2" tIns="2" rIns="2" bIns="2" anchor="ctr"/>
          <a:lstStyle/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소프트웨어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아키텍처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정의서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1142" name="AutoShape 12"/>
          <p:cNvSpPr>
            <a:spLocks noChangeArrowheads="1"/>
          </p:cNvSpPr>
          <p:nvPr/>
        </p:nvSpPr>
        <p:spPr bwMode="auto">
          <a:xfrm>
            <a:off x="927100" y="2008188"/>
            <a:ext cx="2006600" cy="422275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Context Diagram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2" name="직선 연결선 111"/>
          <p:cNvCxnSpPr>
            <a:stCxn id="99" idx="1"/>
            <a:endCxn id="91142" idx="3"/>
          </p:cNvCxnSpPr>
          <p:nvPr/>
        </p:nvCxnSpPr>
        <p:spPr>
          <a:xfrm rot="10800000">
            <a:off x="2933700" y="2219325"/>
            <a:ext cx="730250" cy="301625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4"/>
          <p:cNvSpPr>
            <a:spLocks noChangeArrowheads="1"/>
          </p:cNvSpPr>
          <p:nvPr/>
        </p:nvSpPr>
        <p:spPr bwMode="auto">
          <a:xfrm>
            <a:off x="9037638" y="2578100"/>
            <a:ext cx="541337" cy="70485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75B8D9"/>
            </a:solidFill>
            <a:miter lim="800000"/>
            <a:headEnd/>
            <a:tailEnd/>
          </a:ln>
          <a:effectLst/>
        </p:spPr>
        <p:txBody>
          <a:bodyPr wrap="none" lIns="2" tIns="2" rIns="2" bIns="2" anchor="ctr"/>
          <a:lstStyle/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defTabSz="976313">
              <a:spcBef>
                <a:spcPct val="5000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레벨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1145" name="AutoShape 12"/>
          <p:cNvSpPr>
            <a:spLocks noChangeArrowheads="1"/>
          </p:cNvSpPr>
          <p:nvPr/>
        </p:nvSpPr>
        <p:spPr bwMode="auto">
          <a:xfrm>
            <a:off x="7161213" y="2579688"/>
            <a:ext cx="1835150" cy="703262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AV1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구성도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정의서</a:t>
            </a:r>
          </a:p>
        </p:txBody>
      </p:sp>
      <p:sp>
        <p:nvSpPr>
          <p:cNvPr id="91146" name="Text Box 11"/>
          <p:cNvSpPr txBox="1">
            <a:spLocks noChangeArrowheads="1"/>
          </p:cNvSpPr>
          <p:nvPr/>
        </p:nvSpPr>
        <p:spPr bwMode="auto">
          <a:xfrm>
            <a:off x="3663950" y="1882775"/>
            <a:ext cx="2927350" cy="296863"/>
          </a:xfrm>
          <a:prstGeom prst="rect">
            <a:avLst/>
          </a:prstGeom>
          <a:solidFill>
            <a:schemeClr val="tx1"/>
          </a:solidFill>
          <a:ln w="12700" algn="ctr">
            <a:solidFill>
              <a:srgbClr val="B2B2B2"/>
            </a:solidFill>
            <a:miter lim="800000"/>
            <a:headEnd/>
            <a:tailEnd/>
          </a:ln>
        </p:spPr>
        <p:txBody>
          <a:bodyPr tIns="10800" bIns="1080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 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및 응용</a:t>
            </a:r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레벨의 반영</a:t>
            </a:r>
          </a:p>
        </p:txBody>
      </p:sp>
      <p:sp>
        <p:nvSpPr>
          <p:cNvPr id="91147" name="AutoShape 12"/>
          <p:cNvSpPr>
            <a:spLocks noChangeArrowheads="1"/>
          </p:cNvSpPr>
          <p:nvPr/>
        </p:nvSpPr>
        <p:spPr bwMode="auto">
          <a:xfrm>
            <a:off x="927100" y="2503488"/>
            <a:ext cx="2006600" cy="422275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제약사항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품질속성</a:t>
            </a:r>
          </a:p>
        </p:txBody>
      </p:sp>
      <p:sp>
        <p:nvSpPr>
          <p:cNvPr id="128" name="Rectangle 4"/>
          <p:cNvSpPr>
            <a:spLocks noChangeArrowheads="1"/>
          </p:cNvSpPr>
          <p:nvPr/>
        </p:nvSpPr>
        <p:spPr bwMode="auto">
          <a:xfrm>
            <a:off x="9037638" y="1701800"/>
            <a:ext cx="541337" cy="8001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75B8D9"/>
            </a:solidFill>
            <a:miter lim="800000"/>
            <a:headEnd/>
            <a:tailEnd/>
          </a:ln>
          <a:effectLst/>
        </p:spPr>
        <p:txBody>
          <a:bodyPr wrap="none" lIns="2" tIns="2" rIns="2" bIns="2" anchor="ctr"/>
          <a:lstStyle/>
          <a:p>
            <a:pPr algn="ctr" defTabSz="976313">
              <a:spcBef>
                <a:spcPct val="5000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EA</a:t>
            </a:r>
          </a:p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공통관점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1149" name="AutoShape 12"/>
          <p:cNvSpPr>
            <a:spLocks noChangeArrowheads="1"/>
          </p:cNvSpPr>
          <p:nvPr/>
        </p:nvSpPr>
        <p:spPr bwMode="auto">
          <a:xfrm>
            <a:off x="7161213" y="1701800"/>
            <a:ext cx="1835150" cy="800100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방향 및 지침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(CV2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정보기술아키텍처원칙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참조모델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(RV2 SRM, RV4 TRM)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0" name="직선 연결선 129"/>
          <p:cNvCxnSpPr>
            <a:stCxn id="91149" idx="1"/>
            <a:endCxn id="99" idx="3"/>
          </p:cNvCxnSpPr>
          <p:nvPr/>
        </p:nvCxnSpPr>
        <p:spPr>
          <a:xfrm rot="10800000" flipV="1">
            <a:off x="6591300" y="2101850"/>
            <a:ext cx="569913" cy="419100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/>
          <p:cNvCxnSpPr>
            <a:stCxn id="99" idx="1"/>
            <a:endCxn id="91147" idx="3"/>
          </p:cNvCxnSpPr>
          <p:nvPr/>
        </p:nvCxnSpPr>
        <p:spPr>
          <a:xfrm rot="10800000" flipV="1">
            <a:off x="2933700" y="2520950"/>
            <a:ext cx="730250" cy="193675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/>
          <p:cNvCxnSpPr>
            <a:stCxn id="91145" idx="1"/>
            <a:endCxn id="99" idx="3"/>
          </p:cNvCxnSpPr>
          <p:nvPr/>
        </p:nvCxnSpPr>
        <p:spPr>
          <a:xfrm rot="10800000">
            <a:off x="6591300" y="2520950"/>
            <a:ext cx="569913" cy="409575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5" name="Group 205"/>
          <p:cNvGraphicFramePr>
            <a:graphicFrameLocks noGrp="1"/>
          </p:cNvGraphicFramePr>
          <p:nvPr/>
        </p:nvGraphicFramePr>
        <p:xfrm>
          <a:off x="320675" y="3556000"/>
          <a:ext cx="9323388" cy="2681287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2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적용 영역</a:t>
                      </a:r>
                    </a:p>
                  </a:txBody>
                  <a:tcPr marL="90000" marR="90000" marT="18003" marB="18003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상세 업무 수행</a:t>
                      </a:r>
                      <a:r>
                        <a:rPr kumimoji="1" lang="en-US" altLang="ko-KR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내용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0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Context Diagram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AV1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응용시스템 구성도에는 전사 응용시스템이 모두 도출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배치되어 있다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따라서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응용시스템 구성도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정의서를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통해 구축해야 할 응용시스템이 속하는 위치와 영역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기타 정의내용을 참고하여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Context Diagram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의 정확성을 높인다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또한 응용시스템의 대내외 연계가 존재할 경우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Context Diagram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에 표현한다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 때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AV2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응용시스템 관계도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관계기술서도 참조한다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(Optional).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추가로 전사아키텍처의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RV2 SRM(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서비스컴포넌트 참조 모델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통해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Context Diagram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의 구체화가 가능하다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6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품질속성</a:t>
                      </a:r>
                    </a:p>
                  </a:txBody>
                  <a:tcPr marL="90000" marR="90000" marT="18003" marB="18003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CV2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정보기술 아키텍처 원칙을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참조하여 품질속성을 정의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아키텍처 원칙은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AA, DA, TA, BA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와 같이 관점 별로 존재하는데 이 중 응용아키텍처 원칙을 참조한다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여기에 조직의 응용시스템이 갖추어야 할 기본적인 원칙을 정의하고 있다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이를 기반으로 고객으로부터 품질요구사항 도출을 쉽게 할 수 있다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제약사항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AV1 </a:t>
                      </a: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응용시스템 정의서의 정보를 통해 이미 업무적</a:t>
                      </a:r>
                      <a:r>
                        <a:rPr kumimoji="1" lang="en-US" altLang="ko-KR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기술적으로 정의된 정보를 참조</a:t>
                      </a:r>
                      <a:r>
                        <a:rPr kumimoji="1" lang="ko-KR" altLang="en-US" sz="11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한다</a:t>
                      </a:r>
                      <a:r>
                        <a:rPr kumimoji="1" lang="en-US" altLang="ko-KR" sz="11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.(</a:t>
                      </a:r>
                      <a:r>
                        <a:rPr kumimoji="1" lang="ko-KR" altLang="en-US" sz="11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대부분 </a:t>
                      </a:r>
                      <a:r>
                        <a:rPr kumimoji="1" lang="en-US" altLang="ko-KR" sz="11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RFP</a:t>
                      </a:r>
                      <a:r>
                        <a:rPr kumimoji="1" lang="ko-KR" altLang="en-US" sz="11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나 제안서에 정의된 내용이기도 하다</a:t>
                      </a:r>
                      <a:r>
                        <a:rPr kumimoji="1" lang="en-US" altLang="ko-KR" sz="11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.) </a:t>
                      </a: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업무적 제약사항은 응용시스템 정의에 연결된 관련법규나 연결된 관련업무의 </a:t>
                      </a:r>
                      <a:r>
                        <a:rPr kumimoji="1" lang="en-US" altLang="ko-KR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BA</a:t>
                      </a: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정보를 참조</a:t>
                      </a:r>
                      <a:r>
                        <a:rPr kumimoji="1" lang="ko-KR" altLang="en-US" sz="11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한다</a:t>
                      </a:r>
                      <a:r>
                        <a:rPr kumimoji="1" lang="en-US" altLang="ko-KR" sz="11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기술적 제약사항은 </a:t>
                      </a:r>
                      <a:r>
                        <a:rPr kumimoji="1" lang="en-US" altLang="ko-KR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EA</a:t>
                      </a: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의 </a:t>
                      </a:r>
                      <a:r>
                        <a:rPr kumimoji="1" lang="en-US" altLang="ko-KR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TRM </a:t>
                      </a: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통해 조직의 적용가능한 기술을 확인하여 도출</a:t>
                      </a:r>
                      <a:r>
                        <a:rPr kumimoji="1" lang="ko-KR" altLang="en-US" sz="11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한다</a:t>
                      </a:r>
                      <a:r>
                        <a:rPr kumimoji="1" lang="en-US" altLang="ko-KR" sz="11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제약사항의 도출은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Optional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임</a:t>
                      </a: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직사각형 71"/>
          <p:cNvSpPr/>
          <p:nvPr/>
        </p:nvSpPr>
        <p:spPr bwMode="auto">
          <a:xfrm>
            <a:off x="2789238" y="5132388"/>
            <a:ext cx="1773237" cy="1257300"/>
          </a:xfrm>
          <a:prstGeom prst="rect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71" name="직사각형 70"/>
          <p:cNvSpPr/>
          <p:nvPr/>
        </p:nvSpPr>
        <p:spPr bwMode="auto">
          <a:xfrm>
            <a:off x="487363" y="5124450"/>
            <a:ext cx="2228850" cy="1265238"/>
          </a:xfrm>
          <a:prstGeom prst="rect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70" name="직사각형 69"/>
          <p:cNvSpPr/>
          <p:nvPr/>
        </p:nvSpPr>
        <p:spPr bwMode="auto">
          <a:xfrm>
            <a:off x="498475" y="3675063"/>
            <a:ext cx="2579688" cy="1412875"/>
          </a:xfrm>
          <a:prstGeom prst="rect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92165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III. </a:t>
            </a:r>
            <a:r>
              <a:rPr lang="ko-KR" altLang="en-US" sz="1800" smtClean="0">
                <a:solidFill>
                  <a:srgbClr val="000000"/>
                </a:solidFill>
              </a:rPr>
              <a:t>소프트웨어 아키텍처로의 반영 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2. </a:t>
            </a:r>
            <a:r>
              <a:rPr lang="ko-KR" altLang="en-US" sz="1800" smtClean="0">
                <a:solidFill>
                  <a:srgbClr val="000000"/>
                </a:solidFill>
              </a:rPr>
              <a:t>수행 업무 </a:t>
            </a:r>
            <a:r>
              <a:rPr lang="en-US" altLang="ko-KR" sz="1800" smtClean="0">
                <a:solidFill>
                  <a:srgbClr val="000000"/>
                </a:solidFill>
              </a:rPr>
              <a:t>&gt; 2.1 EA</a:t>
            </a:r>
            <a:r>
              <a:rPr lang="ko-KR" altLang="en-US" sz="1800" smtClean="0">
                <a:solidFill>
                  <a:srgbClr val="000000"/>
                </a:solidFill>
              </a:rPr>
              <a:t>공통 및 응용</a:t>
            </a:r>
            <a:r>
              <a:rPr lang="en-US" altLang="ko-KR" sz="1800" smtClean="0">
                <a:solidFill>
                  <a:srgbClr val="000000"/>
                </a:solidFill>
              </a:rPr>
              <a:t>1</a:t>
            </a:r>
            <a:r>
              <a:rPr lang="ko-KR" altLang="en-US" sz="1800" smtClean="0">
                <a:solidFill>
                  <a:srgbClr val="000000"/>
                </a:solidFill>
              </a:rPr>
              <a:t>레벨의 반영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예시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269413" cy="4984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아래는 각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산출물 중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공통 및 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레벨의 산출물이 소프트웨어 아키텍처 정의에 영향을 주는 요소들이다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2167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138" y="1500188"/>
            <a:ext cx="1687512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8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75" y="1344613"/>
            <a:ext cx="2281238" cy="153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911850" y="3132138"/>
            <a:ext cx="3732213" cy="86201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&lt;&lt;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제약사항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&gt;&gt;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Char char="l"/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업무적 제약사항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법제도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규정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조직적 제약 사항 등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itchFamily="2" charset="2"/>
              <a:buChar char="l"/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기술적 제약사항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서버환경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데이터베이스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사내 기술 표준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지정 솔루션 등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5948363" y="4237038"/>
          <a:ext cx="3695700" cy="1973308"/>
        </p:xfrm>
        <a:graphic>
          <a:graphicData uri="http://schemas.openxmlformats.org/drawingml/2006/table">
            <a:tbl>
              <a:tblPr/>
              <a:tblGrid>
                <a:gridCol w="376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5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6164"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품질</a:t>
                      </a:r>
                      <a:r>
                        <a:rPr kumimoji="0" lang="en-GB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 </a:t>
                      </a:r>
                      <a:r>
                        <a:rPr kumimoji="0" lang="en-GB" alt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ID</a:t>
                      </a:r>
                      <a:endParaRPr kumimoji="0" lang="ko-KR" altLang="ko-KR" sz="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품질속성</a:t>
                      </a:r>
                      <a:r>
                        <a:rPr kumimoji="0" lang="en-GB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/>
                      </a:r>
                      <a:br>
                        <a:rPr kumimoji="0" lang="en-GB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</a:br>
                      <a:r>
                        <a:rPr kumimoji="0" lang="en-GB" alt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(ISO9120 </a:t>
                      </a: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분류</a:t>
                      </a:r>
                      <a:r>
                        <a:rPr kumimoji="0" lang="en-GB" alt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)</a:t>
                      </a:r>
                      <a:endParaRPr kumimoji="0" lang="ko-KR" altLang="ko-KR" sz="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요구사항명</a:t>
                      </a: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시나리오</a:t>
                      </a:r>
                      <a:r>
                        <a:rPr kumimoji="0" lang="en-GB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 </a:t>
                      </a:r>
                      <a:r>
                        <a:rPr kumimoji="0" lang="en-GB" alt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(</a:t>
                      </a: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난이도</a:t>
                      </a:r>
                      <a:r>
                        <a:rPr kumimoji="0" lang="en-GB" alt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/</a:t>
                      </a: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중요도</a:t>
                      </a:r>
                      <a:r>
                        <a:rPr kumimoji="0" lang="en-GB" alt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)</a:t>
                      </a:r>
                      <a:endParaRPr kumimoji="0" lang="ko-KR" altLang="ko-KR" sz="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측정기준</a:t>
                      </a: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250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QAR01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성능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Performance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(N/A)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처리속도</a:t>
                      </a: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(Latency) 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사용자가 어플리케이션을 호출 시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, 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조회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저장의 처리속도가 평균 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15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초 이내로 처리하여 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…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15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초 이내 응답</a:t>
                      </a: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250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QAR02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Courier New" pitchFamily="49" charset="0"/>
                        </a:rPr>
                        <a:t>처리 용량</a:t>
                      </a:r>
                      <a:endParaRPr kumimoji="0" 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Courier New" pitchFamily="49" charset="0"/>
                        </a:rPr>
                        <a:t>(throughput)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분당 수명만이 사용하는 시스템이지만 대량의 사용자가 어플리케이션을 호출 시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, …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100TPS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11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QAR08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회복성</a:t>
                      </a: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신뢰성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Reliability)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장애 발생에 대비한 백업 및 복구</a:t>
                      </a: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어플리케이션 장애 발생 시</a:t>
                      </a:r>
                      <a:r>
                        <a:rPr kumimoji="0" lang="en-US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 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5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분 이내 사용자의 요청에 대한 서비스가 재개 되어야 한다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.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확인판단</a:t>
                      </a: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147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QAR09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안정성</a:t>
                      </a: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신뢰성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Reliability)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데이터 무결성</a:t>
                      </a:r>
                      <a:r>
                        <a:rPr kumimoji="0" lang="en-GB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 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시스템</a:t>
                      </a:r>
                      <a:r>
                        <a:rPr kumimoji="0" lang="en-GB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  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영속성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소프트웨어 고장 이전과 복구 이후의 데이터는 동일한 상태여야 하며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, 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…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확인판단</a:t>
                      </a: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147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QAR10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운용성</a:t>
                      </a: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사용성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Usability)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서비스 운영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접근 통제</a:t>
                      </a: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담당관 통제관 등 영역별 사용자는 허가된 서비스에 접근하여 이용할 수 있으며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…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확인판단</a:t>
                      </a: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147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QAR11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가용성 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(availability)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네트워크 중단 시 처리 방안 </a:t>
                      </a: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FRID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리더기에 의한 자료 전송이 네트워크가 중단되었을 때 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…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확인판단</a:t>
                      </a: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445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QAR12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변경성</a:t>
                      </a: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유지보수성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Maintainability)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소프트웨어 의존성 최소화</a:t>
                      </a: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레이어별로 구성된 각 소프트웨어 컴포넌트는 상호간의 의존성을 최소화하여 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…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확인판단</a:t>
                      </a:r>
                    </a:p>
                  </a:txBody>
                  <a:tcPr marL="8535" marR="8535" marT="8532" marB="85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92226" name="그룹 47"/>
          <p:cNvGrpSpPr>
            <a:grpSpLocks/>
          </p:cNvGrpSpPr>
          <p:nvPr/>
        </p:nvGrpSpPr>
        <p:grpSpPr bwMode="auto">
          <a:xfrm>
            <a:off x="588963" y="1611313"/>
            <a:ext cx="2335212" cy="1195387"/>
            <a:chOff x="2309813" y="1811338"/>
            <a:chExt cx="6357937" cy="3105150"/>
          </a:xfrm>
        </p:grpSpPr>
        <p:grpSp>
          <p:nvGrpSpPr>
            <p:cNvPr id="92244" name="Group 207"/>
            <p:cNvGrpSpPr>
              <a:grpSpLocks/>
            </p:cNvGrpSpPr>
            <p:nvPr/>
          </p:nvGrpSpPr>
          <p:grpSpPr bwMode="auto">
            <a:xfrm>
              <a:off x="2309813" y="1844675"/>
              <a:ext cx="6357937" cy="3071813"/>
              <a:chOff x="881" y="2697"/>
              <a:chExt cx="1024" cy="552"/>
            </a:xfrm>
          </p:grpSpPr>
          <p:sp>
            <p:nvSpPr>
              <p:cNvPr id="92281" name="AutoShape 208"/>
              <p:cNvSpPr>
                <a:spLocks noChangeArrowheads="1"/>
              </p:cNvSpPr>
              <p:nvPr/>
            </p:nvSpPr>
            <p:spPr bwMode="auto">
              <a:xfrm>
                <a:off x="881" y="2697"/>
                <a:ext cx="1024" cy="552"/>
              </a:xfrm>
              <a:prstGeom prst="roundRect">
                <a:avLst>
                  <a:gd name="adj" fmla="val 5796"/>
                </a:avLst>
              </a:prstGeom>
              <a:gradFill rotWithShape="0">
                <a:gsLst>
                  <a:gs pos="0">
                    <a:srgbClr val="D2E1F0"/>
                  </a:gs>
                  <a:gs pos="100000">
                    <a:srgbClr val="F5F8FC"/>
                  </a:gs>
                </a:gsLst>
                <a:lin ang="5400000" scaled="1"/>
              </a:gradFill>
              <a:ln w="19050">
                <a:solidFill>
                  <a:srgbClr val="94B8DC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en-US" altLang="ko-KR" sz="400" b="0"/>
              </a:p>
            </p:txBody>
          </p:sp>
          <p:sp>
            <p:nvSpPr>
              <p:cNvPr id="92282" name="AutoShape 209"/>
              <p:cNvSpPr>
                <a:spLocks noChangeArrowheads="1"/>
              </p:cNvSpPr>
              <p:nvPr/>
            </p:nvSpPr>
            <p:spPr bwMode="auto">
              <a:xfrm>
                <a:off x="910" y="2715"/>
                <a:ext cx="966" cy="126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F5F8FC"/>
                  </a:gs>
                  <a:gs pos="100000">
                    <a:srgbClr val="D2E1F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0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 sz="400" b="0"/>
              </a:p>
            </p:txBody>
          </p:sp>
        </p:grpSp>
        <p:sp>
          <p:nvSpPr>
            <p:cNvPr id="12" name="Rectangle 190"/>
            <p:cNvSpPr>
              <a:spLocks noChangeArrowheads="1"/>
            </p:cNvSpPr>
            <p:nvPr/>
          </p:nvSpPr>
          <p:spPr bwMode="auto">
            <a:xfrm>
              <a:off x="3442226" y="2293810"/>
              <a:ext cx="3073074" cy="1723709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54000"/>
              </a:schemeClr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36000" rIns="0" bIns="0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latin typeface="Arial" charset="0"/>
                </a:rPr>
                <a:t>통합사건관리시스템</a:t>
              </a:r>
            </a:p>
          </p:txBody>
        </p:sp>
        <p:sp>
          <p:nvSpPr>
            <p:cNvPr id="92246" name="Rectangle 193"/>
            <p:cNvSpPr>
              <a:spLocks noChangeArrowheads="1"/>
            </p:cNvSpPr>
            <p:nvPr/>
          </p:nvSpPr>
          <p:spPr bwMode="auto">
            <a:xfrm>
              <a:off x="7596188" y="3763963"/>
              <a:ext cx="928687" cy="1023937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##</a:t>
              </a:r>
              <a:r>
                <a:rPr kumimoji="0" lang="ko-KR" altLang="en-US" sz="300" b="0"/>
                <a:t>시스템</a:t>
              </a:r>
            </a:p>
          </p:txBody>
        </p:sp>
        <p:sp>
          <p:nvSpPr>
            <p:cNvPr id="92247" name="Rectangle 191"/>
            <p:cNvSpPr>
              <a:spLocks noChangeArrowheads="1"/>
            </p:cNvSpPr>
            <p:nvPr/>
          </p:nvSpPr>
          <p:spPr bwMode="auto">
            <a:xfrm>
              <a:off x="5576888" y="4083050"/>
              <a:ext cx="936625" cy="323850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FF </a:t>
              </a:r>
              <a:r>
                <a:rPr kumimoji="0" lang="ko-KR" altLang="en-US" sz="300" b="0"/>
                <a:t>시스템</a:t>
              </a:r>
            </a:p>
          </p:txBody>
        </p:sp>
        <p:sp>
          <p:nvSpPr>
            <p:cNvPr id="92248" name="Rectangle 184"/>
            <p:cNvSpPr>
              <a:spLocks noChangeArrowheads="1"/>
            </p:cNvSpPr>
            <p:nvPr/>
          </p:nvSpPr>
          <p:spPr bwMode="auto">
            <a:xfrm>
              <a:off x="6577013" y="2481263"/>
              <a:ext cx="936625" cy="322262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I</a:t>
              </a:r>
            </a:p>
            <a:p>
              <a:pPr>
                <a:buFont typeface="Wingdings" panose="05000000000000000000" pitchFamily="2" charset="2"/>
                <a:buNone/>
              </a:pPr>
              <a:r>
                <a:rPr kumimoji="0" lang="ko-KR" altLang="en-US" sz="300" b="0"/>
                <a:t>시스템</a:t>
              </a:r>
            </a:p>
          </p:txBody>
        </p:sp>
        <p:sp>
          <p:nvSpPr>
            <p:cNvPr id="92249" name="Rectangle 178"/>
            <p:cNvSpPr>
              <a:spLocks noChangeArrowheads="1"/>
            </p:cNvSpPr>
            <p:nvPr/>
          </p:nvSpPr>
          <p:spPr bwMode="auto">
            <a:xfrm>
              <a:off x="4513263" y="4467225"/>
              <a:ext cx="936625" cy="323850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PP</a:t>
              </a:r>
            </a:p>
            <a:p>
              <a:pPr>
                <a:buFont typeface="Wingdings" panose="05000000000000000000" pitchFamily="2" charset="2"/>
                <a:buNone/>
              </a:pPr>
              <a:r>
                <a:rPr kumimoji="0" lang="ko-KR" altLang="en-US" sz="300" b="0"/>
                <a:t>시스템</a:t>
              </a:r>
            </a:p>
          </p:txBody>
        </p:sp>
        <p:sp>
          <p:nvSpPr>
            <p:cNvPr id="92250" name="Rectangle 177"/>
            <p:cNvSpPr>
              <a:spLocks noChangeArrowheads="1"/>
            </p:cNvSpPr>
            <p:nvPr/>
          </p:nvSpPr>
          <p:spPr bwMode="auto">
            <a:xfrm>
              <a:off x="6584950" y="3763963"/>
              <a:ext cx="936625" cy="736600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r>
                <a:rPr kumimoji="0" lang="en-US" altLang="ko-KR" sz="300" b="0"/>
                <a:t>**</a:t>
              </a:r>
              <a:r>
                <a:rPr kumimoji="0" lang="ko-KR" altLang="en-US" sz="300" b="0"/>
                <a:t>시스템</a:t>
              </a:r>
            </a:p>
          </p:txBody>
        </p:sp>
        <p:sp>
          <p:nvSpPr>
            <p:cNvPr id="92251" name="Rectangle 175"/>
            <p:cNvSpPr>
              <a:spLocks noChangeArrowheads="1"/>
            </p:cNvSpPr>
            <p:nvPr/>
          </p:nvSpPr>
          <p:spPr bwMode="auto">
            <a:xfrm>
              <a:off x="7588250" y="2484438"/>
              <a:ext cx="936625" cy="322262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J</a:t>
              </a:r>
              <a:endParaRPr kumimoji="0" lang="ko-KR" altLang="en-US" sz="300" b="0"/>
            </a:p>
          </p:txBody>
        </p:sp>
        <p:sp>
          <p:nvSpPr>
            <p:cNvPr id="92252" name="Rectangle 174"/>
            <p:cNvSpPr>
              <a:spLocks noChangeArrowheads="1"/>
            </p:cNvSpPr>
            <p:nvPr/>
          </p:nvSpPr>
          <p:spPr bwMode="auto">
            <a:xfrm>
              <a:off x="6577013" y="3249613"/>
              <a:ext cx="936625" cy="322262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r>
                <a:rPr kumimoji="0" lang="en-US" altLang="ko-KR" sz="300" b="0"/>
                <a:t>L</a:t>
              </a:r>
            </a:p>
            <a:p>
              <a:r>
                <a:rPr kumimoji="0" lang="ko-KR" altLang="en-US" sz="300" b="0"/>
                <a:t>시스템</a:t>
              </a:r>
            </a:p>
          </p:txBody>
        </p:sp>
        <p:sp>
          <p:nvSpPr>
            <p:cNvPr id="92253" name="Rectangle 173"/>
            <p:cNvSpPr>
              <a:spLocks noChangeArrowheads="1"/>
            </p:cNvSpPr>
            <p:nvPr/>
          </p:nvSpPr>
          <p:spPr bwMode="auto">
            <a:xfrm>
              <a:off x="6577013" y="2865438"/>
              <a:ext cx="936625" cy="322262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r>
                <a:rPr kumimoji="0" lang="en-US" altLang="ko-KR" sz="300" b="0"/>
                <a:t>H</a:t>
              </a:r>
            </a:p>
            <a:p>
              <a:r>
                <a:rPr kumimoji="0" lang="en-US" altLang="ko-KR" sz="300" b="0"/>
                <a:t>DB</a:t>
              </a:r>
              <a:r>
                <a:rPr kumimoji="0" lang="ko-KR" altLang="en-US" sz="300" b="0"/>
                <a:t>시스템</a:t>
              </a:r>
              <a:endParaRPr kumimoji="0" lang="en-US" altLang="ko-KR" sz="300" b="0"/>
            </a:p>
          </p:txBody>
        </p:sp>
        <p:sp>
          <p:nvSpPr>
            <p:cNvPr id="92254" name="Rectangle 172"/>
            <p:cNvSpPr>
              <a:spLocks noChangeArrowheads="1"/>
            </p:cNvSpPr>
            <p:nvPr/>
          </p:nvSpPr>
          <p:spPr bwMode="auto">
            <a:xfrm>
              <a:off x="2452688" y="2481263"/>
              <a:ext cx="936625" cy="322262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A</a:t>
              </a:r>
              <a:r>
                <a:rPr kumimoji="0" lang="ko-KR" altLang="en-US" sz="300" b="0"/>
                <a:t>시스템</a:t>
              </a:r>
            </a:p>
          </p:txBody>
        </p:sp>
        <p:sp>
          <p:nvSpPr>
            <p:cNvPr id="92255" name="Rectangle 169"/>
            <p:cNvSpPr>
              <a:spLocks noChangeArrowheads="1"/>
            </p:cNvSpPr>
            <p:nvPr/>
          </p:nvSpPr>
          <p:spPr bwMode="auto">
            <a:xfrm>
              <a:off x="4505325" y="4083050"/>
              <a:ext cx="936625" cy="323850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DD</a:t>
              </a:r>
            </a:p>
            <a:p>
              <a:pPr>
                <a:buFont typeface="Wingdings" panose="05000000000000000000" pitchFamily="2" charset="2"/>
                <a:buNone/>
              </a:pPr>
              <a:r>
                <a:rPr kumimoji="0" lang="ko-KR" altLang="en-US" sz="300" b="0"/>
                <a:t>시스템</a:t>
              </a:r>
            </a:p>
          </p:txBody>
        </p:sp>
        <p:sp>
          <p:nvSpPr>
            <p:cNvPr id="92256" name="Rectangle 165"/>
            <p:cNvSpPr>
              <a:spLocks noChangeArrowheads="1"/>
            </p:cNvSpPr>
            <p:nvPr/>
          </p:nvSpPr>
          <p:spPr bwMode="auto">
            <a:xfrm>
              <a:off x="3441700" y="4083050"/>
              <a:ext cx="936625" cy="323850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BB</a:t>
              </a:r>
            </a:p>
            <a:p>
              <a:pPr>
                <a:buFont typeface="Wingdings" panose="05000000000000000000" pitchFamily="2" charset="2"/>
                <a:buNone/>
              </a:pPr>
              <a:r>
                <a:rPr kumimoji="0" lang="ko-KR" altLang="en-US" sz="300" b="0"/>
                <a:t>관리검색시스템</a:t>
              </a:r>
            </a:p>
          </p:txBody>
        </p:sp>
        <p:sp>
          <p:nvSpPr>
            <p:cNvPr id="92257" name="Rectangle 163"/>
            <p:cNvSpPr>
              <a:spLocks noChangeArrowheads="1"/>
            </p:cNvSpPr>
            <p:nvPr/>
          </p:nvSpPr>
          <p:spPr bwMode="auto">
            <a:xfrm>
              <a:off x="5576888" y="4465638"/>
              <a:ext cx="936625" cy="322262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VV</a:t>
              </a:r>
            </a:p>
            <a:p>
              <a:pPr>
                <a:buFont typeface="Wingdings" panose="05000000000000000000" pitchFamily="2" charset="2"/>
                <a:buNone/>
              </a:pPr>
              <a:r>
                <a:rPr kumimoji="0" lang="ko-KR" altLang="en-US" sz="300" b="0"/>
                <a:t>검색시스템</a:t>
              </a:r>
            </a:p>
          </p:txBody>
        </p:sp>
        <p:sp>
          <p:nvSpPr>
            <p:cNvPr id="92258" name="Rectangle 160"/>
            <p:cNvSpPr>
              <a:spLocks noChangeArrowheads="1"/>
            </p:cNvSpPr>
            <p:nvPr/>
          </p:nvSpPr>
          <p:spPr bwMode="auto">
            <a:xfrm>
              <a:off x="3441700" y="4467225"/>
              <a:ext cx="936625" cy="323850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HH </a:t>
              </a:r>
              <a:r>
                <a:rPr kumimoji="0" lang="ko-KR" altLang="en-US" sz="300" b="0"/>
                <a:t>시스템</a:t>
              </a:r>
              <a:endParaRPr kumimoji="0" lang="en-US" altLang="ko-KR" sz="300" b="0"/>
            </a:p>
          </p:txBody>
        </p:sp>
        <p:sp>
          <p:nvSpPr>
            <p:cNvPr id="26" name="Rectangle 170"/>
            <p:cNvSpPr>
              <a:spLocks noChangeArrowheads="1"/>
            </p:cNvSpPr>
            <p:nvPr/>
          </p:nvSpPr>
          <p:spPr bwMode="auto">
            <a:xfrm>
              <a:off x="4496840" y="2479379"/>
              <a:ext cx="877403" cy="3257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  <a:defRPr/>
              </a:pPr>
              <a:r>
                <a:rPr kumimoji="0" lang="en-US" altLang="ko-KR" sz="300" b="0" smtClean="0"/>
                <a:t>C</a:t>
              </a:r>
            </a:p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  <a:defRPr/>
              </a:pPr>
              <a:r>
                <a:rPr kumimoji="0" lang="ko-KR" altLang="en-US" sz="300" b="0" smtClean="0"/>
                <a:t>시스템</a:t>
              </a:r>
            </a:p>
          </p:txBody>
        </p:sp>
        <p:sp>
          <p:nvSpPr>
            <p:cNvPr id="27" name="Rectangle 170"/>
            <p:cNvSpPr>
              <a:spLocks noChangeArrowheads="1"/>
            </p:cNvSpPr>
            <p:nvPr/>
          </p:nvSpPr>
          <p:spPr bwMode="auto">
            <a:xfrm>
              <a:off x="4505484" y="3250510"/>
              <a:ext cx="877403" cy="3216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en-US" altLang="ko-KR" sz="300" b="0" dirty="0">
                  <a:latin typeface="Arial" charset="0"/>
                </a:rPr>
                <a:t>DD</a:t>
              </a:r>
            </a:p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latin typeface="Arial" charset="0"/>
                </a:rPr>
                <a:t>시스템</a:t>
              </a:r>
            </a:p>
          </p:txBody>
        </p:sp>
        <p:sp>
          <p:nvSpPr>
            <p:cNvPr id="28" name="Rectangle 165"/>
            <p:cNvSpPr>
              <a:spLocks noChangeArrowheads="1"/>
            </p:cNvSpPr>
            <p:nvPr/>
          </p:nvSpPr>
          <p:spPr bwMode="auto">
            <a:xfrm>
              <a:off x="3567568" y="3250510"/>
              <a:ext cx="877405" cy="3216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en-US" altLang="ko-KR" sz="300" b="0" dirty="0">
                  <a:latin typeface="Arial" charset="0"/>
                </a:rPr>
                <a:t>CC</a:t>
              </a:r>
            </a:p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latin typeface="Arial" charset="0"/>
                </a:rPr>
                <a:t>시스템</a:t>
              </a:r>
            </a:p>
          </p:txBody>
        </p:sp>
        <p:sp>
          <p:nvSpPr>
            <p:cNvPr id="29" name="Rectangle 165"/>
            <p:cNvSpPr>
              <a:spLocks noChangeArrowheads="1"/>
            </p:cNvSpPr>
            <p:nvPr/>
          </p:nvSpPr>
          <p:spPr bwMode="auto">
            <a:xfrm>
              <a:off x="4496840" y="2867007"/>
              <a:ext cx="877403" cy="3216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latin typeface="Arial" charset="0"/>
                </a:rPr>
                <a:t>진</a:t>
              </a:r>
              <a:r>
                <a:rPr kumimoji="0" lang="en-US" altLang="ko-KR" sz="300" b="0" dirty="0">
                  <a:latin typeface="Arial" charset="0"/>
                </a:rPr>
                <a:t>F</a:t>
              </a:r>
            </a:p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latin typeface="Arial" charset="0"/>
                </a:rPr>
                <a:t>시스템</a:t>
              </a:r>
            </a:p>
          </p:txBody>
        </p:sp>
        <p:sp>
          <p:nvSpPr>
            <p:cNvPr id="30" name="Rectangle 165"/>
            <p:cNvSpPr>
              <a:spLocks noChangeArrowheads="1"/>
            </p:cNvSpPr>
            <p:nvPr/>
          </p:nvSpPr>
          <p:spPr bwMode="auto">
            <a:xfrm>
              <a:off x="5577387" y="2867007"/>
              <a:ext cx="877403" cy="3216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  <a:defRPr/>
              </a:pPr>
              <a:r>
                <a:rPr kumimoji="0" lang="en-US" altLang="ko-KR" sz="300" b="0" smtClean="0"/>
                <a:t>G</a:t>
              </a:r>
            </a:p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  <a:defRPr/>
              </a:pPr>
              <a:r>
                <a:rPr kumimoji="0" lang="ko-KR" altLang="en-US" sz="300" b="0" smtClean="0"/>
                <a:t>시스템</a:t>
              </a:r>
            </a:p>
          </p:txBody>
        </p:sp>
        <p:sp>
          <p:nvSpPr>
            <p:cNvPr id="31" name="Rectangle 169"/>
            <p:cNvSpPr>
              <a:spLocks noChangeArrowheads="1"/>
            </p:cNvSpPr>
            <p:nvPr/>
          </p:nvSpPr>
          <p:spPr bwMode="auto">
            <a:xfrm>
              <a:off x="3558924" y="2479379"/>
              <a:ext cx="877405" cy="3257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  <a:defRPr/>
              </a:pPr>
              <a:r>
                <a:rPr kumimoji="0" lang="en-US" altLang="ko-KR" sz="300" b="0" smtClean="0"/>
                <a:t>B</a:t>
              </a:r>
            </a:p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  <a:defRPr/>
              </a:pPr>
              <a:r>
                <a:rPr kumimoji="0" lang="ko-KR" altLang="en-US" sz="300" b="0" smtClean="0"/>
                <a:t>시스템</a:t>
              </a:r>
            </a:p>
          </p:txBody>
        </p:sp>
        <p:sp>
          <p:nvSpPr>
            <p:cNvPr id="32" name="Rectangle 169"/>
            <p:cNvSpPr>
              <a:spLocks noChangeArrowheads="1"/>
            </p:cNvSpPr>
            <p:nvPr/>
          </p:nvSpPr>
          <p:spPr bwMode="auto">
            <a:xfrm>
              <a:off x="3558924" y="2867007"/>
              <a:ext cx="877405" cy="3216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  <a:defRPr/>
              </a:pPr>
              <a:r>
                <a:rPr kumimoji="0" lang="en-US" altLang="ko-KR" sz="300" b="0" smtClean="0"/>
                <a:t>E</a:t>
              </a:r>
            </a:p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  <a:defRPr/>
              </a:pPr>
              <a:r>
                <a:rPr kumimoji="0" lang="ko-KR" altLang="en-US" sz="300" b="0" smtClean="0"/>
                <a:t>시스템</a:t>
              </a:r>
            </a:p>
          </p:txBody>
        </p:sp>
        <p:sp>
          <p:nvSpPr>
            <p:cNvPr id="33" name="Rectangle 178"/>
            <p:cNvSpPr>
              <a:spLocks noChangeArrowheads="1"/>
            </p:cNvSpPr>
            <p:nvPr/>
          </p:nvSpPr>
          <p:spPr bwMode="auto">
            <a:xfrm>
              <a:off x="3576213" y="3683501"/>
              <a:ext cx="877405" cy="3216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en-US" altLang="ko-KR" sz="300" b="0" dirty="0">
                  <a:latin typeface="Arial" charset="0"/>
                </a:rPr>
                <a:t>NN</a:t>
              </a:r>
            </a:p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latin typeface="Arial" charset="0"/>
                </a:rPr>
                <a:t>처리시스템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2383289" y="2034018"/>
              <a:ext cx="3068753" cy="159999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600" b="0" dirty="0">
                  <a:solidFill>
                    <a:schemeClr val="tx1"/>
                  </a:solidFill>
                  <a:latin typeface="산돌고딕 M" pitchFamily="18" charset="-127"/>
                  <a:ea typeface="산돌고딕 M" pitchFamily="18" charset="-127"/>
                </a:rPr>
                <a:t>응용서비스 그룹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5525521" y="2034018"/>
              <a:ext cx="3068753" cy="159999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sz="600" b="0" dirty="0">
                  <a:solidFill>
                    <a:schemeClr val="tx1"/>
                  </a:solidFill>
                  <a:latin typeface="산돌고딕 M" pitchFamily="18" charset="-127"/>
                  <a:ea typeface="산돌고딕 M" pitchFamily="18" charset="-127"/>
                </a:rPr>
                <a:t>그룹</a:t>
              </a:r>
              <a:r>
                <a:rPr lang="en-US" altLang="ko-KR" sz="600" b="0" dirty="0">
                  <a:solidFill>
                    <a:schemeClr val="tx1"/>
                  </a:solidFill>
                  <a:latin typeface="산돌고딕 M" pitchFamily="18" charset="-127"/>
                  <a:ea typeface="산돌고딕 M" pitchFamily="18" charset="-127"/>
                </a:rPr>
                <a:t>2</a:t>
              </a:r>
              <a:endParaRPr lang="ko-KR" altLang="en-US" sz="600" b="0" dirty="0">
                <a:solidFill>
                  <a:schemeClr val="tx1"/>
                </a:solidFill>
                <a:latin typeface="산돌고딕 M" pitchFamily="18" charset="-127"/>
                <a:ea typeface="산돌고딕 M" pitchFamily="18" charset="-127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2383289" y="3699996"/>
              <a:ext cx="6210985" cy="115051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ko-KR" altLang="en-US" sz="400" b="0" dirty="0">
                <a:solidFill>
                  <a:schemeClr val="tx1"/>
                </a:solidFill>
                <a:latin typeface="산돌고딕 M" pitchFamily="18" charset="-127"/>
                <a:ea typeface="산돌고딕 M" pitchFamily="18" charset="-127"/>
              </a:endParaRPr>
            </a:p>
          </p:txBody>
        </p:sp>
        <p:sp>
          <p:nvSpPr>
            <p:cNvPr id="92270" name="TextBox 89"/>
            <p:cNvSpPr txBox="1">
              <a:spLocks noChangeArrowheads="1"/>
            </p:cNvSpPr>
            <p:nvPr/>
          </p:nvSpPr>
          <p:spPr bwMode="auto">
            <a:xfrm>
              <a:off x="2513011" y="3773489"/>
              <a:ext cx="857250" cy="654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600" b="0"/>
                <a:t>그룹</a:t>
              </a:r>
              <a:r>
                <a:rPr lang="en-US" altLang="ko-KR" sz="600" b="0"/>
                <a:t> 3</a:t>
              </a:r>
              <a:endParaRPr lang="ko-KR" altLang="en-US" sz="600" b="0"/>
            </a:p>
          </p:txBody>
        </p:sp>
        <p:sp>
          <p:nvSpPr>
            <p:cNvPr id="92271" name="Rectangle 172"/>
            <p:cNvSpPr>
              <a:spLocks noChangeArrowheads="1"/>
            </p:cNvSpPr>
            <p:nvPr/>
          </p:nvSpPr>
          <p:spPr bwMode="auto">
            <a:xfrm>
              <a:off x="2452688" y="2865438"/>
              <a:ext cx="936625" cy="322262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D</a:t>
              </a:r>
            </a:p>
            <a:p>
              <a:pPr>
                <a:buFont typeface="Wingdings" panose="05000000000000000000" pitchFamily="2" charset="2"/>
                <a:buNone/>
              </a:pPr>
              <a:r>
                <a:rPr kumimoji="0" lang="ko-KR" altLang="en-US" sz="300" b="0"/>
                <a:t>관리시스템</a:t>
              </a:r>
            </a:p>
          </p:txBody>
        </p:sp>
        <p:sp>
          <p:nvSpPr>
            <p:cNvPr id="39" name="Rectangle 165"/>
            <p:cNvSpPr>
              <a:spLocks noChangeArrowheads="1"/>
            </p:cNvSpPr>
            <p:nvPr/>
          </p:nvSpPr>
          <p:spPr bwMode="auto">
            <a:xfrm>
              <a:off x="7630425" y="3955666"/>
              <a:ext cx="847149" cy="3216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en-US" altLang="ko-KR" sz="300" b="0" dirty="0">
                  <a:latin typeface="Arial" charset="0"/>
                </a:rPr>
                <a:t>RR</a:t>
              </a:r>
            </a:p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latin typeface="Arial" charset="0"/>
                </a:rPr>
                <a:t>연계시스템</a:t>
              </a:r>
            </a:p>
          </p:txBody>
        </p:sp>
        <p:sp>
          <p:nvSpPr>
            <p:cNvPr id="40" name="Rectangle 178"/>
            <p:cNvSpPr>
              <a:spLocks noChangeArrowheads="1"/>
            </p:cNvSpPr>
            <p:nvPr/>
          </p:nvSpPr>
          <p:spPr bwMode="auto">
            <a:xfrm>
              <a:off x="7643393" y="4339169"/>
              <a:ext cx="808248" cy="3216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en-US" altLang="ko-KR" sz="300" b="0" dirty="0">
                  <a:latin typeface="Arial" charset="0"/>
                </a:rPr>
                <a:t>XX</a:t>
              </a:r>
            </a:p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latin typeface="Arial" charset="0"/>
                </a:rPr>
                <a:t>검색시스템</a:t>
              </a:r>
            </a:p>
          </p:txBody>
        </p:sp>
        <p:sp>
          <p:nvSpPr>
            <p:cNvPr id="41" name="Rectangle 165"/>
            <p:cNvSpPr>
              <a:spLocks noChangeArrowheads="1"/>
            </p:cNvSpPr>
            <p:nvPr/>
          </p:nvSpPr>
          <p:spPr bwMode="auto">
            <a:xfrm>
              <a:off x="6640645" y="3914429"/>
              <a:ext cx="838504" cy="2556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en-US" altLang="ko-KR" sz="300" b="0" dirty="0">
                  <a:latin typeface="Arial" charset="0"/>
                </a:rPr>
                <a:t>QQ</a:t>
              </a:r>
            </a:p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ko-KR" altLang="en-US" sz="300" b="0" dirty="0">
                  <a:latin typeface="Arial" charset="0"/>
                </a:rPr>
                <a:t>시스템</a:t>
              </a:r>
              <a:endParaRPr kumimoji="0" lang="en-US" altLang="ko-KR" sz="300" b="0" dirty="0">
                <a:latin typeface="Arial" charset="0"/>
              </a:endParaRPr>
            </a:p>
          </p:txBody>
        </p:sp>
        <p:sp>
          <p:nvSpPr>
            <p:cNvPr id="42" name="Rectangle 178"/>
            <p:cNvSpPr>
              <a:spLocks noChangeArrowheads="1"/>
            </p:cNvSpPr>
            <p:nvPr/>
          </p:nvSpPr>
          <p:spPr bwMode="auto">
            <a:xfrm>
              <a:off x="6636322" y="4215458"/>
              <a:ext cx="829860" cy="2391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en-US" altLang="ko-KR" sz="300" b="0" dirty="0">
                  <a:latin typeface="Arial" charset="0"/>
                </a:rPr>
                <a:t>UU</a:t>
              </a:r>
              <a:endParaRPr kumimoji="0" lang="ko-KR" altLang="en-US" sz="300" b="0" dirty="0">
                <a:latin typeface="Arial" charset="0"/>
              </a:endParaRPr>
            </a:p>
          </p:txBody>
        </p:sp>
        <p:sp>
          <p:nvSpPr>
            <p:cNvPr id="92276" name="Rectangle 172"/>
            <p:cNvSpPr>
              <a:spLocks noChangeArrowheads="1"/>
            </p:cNvSpPr>
            <p:nvPr/>
          </p:nvSpPr>
          <p:spPr bwMode="auto">
            <a:xfrm>
              <a:off x="2452688" y="4081463"/>
              <a:ext cx="936625" cy="322262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AA</a:t>
              </a:r>
            </a:p>
            <a:p>
              <a:pPr>
                <a:buFont typeface="Wingdings" panose="05000000000000000000" pitchFamily="2" charset="2"/>
                <a:buNone/>
              </a:pPr>
              <a:r>
                <a:rPr kumimoji="0" lang="ko-KR" altLang="en-US" sz="300" b="0"/>
                <a:t>시스템</a:t>
              </a:r>
            </a:p>
          </p:txBody>
        </p:sp>
        <p:sp>
          <p:nvSpPr>
            <p:cNvPr id="92277" name="Rectangle 172"/>
            <p:cNvSpPr>
              <a:spLocks noChangeArrowheads="1"/>
            </p:cNvSpPr>
            <p:nvPr/>
          </p:nvSpPr>
          <p:spPr bwMode="auto">
            <a:xfrm>
              <a:off x="7596189" y="2868613"/>
              <a:ext cx="928686" cy="319086"/>
            </a:xfrm>
            <a:prstGeom prst="rect">
              <a:avLst/>
            </a:prstGeom>
            <a:solidFill>
              <a:srgbClr val="DDDDDD"/>
            </a:solidFill>
            <a:ln w="38100" cmpd="tri" algn="ctr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K </a:t>
              </a:r>
              <a:r>
                <a:rPr kumimoji="0" lang="ko-KR" altLang="en-US" sz="300" b="0"/>
                <a:t>시스템</a:t>
              </a:r>
            </a:p>
          </p:txBody>
        </p:sp>
        <p:sp>
          <p:nvSpPr>
            <p:cNvPr id="92278" name="Rectangle 122"/>
            <p:cNvSpPr>
              <a:spLocks noChangeArrowheads="1"/>
            </p:cNvSpPr>
            <p:nvPr/>
          </p:nvSpPr>
          <p:spPr bwMode="auto">
            <a:xfrm>
              <a:off x="2381250" y="1811338"/>
              <a:ext cx="1500189" cy="400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r>
                <a:rPr kumimoji="0" lang="ko-KR" altLang="en-US" sz="500" b="0">
                  <a:latin typeface="(한)문화방송" pitchFamily="18" charset="-127"/>
                  <a:ea typeface="-윤고딕140" pitchFamily="18" charset="-127"/>
                </a:rPr>
                <a:t>응용시스템 구성도</a:t>
              </a:r>
            </a:p>
          </p:txBody>
        </p:sp>
        <p:sp>
          <p:nvSpPr>
            <p:cNvPr id="92279" name="Rectangle 163"/>
            <p:cNvSpPr>
              <a:spLocks noChangeArrowheads="1"/>
            </p:cNvSpPr>
            <p:nvPr/>
          </p:nvSpPr>
          <p:spPr bwMode="auto">
            <a:xfrm>
              <a:off x="6596063" y="4572000"/>
              <a:ext cx="936625" cy="214313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YY</a:t>
              </a:r>
              <a:r>
                <a:rPr kumimoji="0" lang="ko-KR" altLang="en-US" sz="300" b="0"/>
                <a:t>시스템</a:t>
              </a:r>
            </a:p>
          </p:txBody>
        </p:sp>
        <p:sp>
          <p:nvSpPr>
            <p:cNvPr id="92280" name="Rectangle 172"/>
            <p:cNvSpPr>
              <a:spLocks noChangeArrowheads="1"/>
            </p:cNvSpPr>
            <p:nvPr/>
          </p:nvSpPr>
          <p:spPr bwMode="auto">
            <a:xfrm>
              <a:off x="2452688" y="4465638"/>
              <a:ext cx="936625" cy="322262"/>
            </a:xfrm>
            <a:prstGeom prst="rect">
              <a:avLst/>
            </a:prstGeom>
            <a:solidFill>
              <a:srgbClr val="DDDDDD"/>
            </a:solidFill>
            <a:ln w="12700" cmpd="tri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endParaRPr kumimoji="0" lang="en-US" altLang="ko-KR" sz="300" b="0"/>
            </a:p>
            <a:p>
              <a:pPr>
                <a:buFont typeface="Wingdings" panose="05000000000000000000" pitchFamily="2" charset="2"/>
                <a:buNone/>
              </a:pPr>
              <a:r>
                <a:rPr kumimoji="0" lang="en-US" altLang="ko-KR" sz="300" b="0"/>
                <a:t>&amp;&amp;</a:t>
              </a:r>
              <a:r>
                <a:rPr kumimoji="0" lang="ko-KR" altLang="en-US" sz="300" b="0"/>
                <a:t>시스템</a:t>
              </a:r>
            </a:p>
          </p:txBody>
        </p:sp>
      </p:grpSp>
      <p:pic>
        <p:nvPicPr>
          <p:cNvPr id="92227" name="Picture 6" descr="정보기술아키텍처원칙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3671888"/>
            <a:ext cx="2263775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82900" y="5197475"/>
            <a:ext cx="1585913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  <p:pic>
        <p:nvPicPr>
          <p:cNvPr id="92229" name="Picture 2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63" y="5160963"/>
            <a:ext cx="2073275" cy="9937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0" name="TextBox 151"/>
          <p:cNvSpPr txBox="1">
            <a:spLocks noChangeArrowheads="1"/>
          </p:cNvSpPr>
          <p:nvPr/>
        </p:nvSpPr>
        <p:spPr bwMode="auto">
          <a:xfrm>
            <a:off x="585788" y="3336925"/>
            <a:ext cx="2320925" cy="2460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AV1 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구성도</a:t>
            </a:r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정의서 </a:t>
            </a:r>
          </a:p>
        </p:txBody>
      </p:sp>
      <p:pic>
        <p:nvPicPr>
          <p:cNvPr id="92231" name="Picture 2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832100"/>
            <a:ext cx="2498725" cy="47783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2" name="TextBox 151"/>
          <p:cNvSpPr txBox="1">
            <a:spLocks noChangeArrowheads="1"/>
          </p:cNvSpPr>
          <p:nvPr/>
        </p:nvSpPr>
        <p:spPr bwMode="auto">
          <a:xfrm>
            <a:off x="647700" y="4794250"/>
            <a:ext cx="2239963" cy="2460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CV2 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정보기술아키텍처 원칙 </a:t>
            </a:r>
          </a:p>
        </p:txBody>
      </p:sp>
      <p:sp>
        <p:nvSpPr>
          <p:cNvPr id="92233" name="TextBox 151"/>
          <p:cNvSpPr txBox="1">
            <a:spLocks noChangeArrowheads="1"/>
          </p:cNvSpPr>
          <p:nvPr/>
        </p:nvSpPr>
        <p:spPr bwMode="auto">
          <a:xfrm>
            <a:off x="525463" y="6143625"/>
            <a:ext cx="2208212" cy="2460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RV2 SRM(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서비스컴포넌트참조모델</a:t>
            </a:r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92234" name="TextBox 151"/>
          <p:cNvSpPr txBox="1">
            <a:spLocks noChangeArrowheads="1"/>
          </p:cNvSpPr>
          <p:nvPr/>
        </p:nvSpPr>
        <p:spPr bwMode="auto">
          <a:xfrm>
            <a:off x="2824163" y="6143625"/>
            <a:ext cx="1684337" cy="2460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RV4 TRM(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 참조 모델</a:t>
            </a:r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60" name="TextBox 151"/>
          <p:cNvSpPr txBox="1">
            <a:spLocks noChangeArrowheads="1"/>
          </p:cNvSpPr>
          <p:nvPr/>
        </p:nvSpPr>
        <p:spPr bwMode="auto">
          <a:xfrm>
            <a:off x="6478588" y="2873375"/>
            <a:ext cx="2319337" cy="246063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Context Diagram</a:t>
            </a:r>
            <a:endParaRPr lang="ko-KR" altLang="en-US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TextBox 151"/>
          <p:cNvSpPr txBox="1">
            <a:spLocks noChangeArrowheads="1"/>
          </p:cNvSpPr>
          <p:nvPr/>
        </p:nvSpPr>
        <p:spPr bwMode="auto">
          <a:xfrm>
            <a:off x="6075363" y="3986213"/>
            <a:ext cx="3259137" cy="24606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소프트웨어 아키텍처 결정요인 중 제약사항</a:t>
            </a:r>
            <a:endParaRPr lang="ko-KR" altLang="en-US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TextBox 151"/>
          <p:cNvSpPr txBox="1">
            <a:spLocks noChangeArrowheads="1"/>
          </p:cNvSpPr>
          <p:nvPr/>
        </p:nvSpPr>
        <p:spPr bwMode="auto">
          <a:xfrm>
            <a:off x="5937250" y="6143625"/>
            <a:ext cx="3259138" cy="246063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소프트웨어 아키텍처 품질 요구 사항</a:t>
            </a:r>
          </a:p>
        </p:txBody>
      </p:sp>
      <p:sp>
        <p:nvSpPr>
          <p:cNvPr id="64" name="오른쪽 화살표 63"/>
          <p:cNvSpPr/>
          <p:nvPr/>
        </p:nvSpPr>
        <p:spPr bwMode="auto">
          <a:xfrm>
            <a:off x="3168650" y="2155825"/>
            <a:ext cx="2489200" cy="415925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응용시스템 구성정보</a:t>
            </a:r>
          </a:p>
        </p:txBody>
      </p:sp>
      <p:sp>
        <p:nvSpPr>
          <p:cNvPr id="65" name="오른쪽 화살표 64"/>
          <p:cNvSpPr/>
          <p:nvPr/>
        </p:nvSpPr>
        <p:spPr bwMode="auto">
          <a:xfrm rot="19166412">
            <a:off x="1736725" y="3841750"/>
            <a:ext cx="4525963" cy="422275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서비스 컴포넌트 구성</a:t>
            </a:r>
          </a:p>
        </p:txBody>
      </p:sp>
      <p:sp>
        <p:nvSpPr>
          <p:cNvPr id="66" name="오른쪽 화살표 65"/>
          <p:cNvSpPr/>
          <p:nvPr/>
        </p:nvSpPr>
        <p:spPr bwMode="auto">
          <a:xfrm rot="1170954">
            <a:off x="3073400" y="2870200"/>
            <a:ext cx="2863850" cy="415925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업무</a:t>
            </a: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관련법규 등</a:t>
            </a: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기술환경 정보</a:t>
            </a:r>
          </a:p>
        </p:txBody>
      </p:sp>
      <p:sp>
        <p:nvSpPr>
          <p:cNvPr id="67" name="오른쪽 화살표 66"/>
          <p:cNvSpPr/>
          <p:nvPr/>
        </p:nvSpPr>
        <p:spPr bwMode="auto">
          <a:xfrm rot="18756855">
            <a:off x="3990181" y="4299744"/>
            <a:ext cx="2227263" cy="415925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기술 요소 정의</a:t>
            </a:r>
          </a:p>
        </p:txBody>
      </p:sp>
      <p:sp>
        <p:nvSpPr>
          <p:cNvPr id="68" name="오른쪽 화살표 67"/>
          <p:cNvSpPr/>
          <p:nvPr/>
        </p:nvSpPr>
        <p:spPr bwMode="auto">
          <a:xfrm rot="1039907">
            <a:off x="2960688" y="4705350"/>
            <a:ext cx="3017837" cy="417513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응용 아키텍처 원칙</a:t>
            </a:r>
          </a:p>
        </p:txBody>
      </p:sp>
      <p:sp>
        <p:nvSpPr>
          <p:cNvPr id="69" name="직사각형 68"/>
          <p:cNvSpPr/>
          <p:nvPr/>
        </p:nvSpPr>
        <p:spPr bwMode="auto">
          <a:xfrm>
            <a:off x="498475" y="1539875"/>
            <a:ext cx="2562225" cy="2100263"/>
          </a:xfrm>
          <a:prstGeom prst="rect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III. </a:t>
            </a:r>
            <a:r>
              <a:rPr lang="ko-KR" altLang="en-US" sz="1800" smtClean="0">
                <a:solidFill>
                  <a:srgbClr val="000000"/>
                </a:solidFill>
              </a:rPr>
              <a:t>소프트웨어 아키텍처로의 반영 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2. </a:t>
            </a:r>
            <a:r>
              <a:rPr lang="ko-KR" altLang="en-US" sz="1800" smtClean="0">
                <a:solidFill>
                  <a:srgbClr val="000000"/>
                </a:solidFill>
              </a:rPr>
              <a:t>수행 업무</a:t>
            </a:r>
            <a:r>
              <a:rPr lang="en-US" altLang="ko-KR" sz="1800" smtClean="0">
                <a:solidFill>
                  <a:srgbClr val="000000"/>
                </a:solidFill>
              </a:rPr>
              <a:t> &gt; 2.1 </a:t>
            </a:r>
            <a:r>
              <a:rPr lang="ko-KR" altLang="en-US" sz="1800" smtClean="0">
                <a:solidFill>
                  <a:srgbClr val="000000"/>
                </a:solidFill>
              </a:rPr>
              <a:t>응용</a:t>
            </a:r>
            <a:r>
              <a:rPr lang="en-US" altLang="ko-KR" sz="1800" smtClean="0">
                <a:solidFill>
                  <a:srgbClr val="000000"/>
                </a:solidFill>
              </a:rPr>
              <a:t>2</a:t>
            </a:r>
            <a:r>
              <a:rPr lang="ko-KR" altLang="en-US" sz="1800" smtClean="0">
                <a:solidFill>
                  <a:srgbClr val="000000"/>
                </a:solidFill>
              </a:rPr>
              <a:t>레벨</a:t>
            </a:r>
            <a:r>
              <a:rPr lang="en-US" altLang="ko-KR" sz="1800" smtClean="0">
                <a:solidFill>
                  <a:srgbClr val="000000"/>
                </a:solidFill>
              </a:rPr>
              <a:t>(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관계</a:t>
            </a:r>
            <a:r>
              <a:rPr lang="en-US" altLang="ko-KR" sz="1800" smtClean="0">
                <a:solidFill>
                  <a:srgbClr val="000000"/>
                </a:solidFill>
              </a:rPr>
              <a:t>)</a:t>
            </a:r>
            <a:r>
              <a:rPr lang="ko-KR" altLang="en-US" sz="1800" smtClean="0">
                <a:solidFill>
                  <a:srgbClr val="000000"/>
                </a:solidFill>
              </a:rPr>
              <a:t>의 반영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2694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 indent="-342900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레벨의 응용시스템 관계도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관계 기술서의 정보는 소프트웨어 아키텍처 정의서의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Context Diagram,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제약사항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품질속성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Run-time View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및 시스템 연계 구현 표준에 구체적으로 반영된다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3188" name="Text Box 11"/>
          <p:cNvSpPr txBox="1">
            <a:spLocks noChangeArrowheads="1"/>
          </p:cNvSpPr>
          <p:nvPr/>
        </p:nvSpPr>
        <p:spPr bwMode="auto">
          <a:xfrm>
            <a:off x="3663950" y="1844675"/>
            <a:ext cx="2927350" cy="322263"/>
          </a:xfrm>
          <a:prstGeom prst="rect">
            <a:avLst/>
          </a:prstGeom>
          <a:solidFill>
            <a:schemeClr val="tx1"/>
          </a:solidFill>
          <a:ln w="12700" algn="ctr">
            <a:solidFill>
              <a:srgbClr val="B2B2B2"/>
            </a:solidFill>
            <a:miter lim="800000"/>
            <a:headEnd/>
            <a:tailEnd/>
          </a:ln>
        </p:spPr>
        <p:txBody>
          <a:bodyPr tIns="10800" bIns="1080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</a:pP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응용</a:t>
            </a:r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레벨 응용시스템관계도의 반영</a:t>
            </a:r>
          </a:p>
        </p:txBody>
      </p:sp>
      <p:sp>
        <p:nvSpPr>
          <p:cNvPr id="57" name="Rectangle 4"/>
          <p:cNvSpPr>
            <a:spLocks noChangeArrowheads="1"/>
          </p:cNvSpPr>
          <p:nvPr/>
        </p:nvSpPr>
        <p:spPr bwMode="auto">
          <a:xfrm>
            <a:off x="312738" y="1528763"/>
            <a:ext cx="592137" cy="1803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75B8D9"/>
            </a:solidFill>
            <a:miter lim="800000"/>
            <a:headEnd/>
            <a:tailEnd/>
          </a:ln>
          <a:effectLst/>
        </p:spPr>
        <p:txBody>
          <a:bodyPr wrap="none" lIns="2" tIns="2" rIns="2" bIns="2" anchor="ctr"/>
          <a:lstStyle/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소프트웨어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아키텍처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정의서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3190" name="AutoShape 12"/>
          <p:cNvSpPr>
            <a:spLocks noChangeArrowheads="1"/>
          </p:cNvSpPr>
          <p:nvPr/>
        </p:nvSpPr>
        <p:spPr bwMode="auto">
          <a:xfrm>
            <a:off x="927100" y="1565275"/>
            <a:ext cx="2006600" cy="422275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Context Diagram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191" name="AutoShape 14"/>
          <p:cNvSpPr>
            <a:spLocks noChangeArrowheads="1"/>
          </p:cNvSpPr>
          <p:nvPr/>
        </p:nvSpPr>
        <p:spPr bwMode="auto">
          <a:xfrm>
            <a:off x="927100" y="2478088"/>
            <a:ext cx="2006600" cy="422275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Run-time View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93192" name="Rectangle 15"/>
          <p:cNvSpPr>
            <a:spLocks noChangeArrowheads="1"/>
          </p:cNvSpPr>
          <p:nvPr/>
        </p:nvSpPr>
        <p:spPr bwMode="auto">
          <a:xfrm>
            <a:off x="927100" y="2938463"/>
            <a:ext cx="2006600" cy="385762"/>
          </a:xfrm>
          <a:prstGeom prst="rect">
            <a:avLst/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시스템연계 구현표준</a:t>
            </a:r>
          </a:p>
        </p:txBody>
      </p:sp>
      <p:sp>
        <p:nvSpPr>
          <p:cNvPr id="68" name="Text Box 8"/>
          <p:cNvSpPr txBox="1">
            <a:spLocks noChangeArrowheads="1"/>
          </p:cNvSpPr>
          <p:nvPr/>
        </p:nvSpPr>
        <p:spPr bwMode="auto">
          <a:xfrm>
            <a:off x="3663950" y="2174875"/>
            <a:ext cx="2927350" cy="6286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rgbClr val="B2B2B2"/>
            </a:solidFill>
            <a:miter lim="800000"/>
            <a:headEnd/>
            <a:tailEnd/>
          </a:ln>
          <a:effectLst/>
        </p:spPr>
        <p:txBody>
          <a:bodyPr tIns="10800" bIns="10800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응용시스템관계도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관계기술서 분석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>
              <a:spcBef>
                <a:spcPts val="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응용시스템간 연계 표준 정의 구현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3194" name="AutoShape 11"/>
          <p:cNvSpPr>
            <a:spLocks noChangeArrowheads="1"/>
          </p:cNvSpPr>
          <p:nvPr/>
        </p:nvSpPr>
        <p:spPr bwMode="auto">
          <a:xfrm>
            <a:off x="7161213" y="2225675"/>
            <a:ext cx="1835150" cy="533400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AV2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관계도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관계기술서</a:t>
            </a:r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Rectangle 16"/>
          <p:cNvSpPr>
            <a:spLocks noChangeArrowheads="1"/>
          </p:cNvSpPr>
          <p:nvPr/>
        </p:nvSpPr>
        <p:spPr bwMode="auto">
          <a:xfrm>
            <a:off x="9037638" y="2225675"/>
            <a:ext cx="541337" cy="5445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75B8D9"/>
            </a:solidFill>
            <a:miter lim="800000"/>
            <a:headEnd/>
            <a:tailEnd/>
          </a:ln>
          <a:effectLst/>
        </p:spPr>
        <p:txBody>
          <a:bodyPr wrap="none" lIns="2" tIns="2" rIns="2" bIns="2" anchor="ctr"/>
          <a:lstStyle/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defTabSz="976313">
              <a:spcBef>
                <a:spcPct val="5000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레벨</a:t>
            </a:r>
          </a:p>
        </p:txBody>
      </p:sp>
      <p:sp>
        <p:nvSpPr>
          <p:cNvPr id="93196" name="AutoShape 12"/>
          <p:cNvSpPr>
            <a:spLocks noChangeArrowheads="1"/>
          </p:cNvSpPr>
          <p:nvPr/>
        </p:nvSpPr>
        <p:spPr bwMode="auto">
          <a:xfrm>
            <a:off x="927100" y="2024063"/>
            <a:ext cx="2006600" cy="422275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제약사항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품질속성</a:t>
            </a:r>
          </a:p>
        </p:txBody>
      </p:sp>
      <p:cxnSp>
        <p:nvCxnSpPr>
          <p:cNvPr id="88" name="직선 연결선 87"/>
          <p:cNvCxnSpPr>
            <a:stCxn id="68" idx="3"/>
            <a:endCxn id="93194" idx="1"/>
          </p:cNvCxnSpPr>
          <p:nvPr/>
        </p:nvCxnSpPr>
        <p:spPr>
          <a:xfrm>
            <a:off x="6591300" y="2489200"/>
            <a:ext cx="569913" cy="3175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>
            <a:stCxn id="93192" idx="3"/>
            <a:endCxn id="68" idx="1"/>
          </p:cNvCxnSpPr>
          <p:nvPr/>
        </p:nvCxnSpPr>
        <p:spPr>
          <a:xfrm flipV="1">
            <a:off x="2933700" y="2489200"/>
            <a:ext cx="730250" cy="642938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>
            <a:stCxn id="68" idx="1"/>
            <a:endCxn id="93190" idx="3"/>
          </p:cNvCxnSpPr>
          <p:nvPr/>
        </p:nvCxnSpPr>
        <p:spPr>
          <a:xfrm rot="10800000">
            <a:off x="2933700" y="1776413"/>
            <a:ext cx="730250" cy="712787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>
            <a:stCxn id="68" idx="1"/>
            <a:endCxn id="93196" idx="3"/>
          </p:cNvCxnSpPr>
          <p:nvPr/>
        </p:nvCxnSpPr>
        <p:spPr>
          <a:xfrm rot="10800000">
            <a:off x="2933700" y="2235200"/>
            <a:ext cx="730250" cy="254000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>
            <a:stCxn id="68" idx="1"/>
            <a:endCxn id="93191" idx="3"/>
          </p:cNvCxnSpPr>
          <p:nvPr/>
        </p:nvCxnSpPr>
        <p:spPr>
          <a:xfrm rot="10800000" flipV="1">
            <a:off x="2933700" y="2489200"/>
            <a:ext cx="730250" cy="200025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9" name="Group 205"/>
          <p:cNvGraphicFramePr>
            <a:graphicFrameLocks noGrp="1"/>
          </p:cNvGraphicFramePr>
          <p:nvPr/>
        </p:nvGraphicFramePr>
        <p:xfrm>
          <a:off x="320675" y="3457575"/>
          <a:ext cx="9323388" cy="2833688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2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적용 영역</a:t>
                      </a:r>
                    </a:p>
                  </a:txBody>
                  <a:tcPr marL="90000" marR="90000" marT="18003" marB="18003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상세 업무 수행</a:t>
                      </a:r>
                      <a:r>
                        <a:rPr kumimoji="1" lang="en-US" altLang="ko-KR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내용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4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Context Diagram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Context Diagram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의 특성상 구축해야 할 응용시스템이 대내외 시스템과 연관이 있을 경우 이를 거시적 관점에서 표현한다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 때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AV2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응용시스템 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관계도와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관계기술서 정보를 참고하여 이를 추상화시켜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Context Diagram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에 반영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6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제약사항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품질속성</a:t>
                      </a:r>
                    </a:p>
                  </a:txBody>
                  <a:tcPr marL="90000" marR="90000" marT="18003" marB="18003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구축해야 할 응용시스템의 대내외 연계는 품질속성 및 제약사항 기술에도 영향을 미친다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대내외 연계의 품질 기준과 연계기능의 업무적 기술적 제약사항이 일반적으로 존재한다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응용시스템 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관계기술서에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기록된 업무기준과 선정기술 등은 아키텍처 결정의 제약조건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 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0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Run-time View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실행시점의 아키텍처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뷰에서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대내외 연동을 위한 기능요건을 만족하기 위해 아키텍처 요소를 반영해야 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 때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의 응용시스템 관계기술서의 기술요건을 참조한 아키텍처 전략수립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참조모델 선정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통해 런타임 뷰의 아키텍처에 반영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연계 구현 표준 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또는 세부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Run-time View)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구체적인 대내외 시스템 연동 구조의 설계를 통해 응용시스템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관계기술서에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정의된 업무요건을 만족할 수 있도록 시스템 연계 구현 표준에 반영한다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3" marB="180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/>
          <p:cNvSpPr/>
          <p:nvPr/>
        </p:nvSpPr>
        <p:spPr bwMode="auto">
          <a:xfrm>
            <a:off x="320675" y="2146300"/>
            <a:ext cx="3744913" cy="2262188"/>
          </a:xfrm>
          <a:prstGeom prst="rect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94211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III. </a:t>
            </a:r>
            <a:r>
              <a:rPr lang="ko-KR" altLang="en-US" sz="1800" smtClean="0">
                <a:solidFill>
                  <a:srgbClr val="000000"/>
                </a:solidFill>
              </a:rPr>
              <a:t>소프트웨어 아키텍처로의 반영 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2. </a:t>
            </a:r>
            <a:r>
              <a:rPr lang="ko-KR" altLang="en-US" sz="1800" smtClean="0">
                <a:solidFill>
                  <a:srgbClr val="000000"/>
                </a:solidFill>
              </a:rPr>
              <a:t>수행 업무</a:t>
            </a:r>
            <a:r>
              <a:rPr lang="en-US" altLang="ko-KR" sz="1800" smtClean="0">
                <a:solidFill>
                  <a:srgbClr val="000000"/>
                </a:solidFill>
              </a:rPr>
              <a:t> &gt; 2.1 </a:t>
            </a:r>
            <a:r>
              <a:rPr lang="ko-KR" altLang="en-US" sz="1800" smtClean="0">
                <a:solidFill>
                  <a:srgbClr val="000000"/>
                </a:solidFill>
              </a:rPr>
              <a:t>응용</a:t>
            </a:r>
            <a:r>
              <a:rPr lang="en-US" altLang="ko-KR" sz="1800" smtClean="0">
                <a:solidFill>
                  <a:srgbClr val="000000"/>
                </a:solidFill>
              </a:rPr>
              <a:t>2</a:t>
            </a:r>
            <a:r>
              <a:rPr lang="ko-KR" altLang="en-US" sz="1800" smtClean="0">
                <a:solidFill>
                  <a:srgbClr val="000000"/>
                </a:solidFill>
              </a:rPr>
              <a:t>레벨</a:t>
            </a:r>
            <a:r>
              <a:rPr lang="en-US" altLang="ko-KR" sz="1800" smtClean="0">
                <a:solidFill>
                  <a:srgbClr val="000000"/>
                </a:solidFill>
              </a:rPr>
              <a:t>(</a:t>
            </a:r>
            <a:r>
              <a:rPr lang="ko-KR" altLang="en-US" sz="1800" smtClean="0">
                <a:solidFill>
                  <a:srgbClr val="000000"/>
                </a:solidFill>
              </a:rPr>
              <a:t>응용시스템 관계</a:t>
            </a:r>
            <a:r>
              <a:rPr lang="en-US" altLang="ko-KR" sz="1800" smtClean="0">
                <a:solidFill>
                  <a:srgbClr val="000000"/>
                </a:solidFill>
              </a:rPr>
              <a:t>)</a:t>
            </a:r>
            <a:r>
              <a:rPr lang="ko-KR" altLang="en-US" sz="1800" smtClean="0">
                <a:solidFill>
                  <a:srgbClr val="000000"/>
                </a:solidFill>
              </a:rPr>
              <a:t>의 반영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예시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r>
              <a:rPr lang="ko-KR" altLang="en-US" sz="1800" smtClean="0">
                <a:solidFill>
                  <a:srgbClr val="000000"/>
                </a:solidFill>
              </a:rPr>
              <a:t>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269413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 indent="-342900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아래는 각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산출물 중 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레벨의 산출물이 소프트웨어 아키텍처 정의에 영향을 주는 요소들이다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일반적으로 구축대상의 응용시스템에 대한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정보는 개략적인 내용이므로 시스템의 구축이 진행되는 동안 수립되는 소프트웨어 아키텍처 정의서의 내용이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AV2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이하 각 응용레벨로 반영되어 일관성을 유지해야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942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3027363"/>
            <a:ext cx="3681412" cy="6762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2300288"/>
            <a:ext cx="3644900" cy="6762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5" name="TextBox 151"/>
          <p:cNvSpPr txBox="1">
            <a:spLocks noChangeArrowheads="1"/>
          </p:cNvSpPr>
          <p:nvPr/>
        </p:nvSpPr>
        <p:spPr bwMode="auto">
          <a:xfrm>
            <a:off x="357188" y="3862388"/>
            <a:ext cx="3543300" cy="24606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AV2 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응용시스템 관계도</a:t>
            </a:r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관계기술서</a:t>
            </a:r>
          </a:p>
        </p:txBody>
      </p:sp>
      <p:pic>
        <p:nvPicPr>
          <p:cNvPr id="94216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75" y="1376363"/>
            <a:ext cx="2112963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6165850" y="3105150"/>
          <a:ext cx="3243263" cy="1787560"/>
        </p:xfrm>
        <a:graphic>
          <a:graphicData uri="http://schemas.openxmlformats.org/drawingml/2006/table">
            <a:tbl>
              <a:tblPr/>
              <a:tblGrid>
                <a:gridCol w="33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6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9467"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품질</a:t>
                      </a:r>
                      <a:r>
                        <a:rPr kumimoji="0" lang="en-GB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 </a:t>
                      </a:r>
                      <a:r>
                        <a:rPr kumimoji="0" lang="en-GB" alt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ID</a:t>
                      </a:r>
                      <a:endParaRPr kumimoji="0" lang="ko-KR" altLang="ko-KR" sz="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품질속성</a:t>
                      </a:r>
                      <a:r>
                        <a:rPr kumimoji="0" lang="en-GB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/>
                      </a:r>
                      <a:br>
                        <a:rPr kumimoji="0" lang="en-GB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</a:br>
                      <a:r>
                        <a:rPr kumimoji="0" lang="en-GB" alt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(ISO9120 </a:t>
                      </a: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분류</a:t>
                      </a:r>
                      <a:r>
                        <a:rPr kumimoji="0" lang="en-GB" alt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)</a:t>
                      </a:r>
                      <a:endParaRPr kumimoji="0" lang="ko-KR" altLang="ko-KR" sz="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요구사항명</a:t>
                      </a: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시나리오</a:t>
                      </a:r>
                      <a:r>
                        <a:rPr kumimoji="0" lang="en-GB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 </a:t>
                      </a:r>
                      <a:r>
                        <a:rPr kumimoji="0" lang="en-GB" alt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(</a:t>
                      </a: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난이도</a:t>
                      </a:r>
                      <a:r>
                        <a:rPr kumimoji="0" lang="en-GB" alt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/</a:t>
                      </a: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중요도</a:t>
                      </a:r>
                      <a:r>
                        <a:rPr kumimoji="0" lang="en-GB" alt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)</a:t>
                      </a:r>
                      <a:endParaRPr kumimoji="0" lang="ko-KR" altLang="ko-KR" sz="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바탕" pitchFamily="18" charset="-127"/>
                        </a:rPr>
                        <a:t>측정기준</a:t>
                      </a: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665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QAR01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성능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Performance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(N/A)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처리속도</a:t>
                      </a: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(Latency) 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사용자가 어플리케이션을 호출 시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, 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조회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저장의 처리속도가 평균 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15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초 이내로 처리하여 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…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15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초 이내 응답</a:t>
                      </a: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266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QAR02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Courier New" pitchFamily="49" charset="0"/>
                        </a:rPr>
                        <a:t>처리 용량</a:t>
                      </a:r>
                      <a:endParaRPr kumimoji="0" 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Courier New" pitchFamily="49" charset="0"/>
                        </a:rPr>
                        <a:t>(throughput)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분당 수명만이 사용하는 시스템이지만 대량의 사용자가 어플리케이션을 호출 시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, …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100TPS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665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QAR08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회복성</a:t>
                      </a: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신뢰성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Reliability)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장애 발생에 대비한 백업 및 복구</a:t>
                      </a: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어플리케이션 장애 발생 시</a:t>
                      </a:r>
                      <a:r>
                        <a:rPr kumimoji="0" lang="en-US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 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5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분 이내 사용자의 요청에 대한 서비스가 재개 되어야 한다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.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확인판단</a:t>
                      </a: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266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QAR09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안정성</a:t>
                      </a: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신뢰성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Reliability)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데이터 무결성</a:t>
                      </a:r>
                      <a:r>
                        <a:rPr kumimoji="0" lang="en-GB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 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시스템</a:t>
                      </a:r>
                      <a:r>
                        <a:rPr kumimoji="0" lang="en-GB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  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영속성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소프트웨어 고장 이전과 복구 이후의 데이터는 동일한 상태여야 하며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, 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…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확인판단</a:t>
                      </a: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266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QAR10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운용성</a:t>
                      </a: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사용성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Usability)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서비스 운영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접근 통제</a:t>
                      </a: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담당관 통제관 등 영역별 사용자는 허가된 서비스에 접근하여 이용할 수 있으며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…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확인판단</a:t>
                      </a: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467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QAR11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가용성 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(availability)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네트워크 중단 시 처리 방안 </a:t>
                      </a: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FRID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리더기에 의한 자료 전송이 네트워크가 중단되었을 때 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…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확인판단</a:t>
                      </a: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464"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QAR12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변경성</a:t>
                      </a:r>
                    </a:p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(</a:t>
                      </a: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유지보수성</a:t>
                      </a:r>
                      <a:r>
                        <a:rPr kumimoji="0" lang="en-GB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Maintainability)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소프트웨어 의존성 최소화</a:t>
                      </a: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레이어별로 구성된 각 소프트웨어 컴포넌트는 상호간의 의존성을 최소화하여 </a:t>
                      </a:r>
                      <a:r>
                        <a:rPr kumimoji="0" lang="en-US" alt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…</a:t>
                      </a:r>
                      <a:endParaRPr kumimoji="0" lang="ko-KR" altLang="ko-KR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맑은 고딕" pitchFamily="50" charset="-127"/>
                        <a:cs typeface="굴림" pitchFamily="50" charset="-127"/>
                      </a:endParaRP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1275" marR="0" lvl="0" indent="0" algn="l" defTabSz="914400" rtl="0" eaLnBrk="1" fontAlgn="base" latinLnBrk="1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sz="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맑은 고딕" pitchFamily="50" charset="-127"/>
                          <a:cs typeface="굴림" pitchFamily="50" charset="-127"/>
                        </a:rPr>
                        <a:t>확인판단</a:t>
                      </a:r>
                    </a:p>
                  </a:txBody>
                  <a:tcPr marL="8535" marR="8535" marT="8535" marB="85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4273" name="모서리가 둥근 직사각형 6"/>
          <p:cNvSpPr>
            <a:spLocks noChangeArrowheads="1"/>
          </p:cNvSpPr>
          <p:nvPr/>
        </p:nvSpPr>
        <p:spPr bwMode="auto">
          <a:xfrm>
            <a:off x="7523163" y="1762125"/>
            <a:ext cx="960437" cy="47466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1500"/>
          </a:p>
        </p:txBody>
      </p:sp>
      <p:sp>
        <p:nvSpPr>
          <p:cNvPr id="94274" name="모서리가 둥근 직사각형 6"/>
          <p:cNvSpPr>
            <a:spLocks noChangeArrowheads="1"/>
          </p:cNvSpPr>
          <p:nvPr/>
        </p:nvSpPr>
        <p:spPr bwMode="auto">
          <a:xfrm>
            <a:off x="7051675" y="1782763"/>
            <a:ext cx="317500" cy="3524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1500"/>
          </a:p>
        </p:txBody>
      </p:sp>
      <p:sp>
        <p:nvSpPr>
          <p:cNvPr id="94275" name="모서리가 둥근 직사각형 6"/>
          <p:cNvSpPr>
            <a:spLocks noChangeArrowheads="1"/>
          </p:cNvSpPr>
          <p:nvPr/>
        </p:nvSpPr>
        <p:spPr bwMode="auto">
          <a:xfrm>
            <a:off x="6110288" y="4572000"/>
            <a:ext cx="3322637" cy="2349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1500"/>
          </a:p>
        </p:txBody>
      </p:sp>
      <p:sp>
        <p:nvSpPr>
          <p:cNvPr id="46" name="TextBox 151"/>
          <p:cNvSpPr txBox="1">
            <a:spLocks noChangeArrowheads="1"/>
          </p:cNvSpPr>
          <p:nvPr/>
        </p:nvSpPr>
        <p:spPr bwMode="auto">
          <a:xfrm>
            <a:off x="6205538" y="2792413"/>
            <a:ext cx="2320925" cy="24606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Context Diagram</a:t>
            </a:r>
            <a:endParaRPr lang="ko-KR" altLang="en-US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Box 151"/>
          <p:cNvSpPr txBox="1">
            <a:spLocks noChangeArrowheads="1"/>
          </p:cNvSpPr>
          <p:nvPr/>
        </p:nvSpPr>
        <p:spPr bwMode="auto">
          <a:xfrm>
            <a:off x="6154738" y="4832350"/>
            <a:ext cx="3259137" cy="246063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소프트웨어 아키텍처 품질 요구 사항</a:t>
            </a:r>
          </a:p>
        </p:txBody>
      </p:sp>
      <p:pic>
        <p:nvPicPr>
          <p:cNvPr id="94278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5141913"/>
            <a:ext cx="1865312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151"/>
          <p:cNvSpPr txBox="1">
            <a:spLocks noChangeArrowheads="1"/>
          </p:cNvSpPr>
          <p:nvPr/>
        </p:nvSpPr>
        <p:spPr bwMode="auto">
          <a:xfrm>
            <a:off x="7523163" y="6143625"/>
            <a:ext cx="2120900" cy="246063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타시스템</a:t>
            </a:r>
            <a:r>
              <a:rPr lang="ko-KR" altLang="en-US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연동 </a:t>
            </a:r>
            <a:r>
              <a:rPr lang="en-US" altLang="ko-KR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Run-time View</a:t>
            </a:r>
            <a:r>
              <a:rPr lang="ko-KR" altLang="en-US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sp>
        <p:nvSpPr>
          <p:cNvPr id="56" name="왼쪽/오른쪽 화살표 55"/>
          <p:cNvSpPr/>
          <p:nvPr/>
        </p:nvSpPr>
        <p:spPr bwMode="auto">
          <a:xfrm rot="20156442">
            <a:off x="4022725" y="2246313"/>
            <a:ext cx="2209800" cy="458787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응용시스템간 관계 정보</a:t>
            </a:r>
          </a:p>
        </p:txBody>
      </p:sp>
      <p:sp>
        <p:nvSpPr>
          <p:cNvPr id="58" name="왼쪽/오른쪽 화살표 57"/>
          <p:cNvSpPr/>
          <p:nvPr/>
        </p:nvSpPr>
        <p:spPr bwMode="auto">
          <a:xfrm>
            <a:off x="4064000" y="3340100"/>
            <a:ext cx="2119313" cy="484188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상세정보</a:t>
            </a: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연계주기</a:t>
            </a: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연계방식</a:t>
            </a: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9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왼쪽/오른쪽 화살표 58"/>
          <p:cNvSpPr/>
          <p:nvPr/>
        </p:nvSpPr>
        <p:spPr bwMode="auto">
          <a:xfrm rot="2135224">
            <a:off x="3910013" y="4608513"/>
            <a:ext cx="2236787" cy="458787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상세정보</a:t>
            </a: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연계주기</a:t>
            </a: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연계방식</a:t>
            </a: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900" b="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III. </a:t>
            </a:r>
            <a:r>
              <a:rPr lang="ko-KR" altLang="en-US" sz="1800" smtClean="0">
                <a:solidFill>
                  <a:srgbClr val="000000"/>
                </a:solidFill>
              </a:rPr>
              <a:t>소프트웨어 아키텍처로의 반영 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2. </a:t>
            </a:r>
            <a:r>
              <a:rPr lang="ko-KR" altLang="en-US" sz="1800" smtClean="0">
                <a:solidFill>
                  <a:srgbClr val="000000"/>
                </a:solidFill>
              </a:rPr>
              <a:t>수행 업무 </a:t>
            </a:r>
            <a:r>
              <a:rPr lang="en-US" altLang="ko-KR" sz="1800" smtClean="0">
                <a:solidFill>
                  <a:srgbClr val="000000"/>
                </a:solidFill>
              </a:rPr>
              <a:t>&gt; 2.3 </a:t>
            </a:r>
            <a:r>
              <a:rPr lang="ko-KR" altLang="en-US" sz="1800" smtClean="0">
                <a:solidFill>
                  <a:srgbClr val="000000"/>
                </a:solidFill>
              </a:rPr>
              <a:t>응용</a:t>
            </a:r>
            <a:r>
              <a:rPr lang="en-US" altLang="ko-KR" sz="1800" smtClean="0">
                <a:solidFill>
                  <a:srgbClr val="000000"/>
                </a:solidFill>
              </a:rPr>
              <a:t>2</a:t>
            </a:r>
            <a:r>
              <a:rPr lang="ko-KR" altLang="en-US" sz="1800" smtClean="0">
                <a:solidFill>
                  <a:srgbClr val="000000"/>
                </a:solidFill>
              </a:rPr>
              <a:t>레벨의 기능분할과 응용</a:t>
            </a:r>
            <a:r>
              <a:rPr lang="en-US" altLang="ko-KR" sz="1800" smtClean="0">
                <a:solidFill>
                  <a:srgbClr val="000000"/>
                </a:solidFill>
              </a:rPr>
              <a:t>3</a:t>
            </a:r>
            <a:r>
              <a:rPr lang="ko-KR" altLang="en-US" sz="1800" smtClean="0">
                <a:solidFill>
                  <a:srgbClr val="000000"/>
                </a:solidFill>
              </a:rPr>
              <a:t>레벨의 반영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269413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 indent="-342900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 중 응용기능분할의 확정은 분석설계 단계에서 분석모델링과 컴포넌트 정의 시에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 때 소프트웨어 아키텍처 정의서의 컴포넌트 다이어그램 작성과 함께 컴포넌트 정보와 응용기능을 매핑함으로서 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레벨의 응용프로그램 목록과 자연스럽게 연결된다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236" name="Text Box 18"/>
          <p:cNvSpPr txBox="1">
            <a:spLocks noChangeArrowheads="1"/>
          </p:cNvSpPr>
          <p:nvPr/>
        </p:nvSpPr>
        <p:spPr bwMode="auto">
          <a:xfrm>
            <a:off x="3663950" y="1882775"/>
            <a:ext cx="2927350" cy="280988"/>
          </a:xfrm>
          <a:prstGeom prst="rect">
            <a:avLst/>
          </a:prstGeom>
          <a:solidFill>
            <a:schemeClr val="tx1"/>
          </a:solidFill>
          <a:ln w="12700" algn="ctr">
            <a:solidFill>
              <a:srgbClr val="B2B2B2"/>
            </a:solidFill>
            <a:miter lim="800000"/>
            <a:headEnd/>
            <a:tailEnd/>
          </a:ln>
        </p:spPr>
        <p:txBody>
          <a:bodyPr tIns="10800" bIns="1080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</a:pP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응용</a:t>
            </a:r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레벨 기능분할과 응용</a:t>
            </a:r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레벨의 반영</a:t>
            </a:r>
          </a:p>
        </p:txBody>
      </p:sp>
      <p:sp>
        <p:nvSpPr>
          <p:cNvPr id="58" name="Rectangle 4"/>
          <p:cNvSpPr>
            <a:spLocks noChangeArrowheads="1"/>
          </p:cNvSpPr>
          <p:nvPr/>
        </p:nvSpPr>
        <p:spPr bwMode="auto">
          <a:xfrm>
            <a:off x="312738" y="2217738"/>
            <a:ext cx="592137" cy="6350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75B8D9"/>
            </a:solidFill>
            <a:miter lim="800000"/>
            <a:headEnd/>
            <a:tailEnd/>
          </a:ln>
          <a:effectLst/>
        </p:spPr>
        <p:txBody>
          <a:bodyPr wrap="none" lIns="2" tIns="2" rIns="2" bIns="2" anchor="ctr"/>
          <a:lstStyle/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소프트웨어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아키텍처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정의서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238" name="AutoShape 13"/>
          <p:cNvSpPr>
            <a:spLocks noChangeArrowheads="1"/>
          </p:cNvSpPr>
          <p:nvPr/>
        </p:nvSpPr>
        <p:spPr bwMode="auto">
          <a:xfrm>
            <a:off x="927100" y="2217738"/>
            <a:ext cx="2006600" cy="633412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Module View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(Application Component Diagram)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239" name="AutoShape 13"/>
          <p:cNvSpPr>
            <a:spLocks noChangeArrowheads="1"/>
          </p:cNvSpPr>
          <p:nvPr/>
        </p:nvSpPr>
        <p:spPr bwMode="auto">
          <a:xfrm>
            <a:off x="7161213" y="1928813"/>
            <a:ext cx="1835150" cy="554037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AV3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응용기능 분할도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분할기술서</a:t>
            </a:r>
          </a:p>
        </p:txBody>
      </p:sp>
      <p:sp>
        <p:nvSpPr>
          <p:cNvPr id="74" name="Rectangle 16"/>
          <p:cNvSpPr>
            <a:spLocks noChangeArrowheads="1"/>
          </p:cNvSpPr>
          <p:nvPr/>
        </p:nvSpPr>
        <p:spPr bwMode="auto">
          <a:xfrm>
            <a:off x="9037638" y="1928813"/>
            <a:ext cx="541337" cy="55403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75B8D9"/>
            </a:solidFill>
            <a:miter lim="800000"/>
            <a:headEnd/>
            <a:tailEnd/>
          </a:ln>
          <a:effectLst/>
        </p:spPr>
        <p:txBody>
          <a:bodyPr wrap="none" lIns="2" tIns="2" rIns="2" bIns="2" anchor="ctr"/>
          <a:lstStyle/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defTabSz="976313">
              <a:spcBef>
                <a:spcPct val="5000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레벨</a:t>
            </a:r>
          </a:p>
        </p:txBody>
      </p:sp>
      <p:sp>
        <p:nvSpPr>
          <p:cNvPr id="95241" name="AutoShape 17"/>
          <p:cNvSpPr>
            <a:spLocks noChangeArrowheads="1"/>
          </p:cNvSpPr>
          <p:nvPr/>
        </p:nvSpPr>
        <p:spPr bwMode="auto">
          <a:xfrm>
            <a:off x="7161213" y="2547938"/>
            <a:ext cx="1835150" cy="520700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AV4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응용기능설계도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설계서</a:t>
            </a:r>
          </a:p>
        </p:txBody>
      </p:sp>
      <p:sp>
        <p:nvSpPr>
          <p:cNvPr id="76" name="Rectangle 19"/>
          <p:cNvSpPr>
            <a:spLocks noChangeArrowheads="1"/>
          </p:cNvSpPr>
          <p:nvPr/>
        </p:nvSpPr>
        <p:spPr bwMode="auto">
          <a:xfrm>
            <a:off x="9037638" y="2544763"/>
            <a:ext cx="541337" cy="5238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75B8D9"/>
            </a:solidFill>
            <a:miter lim="800000"/>
            <a:headEnd/>
            <a:tailEnd/>
          </a:ln>
          <a:effectLst/>
        </p:spPr>
        <p:txBody>
          <a:bodyPr wrap="none" lIns="2" tIns="2" rIns="2" bIns="2" anchor="ctr"/>
          <a:lstStyle/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defTabSz="976313">
              <a:spcBef>
                <a:spcPct val="5000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레벨</a:t>
            </a:r>
          </a:p>
        </p:txBody>
      </p:sp>
      <p:sp>
        <p:nvSpPr>
          <p:cNvPr id="79" name="Text Box 8"/>
          <p:cNvSpPr txBox="1">
            <a:spLocks noChangeArrowheads="1"/>
          </p:cNvSpPr>
          <p:nvPr/>
        </p:nvSpPr>
        <p:spPr bwMode="auto">
          <a:xfrm>
            <a:off x="3663950" y="2165350"/>
            <a:ext cx="2927350" cy="741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rgbClr val="B2B2B2"/>
            </a:solidFill>
            <a:miter lim="800000"/>
            <a:headEnd/>
            <a:tailEnd/>
          </a:ln>
          <a:effectLst/>
        </p:spPr>
        <p:txBody>
          <a:bodyPr tIns="10800" bIns="10800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응용기능분할도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분할기술서 분석 적용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>
              <a:spcBef>
                <a:spcPts val="0"/>
              </a:spcBef>
              <a:defRPr/>
            </a:pPr>
            <a:r>
              <a:rPr lang="ko-KR" altLang="en-US" dirty="0" err="1">
                <a:latin typeface="맑은 고딕" pitchFamily="50" charset="-127"/>
                <a:ea typeface="맑은 고딕" pitchFamily="50" charset="-127"/>
              </a:rPr>
              <a:t>응용기능분할도와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 도출컴포넌트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모듈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정보의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>
              <a:spcBef>
                <a:spcPts val="0"/>
              </a:spcBef>
              <a:defRPr/>
            </a:pPr>
            <a:r>
              <a:rPr lang="ko-KR" altLang="en-US" dirty="0" err="1">
                <a:latin typeface="맑은 고딕" pitchFamily="50" charset="-127"/>
                <a:ea typeface="맑은 고딕" pitchFamily="50" charset="-127"/>
              </a:rPr>
              <a:t>매핑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 및 분석설계 표준 가이드 작성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>
              <a:spcBef>
                <a:spcPts val="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응용기능설계서 작성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0" name="직선 연결선 89"/>
          <p:cNvCxnSpPr>
            <a:stCxn id="79" idx="3"/>
            <a:endCxn id="95239" idx="1"/>
          </p:cNvCxnSpPr>
          <p:nvPr/>
        </p:nvCxnSpPr>
        <p:spPr>
          <a:xfrm flipV="1">
            <a:off x="6591300" y="2206625"/>
            <a:ext cx="569913" cy="328613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>
            <a:stCxn id="79" idx="3"/>
            <a:endCxn id="95241" idx="1"/>
          </p:cNvCxnSpPr>
          <p:nvPr/>
        </p:nvCxnSpPr>
        <p:spPr>
          <a:xfrm>
            <a:off x="6591300" y="2535238"/>
            <a:ext cx="569913" cy="273050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>
            <a:stCxn id="95238" idx="3"/>
            <a:endCxn id="79" idx="1"/>
          </p:cNvCxnSpPr>
          <p:nvPr/>
        </p:nvCxnSpPr>
        <p:spPr>
          <a:xfrm>
            <a:off x="2933700" y="2535238"/>
            <a:ext cx="730250" cy="0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Group 205"/>
          <p:cNvGraphicFramePr>
            <a:graphicFrameLocks noGrp="1"/>
          </p:cNvGraphicFramePr>
          <p:nvPr/>
        </p:nvGraphicFramePr>
        <p:xfrm>
          <a:off x="320675" y="3692525"/>
          <a:ext cx="9323388" cy="228282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2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72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적용 영역</a:t>
                      </a:r>
                    </a:p>
                  </a:txBody>
                  <a:tcPr marL="90000" marR="90000" marT="18000" marB="1800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상세 업무 수행</a:t>
                      </a:r>
                      <a:r>
                        <a:rPr kumimoji="1" lang="en-US" altLang="ko-KR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내용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0000" marR="90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18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모듈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뷰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(Application Component Diagram)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0" marB="1800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모듈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뷰로서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컴포넌트 다이어그램은 응용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레벨의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AV3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응용기능분할도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분할기술서와 밀접한 관련이 있다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보통 구축해야 할 응용시스템인 경우는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To-be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이미지로서 응용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레벨에 개략적인 기능정의만 되어 있거나 기능정의가 없을 것이다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 경우는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분석 설계 단계에서 컴포넌트를 도출할 때 모듈뷰를 완성함과 동시에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AV3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응용기능 분할을 완성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응용기능분할과 컴포넌트가 반드시 일대일로 연결되는 것이 아니므로 이에 대한 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매핑정보를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관리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하여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모듈뷰와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AV3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응용기능분할도 간의 일관성을 유지한다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90000" marR="90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37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AV4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응용기능 설계도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설계서</a:t>
                      </a:r>
                    </a:p>
                  </a:txBody>
                  <a:tcPr marL="90000" marR="90000" marT="18000" marB="1800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 단계에서 응용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레벨의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AV4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응용기능설계도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설계서를 위한 산출물이 생성되는데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소프트웨어 아키텍처 정의서의 내용만으로는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EA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에 반영할 수가 없다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 때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분석설계 산출물로서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Activity Diagram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정의하고 이를 응용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레벨의 산출물로 활용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한다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450" y="1916113"/>
            <a:ext cx="1795463" cy="13938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59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III. </a:t>
            </a:r>
            <a:r>
              <a:rPr lang="ko-KR" altLang="en-US" sz="1800" smtClean="0">
                <a:solidFill>
                  <a:srgbClr val="000000"/>
                </a:solidFill>
              </a:rPr>
              <a:t>소프트웨어 아키텍처로의 반영 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2. </a:t>
            </a:r>
            <a:r>
              <a:rPr lang="ko-KR" altLang="en-US" sz="1800" smtClean="0">
                <a:solidFill>
                  <a:srgbClr val="000000"/>
                </a:solidFill>
              </a:rPr>
              <a:t>수행 업무 </a:t>
            </a:r>
            <a:r>
              <a:rPr lang="en-US" altLang="ko-KR" sz="1800" smtClean="0">
                <a:solidFill>
                  <a:srgbClr val="000000"/>
                </a:solidFill>
              </a:rPr>
              <a:t>&gt; 2.3 </a:t>
            </a:r>
            <a:r>
              <a:rPr lang="ko-KR" altLang="en-US" sz="1800" smtClean="0">
                <a:solidFill>
                  <a:srgbClr val="000000"/>
                </a:solidFill>
              </a:rPr>
              <a:t>응용</a:t>
            </a:r>
            <a:r>
              <a:rPr lang="en-US" altLang="ko-KR" sz="1800" smtClean="0">
                <a:solidFill>
                  <a:srgbClr val="000000"/>
                </a:solidFill>
              </a:rPr>
              <a:t>2</a:t>
            </a:r>
            <a:r>
              <a:rPr lang="ko-KR" altLang="en-US" sz="1800" smtClean="0">
                <a:solidFill>
                  <a:srgbClr val="000000"/>
                </a:solidFill>
              </a:rPr>
              <a:t>레벨의 기능분할과 응용</a:t>
            </a:r>
            <a:r>
              <a:rPr lang="en-US" altLang="ko-KR" sz="1800" smtClean="0">
                <a:solidFill>
                  <a:srgbClr val="000000"/>
                </a:solidFill>
              </a:rPr>
              <a:t>3</a:t>
            </a:r>
            <a:r>
              <a:rPr lang="ko-KR" altLang="en-US" sz="1800" smtClean="0">
                <a:solidFill>
                  <a:srgbClr val="000000"/>
                </a:solidFill>
              </a:rPr>
              <a:t>레벨의 반영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예시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269413" cy="6826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 indent="-342900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아래는 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 중 기능분할과 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 수준의 산출물들간의 관계이다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이런 산출물들간의 상관관계를 파악하여 업무를 수행함으로써 향 후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로의 반영 또한 수월하게 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320675" y="1638300"/>
            <a:ext cx="3517900" cy="2308225"/>
          </a:xfrm>
          <a:prstGeom prst="rect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96262" name="TextBox 151"/>
          <p:cNvSpPr txBox="1">
            <a:spLocks noChangeArrowheads="1"/>
          </p:cNvSpPr>
          <p:nvPr/>
        </p:nvSpPr>
        <p:spPr bwMode="auto">
          <a:xfrm>
            <a:off x="484188" y="3662363"/>
            <a:ext cx="3227387" cy="24606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AV3 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응용기능 분할도</a:t>
            </a:r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분할기술서</a:t>
            </a:r>
          </a:p>
        </p:txBody>
      </p:sp>
      <p:sp>
        <p:nvSpPr>
          <p:cNvPr id="25" name="TextBox 151"/>
          <p:cNvSpPr txBox="1">
            <a:spLocks noChangeArrowheads="1"/>
          </p:cNvSpPr>
          <p:nvPr/>
        </p:nvSpPr>
        <p:spPr bwMode="auto">
          <a:xfrm>
            <a:off x="8161338" y="3616325"/>
            <a:ext cx="1482725" cy="246063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Component Diagram</a:t>
            </a:r>
            <a:endParaRPr lang="ko-KR" altLang="en-US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151"/>
          <p:cNvSpPr txBox="1">
            <a:spLocks noChangeArrowheads="1"/>
          </p:cNvSpPr>
          <p:nvPr/>
        </p:nvSpPr>
        <p:spPr bwMode="auto">
          <a:xfrm>
            <a:off x="5886450" y="3582988"/>
            <a:ext cx="1662113" cy="24606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기능</a:t>
            </a:r>
            <a:r>
              <a:rPr lang="en-US" altLang="ko-KR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컴포넌트 </a:t>
            </a:r>
            <a:r>
              <a:rPr lang="ko-KR" altLang="en-US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매핑</a:t>
            </a:r>
            <a:r>
              <a:rPr lang="ko-KR" altLang="en-US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정보</a:t>
            </a:r>
          </a:p>
        </p:txBody>
      </p:sp>
      <p:sp>
        <p:nvSpPr>
          <p:cNvPr id="29" name="왼쪽/오른쪽 화살표 28"/>
          <p:cNvSpPr/>
          <p:nvPr/>
        </p:nvSpPr>
        <p:spPr bwMode="auto">
          <a:xfrm rot="20156442">
            <a:off x="3832225" y="2414588"/>
            <a:ext cx="2006600" cy="457200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응용기능 및 도출 컴포넌트 </a:t>
            </a:r>
            <a:r>
              <a:rPr lang="ko-KR" altLang="en-US" sz="900" b="0" dirty="0" err="1">
                <a:latin typeface="맑은 고딕" pitchFamily="50" charset="-127"/>
                <a:ea typeface="맑은 고딕" pitchFamily="50" charset="-127"/>
              </a:rPr>
              <a:t>매핑</a:t>
            </a:r>
            <a:endParaRPr lang="ko-KR" altLang="en-US" sz="9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왼쪽/오른쪽 화살표 30"/>
          <p:cNvSpPr/>
          <p:nvPr/>
        </p:nvSpPr>
        <p:spPr bwMode="auto">
          <a:xfrm>
            <a:off x="7448550" y="3292475"/>
            <a:ext cx="642938" cy="458788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900" b="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6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2928938"/>
            <a:ext cx="3390900" cy="76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26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714500"/>
            <a:ext cx="1562100" cy="116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직사각형 34"/>
          <p:cNvSpPr/>
          <p:nvPr/>
        </p:nvSpPr>
        <p:spPr bwMode="auto">
          <a:xfrm>
            <a:off x="320675" y="4017963"/>
            <a:ext cx="3517900" cy="2120900"/>
          </a:xfrm>
          <a:prstGeom prst="rect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96270" name="TextBox 151"/>
          <p:cNvSpPr txBox="1">
            <a:spLocks noChangeArrowheads="1"/>
          </p:cNvSpPr>
          <p:nvPr/>
        </p:nvSpPr>
        <p:spPr bwMode="auto">
          <a:xfrm>
            <a:off x="473075" y="5859463"/>
            <a:ext cx="3228975" cy="24606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AV4 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응용기능 설계도</a:t>
            </a:r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설계서</a:t>
            </a:r>
          </a:p>
        </p:txBody>
      </p:sp>
      <p:pic>
        <p:nvPicPr>
          <p:cNvPr id="9627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4073525"/>
            <a:ext cx="1735138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272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4889500"/>
            <a:ext cx="1325563" cy="85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오른쪽 화살표 38"/>
          <p:cNvSpPr/>
          <p:nvPr/>
        </p:nvSpPr>
        <p:spPr bwMode="auto">
          <a:xfrm rot="10800000" flipV="1">
            <a:off x="3952875" y="4795838"/>
            <a:ext cx="1990725" cy="46355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차 기능별 </a:t>
            </a: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Activity Diagram</a:t>
            </a:r>
            <a:endParaRPr lang="ko-KR" altLang="en-US" sz="9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151"/>
          <p:cNvSpPr txBox="1">
            <a:spLocks noChangeArrowheads="1"/>
          </p:cNvSpPr>
          <p:nvPr/>
        </p:nvSpPr>
        <p:spPr bwMode="auto">
          <a:xfrm>
            <a:off x="6329363" y="6007100"/>
            <a:ext cx="2751137" cy="24765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Activity Diagram</a:t>
            </a:r>
            <a:endParaRPr lang="ko-KR" altLang="en-US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275" name="Rectangle 6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96276" name="Object 5"/>
          <p:cNvGraphicFramePr>
            <a:graphicFrameLocks noChangeAspect="1"/>
          </p:cNvGraphicFramePr>
          <p:nvPr/>
        </p:nvGraphicFramePr>
        <p:xfrm>
          <a:off x="7648575" y="1871663"/>
          <a:ext cx="1995488" cy="138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84" name="프레젠테이션" r:id="rId8" imgW="4571838" imgH="3428981" progId="PowerPoint.Show.8">
                  <p:embed/>
                </p:oleObj>
              </mc:Choice>
              <mc:Fallback>
                <p:oleObj name="프레젠테이션" r:id="rId8" imgW="4571838" imgH="3428981" progId="PowerPoint.Show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2579"/>
                      <a:stretch>
                        <a:fillRect/>
                      </a:stretch>
                    </p:blipFill>
                    <p:spPr bwMode="auto">
                      <a:xfrm>
                        <a:off x="7648575" y="1871663"/>
                        <a:ext cx="1995488" cy="138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7" name="Object 55"/>
          <p:cNvGraphicFramePr>
            <a:graphicFrameLocks noChangeAspect="1"/>
          </p:cNvGraphicFramePr>
          <p:nvPr/>
        </p:nvGraphicFramePr>
        <p:xfrm>
          <a:off x="6156325" y="4202113"/>
          <a:ext cx="3117850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85" name="Rose Model Diagram" r:id="rId10" imgW="6669741" imgH="2881513" progId="Rose.ModelPicture">
                  <p:link updateAutomatic="1"/>
                </p:oleObj>
              </mc:Choice>
              <mc:Fallback>
                <p:oleObj name="Rose Model Diagram" r:id="rId10" imgW="6669741" imgH="2881513" progId="Rose.ModelPicture">
                  <p:link updateAutomatic="1"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202113"/>
                        <a:ext cx="3117850" cy="169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99999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III. </a:t>
            </a:r>
            <a:r>
              <a:rPr lang="ko-KR" altLang="en-US" sz="1800" smtClean="0">
                <a:solidFill>
                  <a:srgbClr val="000000"/>
                </a:solidFill>
              </a:rPr>
              <a:t>소프트웨어 아키텍처로의 반영 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2. </a:t>
            </a:r>
            <a:r>
              <a:rPr lang="ko-KR" altLang="en-US" sz="1800" smtClean="0">
                <a:solidFill>
                  <a:srgbClr val="000000"/>
                </a:solidFill>
              </a:rPr>
              <a:t>수행 업무 </a:t>
            </a:r>
            <a:r>
              <a:rPr lang="en-US" altLang="ko-KR" sz="1800" smtClean="0">
                <a:solidFill>
                  <a:srgbClr val="000000"/>
                </a:solidFill>
              </a:rPr>
              <a:t>&gt; 2.4 </a:t>
            </a:r>
            <a:r>
              <a:rPr lang="ko-KR" altLang="en-US" sz="1800" smtClean="0">
                <a:solidFill>
                  <a:srgbClr val="000000"/>
                </a:solidFill>
              </a:rPr>
              <a:t>응용</a:t>
            </a:r>
            <a:r>
              <a:rPr lang="en-US" altLang="ko-KR" sz="1800" smtClean="0">
                <a:solidFill>
                  <a:srgbClr val="000000"/>
                </a:solidFill>
              </a:rPr>
              <a:t>4</a:t>
            </a:r>
            <a:r>
              <a:rPr lang="ko-KR" altLang="en-US" sz="1800" smtClean="0">
                <a:solidFill>
                  <a:srgbClr val="000000"/>
                </a:solidFill>
              </a:rPr>
              <a:t>레벨의 반영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2694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 indent="-342900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 적용에서 수행해야 할 업무는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AV5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응용프로그램의 목록에 해당하는 소프트웨어 아키텍처 정의서의 컴포넌트 다이어그램과 배포 다이어그램을 작성하는 것이다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EA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응용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레벨은 이들 산출물과 연관이 있고 이들간의 일관성을 유지해야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284" name="Text Box 12"/>
          <p:cNvSpPr txBox="1">
            <a:spLocks noChangeArrowheads="1"/>
          </p:cNvSpPr>
          <p:nvPr/>
        </p:nvSpPr>
        <p:spPr bwMode="auto">
          <a:xfrm>
            <a:off x="3663950" y="2028825"/>
            <a:ext cx="2927350" cy="284163"/>
          </a:xfrm>
          <a:prstGeom prst="rect">
            <a:avLst/>
          </a:prstGeom>
          <a:solidFill>
            <a:schemeClr val="tx1"/>
          </a:solidFill>
          <a:ln w="12700" algn="ctr">
            <a:solidFill>
              <a:srgbClr val="B2B2B2"/>
            </a:solidFill>
            <a:miter lim="800000"/>
            <a:headEnd/>
            <a:tailEnd/>
          </a:ln>
        </p:spPr>
        <p:txBody>
          <a:bodyPr tIns="10800" bIns="10800" anchor="ctr"/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</a:pP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응용</a:t>
            </a:r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레벨의 반영</a:t>
            </a:r>
          </a:p>
        </p:txBody>
      </p:sp>
      <p:sp>
        <p:nvSpPr>
          <p:cNvPr id="58" name="Rectangle 4"/>
          <p:cNvSpPr>
            <a:spLocks noChangeArrowheads="1"/>
          </p:cNvSpPr>
          <p:nvPr/>
        </p:nvSpPr>
        <p:spPr bwMode="auto">
          <a:xfrm>
            <a:off x="312738" y="1892300"/>
            <a:ext cx="592137" cy="1357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75B8D9"/>
            </a:solidFill>
            <a:miter lim="800000"/>
            <a:headEnd/>
            <a:tailEnd/>
          </a:ln>
          <a:effectLst/>
        </p:spPr>
        <p:txBody>
          <a:bodyPr wrap="none" lIns="2" tIns="2" rIns="2" bIns="2" anchor="ctr"/>
          <a:lstStyle/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소프트웨어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아키텍처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정의서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AutoShape 11"/>
          <p:cNvSpPr>
            <a:spLocks noChangeArrowheads="1"/>
          </p:cNvSpPr>
          <p:nvPr/>
        </p:nvSpPr>
        <p:spPr bwMode="auto">
          <a:xfrm>
            <a:off x="927100" y="1884363"/>
            <a:ext cx="2006600" cy="422275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algn="ctr" defTabSz="974725">
              <a:spcBef>
                <a:spcPct val="50000"/>
              </a:spcBef>
              <a:defRPr/>
            </a:pPr>
            <a:r>
              <a:rPr lang="ko-KR" altLang="en-US" i="1" dirty="0">
                <a:latin typeface="맑은 고딕" pitchFamily="50" charset="-127"/>
                <a:ea typeface="맑은 고딕" pitchFamily="50" charset="-127"/>
              </a:rPr>
              <a:t>비즈니스 컴포넌트 구현표준</a:t>
            </a:r>
            <a:endParaRPr lang="en-US" altLang="ko-KR" i="1" dirty="0">
              <a:latin typeface="맑은 고딕" pitchFamily="50" charset="-127"/>
              <a:ea typeface="맑은 고딕" pitchFamily="50" charset="-127"/>
            </a:endParaRPr>
          </a:p>
          <a:p>
            <a:pPr algn="ctr" defTabSz="974725">
              <a:spcBef>
                <a:spcPct val="50000"/>
              </a:spcBef>
              <a:defRPr/>
            </a:pPr>
            <a:r>
              <a:rPr lang="en-US" altLang="ko-KR" i="1" dirty="0">
                <a:latin typeface="맑은 고딕" pitchFamily="50" charset="-127"/>
                <a:ea typeface="맑은 고딕" pitchFamily="50" charset="-127"/>
              </a:rPr>
              <a:t>(Implementation View)</a:t>
            </a:r>
            <a:endParaRPr lang="ko-KR" altLang="en-US" i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287" name="AutoShape 13"/>
          <p:cNvSpPr>
            <a:spLocks noChangeArrowheads="1"/>
          </p:cNvSpPr>
          <p:nvPr/>
        </p:nvSpPr>
        <p:spPr bwMode="auto">
          <a:xfrm>
            <a:off x="927100" y="2355850"/>
            <a:ext cx="2006600" cy="422275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Module View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(Component Diagram)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288" name="AutoShape 17"/>
          <p:cNvSpPr>
            <a:spLocks noChangeArrowheads="1"/>
          </p:cNvSpPr>
          <p:nvPr/>
        </p:nvSpPr>
        <p:spPr bwMode="auto">
          <a:xfrm>
            <a:off x="927100" y="2828925"/>
            <a:ext cx="2006600" cy="422275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Allocation View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(Deployment Diagram)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 Box 8"/>
          <p:cNvSpPr txBox="1">
            <a:spLocks noChangeArrowheads="1"/>
          </p:cNvSpPr>
          <p:nvPr/>
        </p:nvSpPr>
        <p:spPr bwMode="auto">
          <a:xfrm>
            <a:off x="3663950" y="2312988"/>
            <a:ext cx="2927350" cy="6746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rgbClr val="B2B2B2"/>
            </a:solidFill>
            <a:miter lim="800000"/>
            <a:headEnd/>
            <a:tailEnd/>
          </a:ln>
          <a:effectLst/>
        </p:spPr>
        <p:txBody>
          <a:bodyPr tIns="10800" bIns="10800" anchor="ctr"/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응용계층정의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(UI, Control, Biz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)  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컴포넌트내부구조정의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(UI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부터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DB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까지의 흐름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응용프로그램취합 및 리뷰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7" name="직선 연결선 66"/>
          <p:cNvCxnSpPr>
            <a:stCxn id="66" idx="1"/>
            <a:endCxn id="97288" idx="3"/>
          </p:cNvCxnSpPr>
          <p:nvPr/>
        </p:nvCxnSpPr>
        <p:spPr>
          <a:xfrm rot="10800000" flipV="1">
            <a:off x="2933700" y="2651125"/>
            <a:ext cx="730250" cy="388938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291" name="AutoShape 20"/>
          <p:cNvSpPr>
            <a:spLocks noChangeArrowheads="1"/>
          </p:cNvSpPr>
          <p:nvPr/>
        </p:nvSpPr>
        <p:spPr bwMode="auto">
          <a:xfrm>
            <a:off x="7161213" y="2298700"/>
            <a:ext cx="1835150" cy="706438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0078A2"/>
            </a:solidFill>
            <a:miter lim="800000"/>
            <a:headEnd/>
            <a:tailEnd/>
          </a:ln>
        </p:spPr>
        <p:txBody>
          <a:bodyPr lIns="72000" tIns="36000" rIns="72000" bIns="36000" anchor="ctr"/>
          <a:lstStyle>
            <a:lvl1pPr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 defTabSz="974725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defTabSz="974725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AV5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응용프로그램목록 </a:t>
            </a:r>
          </a:p>
        </p:txBody>
      </p:sp>
      <p:sp>
        <p:nvSpPr>
          <p:cNvPr id="80" name="Rectangle 19"/>
          <p:cNvSpPr>
            <a:spLocks noChangeArrowheads="1"/>
          </p:cNvSpPr>
          <p:nvPr/>
        </p:nvSpPr>
        <p:spPr bwMode="auto">
          <a:xfrm>
            <a:off x="9037638" y="2298700"/>
            <a:ext cx="541337" cy="6969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75B8D9"/>
            </a:solidFill>
            <a:miter lim="800000"/>
            <a:headEnd/>
            <a:tailEnd/>
          </a:ln>
          <a:effectLst/>
        </p:spPr>
        <p:txBody>
          <a:bodyPr wrap="none" lIns="2" tIns="2" rIns="2" bIns="2" anchor="ctr"/>
          <a:lstStyle/>
          <a:p>
            <a:pPr algn="ctr" defTabSz="976313">
              <a:spcBef>
                <a:spcPct val="5000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응용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algn="ctr" defTabSz="976313">
              <a:spcBef>
                <a:spcPct val="5000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레벨</a:t>
            </a:r>
          </a:p>
        </p:txBody>
      </p:sp>
      <p:cxnSp>
        <p:nvCxnSpPr>
          <p:cNvPr id="92" name="직선 연결선 91"/>
          <p:cNvCxnSpPr>
            <a:stCxn id="66" idx="3"/>
            <a:endCxn id="97291" idx="1"/>
          </p:cNvCxnSpPr>
          <p:nvPr/>
        </p:nvCxnSpPr>
        <p:spPr>
          <a:xfrm>
            <a:off x="6591300" y="2651125"/>
            <a:ext cx="569913" cy="0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>
            <a:stCxn id="59" idx="3"/>
            <a:endCxn id="66" idx="1"/>
          </p:cNvCxnSpPr>
          <p:nvPr/>
        </p:nvCxnSpPr>
        <p:spPr>
          <a:xfrm>
            <a:off x="2933700" y="2095500"/>
            <a:ext cx="730250" cy="555625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prstDash val="sysDash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>
            <a:stCxn id="66" idx="1"/>
            <a:endCxn id="97287" idx="3"/>
          </p:cNvCxnSpPr>
          <p:nvPr/>
        </p:nvCxnSpPr>
        <p:spPr>
          <a:xfrm rot="10800000">
            <a:off x="2933700" y="2566988"/>
            <a:ext cx="730250" cy="84137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Group 205"/>
          <p:cNvGraphicFramePr>
            <a:graphicFrameLocks noGrp="1"/>
          </p:cNvGraphicFramePr>
          <p:nvPr/>
        </p:nvGraphicFramePr>
        <p:xfrm>
          <a:off x="320675" y="3457575"/>
          <a:ext cx="9323388" cy="279721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2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0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적용 영역</a:t>
                      </a:r>
                    </a:p>
                  </a:txBody>
                  <a:tcPr marL="90000" marR="90000" marT="17998" marB="17998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상세 업무 수행</a:t>
                      </a:r>
                      <a:r>
                        <a:rPr kumimoji="1" lang="en-US" altLang="ko-KR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내용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비즈니스 컴포넌트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 표준</a:t>
                      </a:r>
                    </a:p>
                  </a:txBody>
                  <a:tcPr marL="90000" marR="90000" marT="17998" marB="17998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 단계의 업무수행을 위해서는 이미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프로토타입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단계 전후로 확정된 비즈니스 컴포넌트 구현표준이 완료되어 있어야 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이는 컴포넌트 내부구조 정의 작업을 포함하고 있어 이는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AV5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응용프로그램 목록 작성을 위한 기초 자료가 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5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모듈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뷰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(Component Diagram)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8" marB="17998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EA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를 감안한 컴포넌트 다이어그램은 도출된 컴포넌트가 응용기능과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매핑이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되어야 하고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모든 응용기능에 대해서 컴포넌트가 다이어그램에 모두 표기되어야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이는 과거의 소프트웨어 아키텍처에서 몇 개 주요한 모듈의 컴포넌트를 표현하는 것과는 다른 것이다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이를 통해 소프트웨어 아키텍처 문서의 품질을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EA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수준과 동일하게 유지한다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4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Allocation View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(Deployment Diagram)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8" marB="17998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배포 다이어그램 또한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도출된 모든 컴포넌트에 대해 컴포넌트 다이어그램과 일관성을 유지한 상태에서 서버의 물리적인 위치에 할당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함으로써 아키텍처 문서의 활용도를 높이게 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AV5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응용프로그램 목록</a:t>
                      </a:r>
                    </a:p>
                  </a:txBody>
                  <a:tcPr marL="90000" marR="90000" marT="17998" marB="17998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AV5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응용프로그램 목록은 기능별 또는 기능간 호출 구조를 실행 프로그램 단위로 표현한 것이다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따라서 이를 작성하기 위해서는 컴포넌트 설계 산출물을 직접 참조해야 하며 정확도를 높이기 위해서 개발 산출물인 소스 프로그램과 직접 비교하여 확인한다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400050"/>
            <a:r>
              <a:rPr lang="en-US" altLang="ko-KR" sz="1800" smtClean="0">
                <a:solidFill>
                  <a:srgbClr val="000000"/>
                </a:solidFill>
              </a:rPr>
              <a:t>III. </a:t>
            </a:r>
            <a:r>
              <a:rPr lang="ko-KR" altLang="en-US" sz="1800" smtClean="0">
                <a:solidFill>
                  <a:srgbClr val="000000"/>
                </a:solidFill>
              </a:rPr>
              <a:t>소프트웨어 아키텍처로의 반영 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>
                <a:solidFill>
                  <a:srgbClr val="000000"/>
                </a:solidFill>
              </a:rPr>
              <a:t>2. </a:t>
            </a:r>
            <a:r>
              <a:rPr lang="ko-KR" altLang="en-US" sz="1800" smtClean="0">
                <a:solidFill>
                  <a:srgbClr val="000000"/>
                </a:solidFill>
              </a:rPr>
              <a:t>수행 업무 </a:t>
            </a:r>
            <a:r>
              <a:rPr lang="en-US" altLang="ko-KR" sz="1800" smtClean="0">
                <a:solidFill>
                  <a:srgbClr val="000000"/>
                </a:solidFill>
              </a:rPr>
              <a:t>&gt; 2.4 </a:t>
            </a:r>
            <a:r>
              <a:rPr lang="ko-KR" altLang="en-US" sz="1800" smtClean="0">
                <a:solidFill>
                  <a:srgbClr val="000000"/>
                </a:solidFill>
              </a:rPr>
              <a:t>응용</a:t>
            </a:r>
            <a:r>
              <a:rPr lang="en-US" altLang="ko-KR" sz="1800" smtClean="0">
                <a:solidFill>
                  <a:srgbClr val="000000"/>
                </a:solidFill>
              </a:rPr>
              <a:t>4</a:t>
            </a:r>
            <a:r>
              <a:rPr lang="ko-KR" altLang="en-US" sz="1800" smtClean="0">
                <a:solidFill>
                  <a:srgbClr val="000000"/>
                </a:solidFill>
              </a:rPr>
              <a:t>레벨의 반영 </a:t>
            </a:r>
            <a:r>
              <a:rPr lang="en-US" altLang="ko-KR" sz="1800" smtClean="0">
                <a:solidFill>
                  <a:srgbClr val="000000"/>
                </a:solidFill>
              </a:rPr>
              <a:t>&gt; </a:t>
            </a:r>
            <a:r>
              <a:rPr lang="ko-KR" altLang="en-US" sz="1800" smtClean="0">
                <a:solidFill>
                  <a:srgbClr val="000000"/>
                </a:solidFill>
              </a:rPr>
              <a:t>예시</a:t>
            </a:r>
            <a:r>
              <a:rPr lang="en-US" altLang="ko-KR" sz="1800" smtClean="0">
                <a:solidFill>
                  <a:srgbClr val="000000"/>
                </a:solidFill>
              </a:rPr>
              <a:t> </a:t>
            </a:r>
            <a:endParaRPr lang="en-US" altLang="ko-KR" sz="1800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320675" y="903288"/>
            <a:ext cx="92694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 indent="-342900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아래의 예시와 같이 소프트웨어 아키텍처 정의서의 컴포넌트 내부구조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(Logical View),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컴포넌트 다이어그램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배포 다이어그램은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 AV5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응용프로그램 목록과 밀접한 연관이 있으므로 이에 대한 일관성을 유지해야 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pic>
        <p:nvPicPr>
          <p:cNvPr id="983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5" y="2930525"/>
            <a:ext cx="4208463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/>
        </p:nvSpPr>
        <p:spPr bwMode="auto">
          <a:xfrm>
            <a:off x="2651125" y="1398588"/>
            <a:ext cx="4402138" cy="2554287"/>
          </a:xfrm>
          <a:prstGeom prst="rect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1500" dirty="0">
              <a:latin typeface="Arial" charset="0"/>
              <a:ea typeface="굴림" charset="-127"/>
            </a:endParaRPr>
          </a:p>
        </p:txBody>
      </p:sp>
      <p:sp>
        <p:nvSpPr>
          <p:cNvPr id="98310" name="TextBox 151"/>
          <p:cNvSpPr txBox="1">
            <a:spLocks noChangeArrowheads="1"/>
          </p:cNvSpPr>
          <p:nvPr/>
        </p:nvSpPr>
        <p:spPr bwMode="auto">
          <a:xfrm>
            <a:off x="2778125" y="3603625"/>
            <a:ext cx="4102100" cy="24923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AV5 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응용프로그램 목록</a:t>
            </a:r>
            <a:r>
              <a:rPr lang="en-US" altLang="ko-KR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관계와 명세서</a:t>
            </a:r>
          </a:p>
        </p:txBody>
      </p:sp>
      <p:grpSp>
        <p:nvGrpSpPr>
          <p:cNvPr id="98311" name="그룹 20"/>
          <p:cNvGrpSpPr>
            <a:grpSpLocks/>
          </p:cNvGrpSpPr>
          <p:nvPr/>
        </p:nvGrpSpPr>
        <p:grpSpPr bwMode="auto">
          <a:xfrm>
            <a:off x="155575" y="4451350"/>
            <a:ext cx="2249488" cy="1808163"/>
            <a:chOff x="155350" y="4243841"/>
            <a:chExt cx="1975298" cy="1706042"/>
          </a:xfrm>
        </p:grpSpPr>
        <p:graphicFrame>
          <p:nvGraphicFramePr>
            <p:cNvPr id="98328" name="Object 1"/>
            <p:cNvGraphicFramePr>
              <a:graphicFrameLocks noChangeAspect="1"/>
            </p:cNvGraphicFramePr>
            <p:nvPr/>
          </p:nvGraphicFramePr>
          <p:xfrm>
            <a:off x="217710" y="4243841"/>
            <a:ext cx="1912938" cy="142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339" r:id="rId4" imgW="6221611" imgH="6172021" progId="">
                    <p:embed/>
                  </p:oleObj>
                </mc:Choice>
                <mc:Fallback>
                  <p:oleObj r:id="rId4" imgW="6221611" imgH="6172021" progId="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710" y="4243841"/>
                          <a:ext cx="1912938" cy="1422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Box 151"/>
            <p:cNvSpPr txBox="1">
              <a:spLocks noChangeArrowheads="1"/>
            </p:cNvSpPr>
            <p:nvPr/>
          </p:nvSpPr>
          <p:spPr bwMode="auto">
            <a:xfrm>
              <a:off x="155350" y="5704237"/>
              <a:ext cx="1957176" cy="24564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컴포넌트 내부 구조</a:t>
              </a:r>
            </a:p>
          </p:txBody>
        </p:sp>
      </p:grpSp>
      <p:sp>
        <p:nvSpPr>
          <p:cNvPr id="11" name="왼쪽/오른쪽 화살표 10"/>
          <p:cNvSpPr/>
          <p:nvPr/>
        </p:nvSpPr>
        <p:spPr bwMode="auto">
          <a:xfrm rot="20156442">
            <a:off x="577850" y="3649663"/>
            <a:ext cx="2119313" cy="457200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응용</a:t>
            </a: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계층</a:t>
            </a: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0" dirty="0" err="1">
                <a:latin typeface="맑은 고딕" pitchFamily="50" charset="-127"/>
                <a:ea typeface="맑은 고딕" pitchFamily="50" charset="-127"/>
              </a:rPr>
              <a:t>레이어</a:t>
            </a:r>
            <a:endParaRPr lang="ko-KR" altLang="en-US" sz="900" b="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8313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075" y="1462088"/>
            <a:ext cx="3125788" cy="138906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8314" name="그룹 19"/>
          <p:cNvGrpSpPr>
            <a:grpSpLocks/>
          </p:cNvGrpSpPr>
          <p:nvPr/>
        </p:nvGrpSpPr>
        <p:grpSpPr bwMode="auto">
          <a:xfrm>
            <a:off x="2547938" y="4506913"/>
            <a:ext cx="2154237" cy="1763712"/>
            <a:chOff x="2547257" y="4344534"/>
            <a:chExt cx="2081893" cy="1612836"/>
          </a:xfrm>
        </p:grpSpPr>
        <p:graphicFrame>
          <p:nvGraphicFramePr>
            <p:cNvPr id="98326" name="Object 3"/>
            <p:cNvGraphicFramePr>
              <a:graphicFrameLocks noChangeAspect="1"/>
            </p:cNvGraphicFramePr>
            <p:nvPr/>
          </p:nvGraphicFramePr>
          <p:xfrm>
            <a:off x="2547257" y="4344534"/>
            <a:ext cx="2013857" cy="1294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340" name="프레젠테이션" r:id="rId7" imgW="4571838" imgH="3428981" progId="PowerPoint.Show.8">
                    <p:embed/>
                  </p:oleObj>
                </mc:Choice>
                <mc:Fallback>
                  <p:oleObj name="프레젠테이션" r:id="rId7" imgW="4571838" imgH="3428981" progId="PowerPoint.Show.8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b="12579"/>
                        <a:stretch>
                          <a:fillRect/>
                        </a:stretch>
                      </p:blipFill>
                      <p:spPr bwMode="auto">
                        <a:xfrm>
                          <a:off x="2547257" y="4344534"/>
                          <a:ext cx="2013857" cy="1294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51"/>
            <p:cNvSpPr txBox="1">
              <a:spLocks noChangeArrowheads="1"/>
            </p:cNvSpPr>
            <p:nvPr/>
          </p:nvSpPr>
          <p:spPr bwMode="auto">
            <a:xfrm>
              <a:off x="2557996" y="5710581"/>
              <a:ext cx="2071154" cy="24678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Component Diagram</a:t>
              </a:r>
              <a:endParaRPr lang="ko-KR" altLang="en-US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8315" name="그룹 22"/>
          <p:cNvGrpSpPr>
            <a:grpSpLocks/>
          </p:cNvGrpSpPr>
          <p:nvPr/>
        </p:nvGrpSpPr>
        <p:grpSpPr bwMode="auto">
          <a:xfrm>
            <a:off x="4854575" y="4495800"/>
            <a:ext cx="2090738" cy="1774825"/>
            <a:chOff x="5036231" y="4332514"/>
            <a:chExt cx="1963283" cy="1611246"/>
          </a:xfrm>
        </p:grpSpPr>
        <p:pic>
          <p:nvPicPr>
            <p:cNvPr id="18" name="Picture 11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040704" y="4332514"/>
              <a:ext cx="1926014" cy="13460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</p:pic>
        <p:sp>
          <p:nvSpPr>
            <p:cNvPr id="15" name="TextBox 151"/>
            <p:cNvSpPr txBox="1">
              <a:spLocks noChangeArrowheads="1"/>
            </p:cNvSpPr>
            <p:nvPr/>
          </p:nvSpPr>
          <p:spPr bwMode="auto">
            <a:xfrm>
              <a:off x="5036231" y="5697318"/>
              <a:ext cx="1963283" cy="24644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Deployment Diagram</a:t>
              </a:r>
              <a:endParaRPr lang="ko-KR" altLang="en-US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7" name="왼쪽/오른쪽 화살표 16"/>
          <p:cNvSpPr/>
          <p:nvPr/>
        </p:nvSpPr>
        <p:spPr bwMode="auto">
          <a:xfrm rot="1137799">
            <a:off x="7048500" y="3760788"/>
            <a:ext cx="2109788" cy="457200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응용 프로그램들의 상호관계</a:t>
            </a:r>
          </a:p>
        </p:txBody>
      </p:sp>
      <p:grpSp>
        <p:nvGrpSpPr>
          <p:cNvPr id="98317" name="그룹 23"/>
          <p:cNvGrpSpPr>
            <a:grpSpLocks/>
          </p:cNvGrpSpPr>
          <p:nvPr/>
        </p:nvGrpSpPr>
        <p:grpSpPr bwMode="auto">
          <a:xfrm>
            <a:off x="7196138" y="4473575"/>
            <a:ext cx="2198687" cy="1797050"/>
            <a:chOff x="7192509" y="4267200"/>
            <a:chExt cx="2016805" cy="1697878"/>
          </a:xfrm>
        </p:grpSpPr>
        <p:sp>
          <p:nvSpPr>
            <p:cNvPr id="19" name="TextBox 151"/>
            <p:cNvSpPr txBox="1">
              <a:spLocks noChangeArrowheads="1"/>
            </p:cNvSpPr>
            <p:nvPr/>
          </p:nvSpPr>
          <p:spPr bwMode="auto">
            <a:xfrm>
              <a:off x="7195421" y="5719096"/>
              <a:ext cx="2013893" cy="24598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Sequence Diagram</a:t>
              </a:r>
              <a:endParaRPr lang="ko-KR" altLang="en-US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aphicFrame>
          <p:nvGraphicFramePr>
            <p:cNvPr id="98323" name="Object 18"/>
            <p:cNvGraphicFramePr>
              <a:graphicFrameLocks noChangeAspect="1"/>
            </p:cNvGraphicFramePr>
            <p:nvPr/>
          </p:nvGraphicFramePr>
          <p:xfrm>
            <a:off x="7192509" y="4267200"/>
            <a:ext cx="1995034" cy="14477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341" name="Rose Model Diagram" r:id="rId10" imgW="6508376" imgH="6831106" progId="Rose.ModelPicture">
                    <p:link updateAutomatic="1"/>
                  </p:oleObj>
                </mc:Choice>
                <mc:Fallback>
                  <p:oleObj name="Rose Model Diagram" r:id="rId10" imgW="6508376" imgH="6831106" progId="Rose.ModelPicture">
                    <p:link updateAutomatic="1"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2509" y="4267200"/>
                          <a:ext cx="1995034" cy="14477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7961" dir="2700000" algn="ctr" rotWithShape="0">
                                  <a:srgbClr val="999999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위쪽/아래쪽 화살표 26"/>
          <p:cNvSpPr/>
          <p:nvPr/>
        </p:nvSpPr>
        <p:spPr bwMode="auto">
          <a:xfrm>
            <a:off x="3516313" y="3984625"/>
            <a:ext cx="358775" cy="522288"/>
          </a:xfrm>
          <a:prstGeom prst="upDown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9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위쪽/아래쪽 화살표 27"/>
          <p:cNvSpPr/>
          <p:nvPr/>
        </p:nvSpPr>
        <p:spPr bwMode="auto">
          <a:xfrm>
            <a:off x="5573713" y="3940175"/>
            <a:ext cx="358775" cy="522288"/>
          </a:xfrm>
          <a:prstGeom prst="upDownArrow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ko-KR" altLang="en-US" sz="9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320" name="TextBox 28"/>
          <p:cNvSpPr txBox="1">
            <a:spLocks noChangeArrowheads="1"/>
          </p:cNvSpPr>
          <p:nvPr/>
        </p:nvSpPr>
        <p:spPr bwMode="auto">
          <a:xfrm>
            <a:off x="2862263" y="4157663"/>
            <a:ext cx="16621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응용프로그램</a:t>
            </a:r>
            <a:r>
              <a:rPr lang="en-US" altLang="ko-KR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컴포넌트 목록</a:t>
            </a:r>
          </a:p>
        </p:txBody>
      </p:sp>
      <p:sp>
        <p:nvSpPr>
          <p:cNvPr id="98321" name="TextBox 29"/>
          <p:cNvSpPr txBox="1">
            <a:spLocks noChangeArrowheads="1"/>
          </p:cNvSpPr>
          <p:nvPr/>
        </p:nvSpPr>
        <p:spPr bwMode="auto">
          <a:xfrm>
            <a:off x="4975225" y="4103688"/>
            <a:ext cx="15748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맑은 고딕" panose="020B0503020000020004" pitchFamily="50" charset="-127"/>
                <a:ea typeface="맑은 고딕" panose="020B0503020000020004" pitchFamily="50" charset="-127"/>
              </a:rPr>
              <a:t>설치된 실행 프로그램 위치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571500"/>
            <a:r>
              <a:rPr lang="en-US" altLang="ko-KR" sz="1800" smtClean="0">
                <a:solidFill>
                  <a:srgbClr val="000000"/>
                </a:solidFill>
              </a:rPr>
              <a:t>IV. </a:t>
            </a:r>
            <a:r>
              <a:rPr lang="ko-KR" altLang="en-US" sz="1800" smtClean="0">
                <a:solidFill>
                  <a:srgbClr val="000000"/>
                </a:solidFill>
              </a:rPr>
              <a:t>기타 </a:t>
            </a:r>
            <a:r>
              <a:rPr lang="en-US" altLang="ko-KR" sz="1800" smtClean="0">
                <a:solidFill>
                  <a:srgbClr val="000000"/>
                </a:solidFill>
              </a:rPr>
              <a:t/>
            </a:r>
            <a:br>
              <a:rPr lang="en-US" altLang="ko-KR" sz="1800" smtClean="0">
                <a:solidFill>
                  <a:srgbClr val="000000"/>
                </a:solidFill>
              </a:rPr>
            </a:br>
            <a:r>
              <a:rPr lang="en-US" altLang="ko-KR" sz="1800" smtClean="0"/>
              <a:t>AA</a:t>
            </a:r>
            <a:r>
              <a:rPr lang="ko-KR" altLang="en-US" sz="1800" smtClean="0"/>
              <a:t>의 자세</a:t>
            </a:r>
            <a:endParaRPr lang="en-US" altLang="ko-KR" smtClean="0"/>
          </a:p>
        </p:txBody>
      </p:sp>
      <p:sp>
        <p:nvSpPr>
          <p:cNvPr id="63" name="내용 개체 틀 13"/>
          <p:cNvSpPr txBox="1">
            <a:spLocks/>
          </p:cNvSpPr>
          <p:nvPr/>
        </p:nvSpPr>
        <p:spPr>
          <a:xfrm>
            <a:off x="404813" y="903288"/>
            <a:ext cx="3506787" cy="43116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프로젝트 </a:t>
            </a:r>
            <a:r>
              <a:rPr lang="ko-KR" altLang="en-US" sz="1200" kern="0" dirty="0" err="1">
                <a:latin typeface="맑은 고딕" pitchFamily="50" charset="-127"/>
                <a:ea typeface="맑은 고딕" pitchFamily="50" charset="-127"/>
              </a:rPr>
              <a:t>팀내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 위치</a:t>
            </a:r>
            <a:r>
              <a:rPr lang="en-US" altLang="ko-KR" sz="120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및 역할 범위</a:t>
            </a: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buFontTx/>
              <a:buAutoNum type="arabicPeriod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프로텍트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팀내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공통파트의 리더가 됨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buFontTx/>
              <a:buAutoNum type="arabicPeriod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수행업무와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의 수행업무는 명확히 구분되어 있음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buFontTx/>
              <a:buAutoNum type="arabicPeriod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공통파트의 각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파트원들는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각 업무영역 파트 구성원을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리딩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및 지원해야 하며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는 업무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PL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들을 </a:t>
            </a: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리딩함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buFontTx/>
              <a:buAutoNum type="arabicPeriod"/>
              <a:defRPr/>
            </a:pPr>
            <a:r>
              <a:rPr lang="ko-KR" altLang="en-US" sz="1200" b="0" kern="0" dirty="0" err="1">
                <a:latin typeface="맑은 고딕" pitchFamily="50" charset="-127"/>
                <a:ea typeface="맑은 고딕" pitchFamily="50" charset="-127"/>
              </a:rPr>
              <a:t>공통팀에는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AA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SA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역할 수행자가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Sr.,&lt;-&gt; Jr. 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관계로 구성하여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Pair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로 활동함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05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99332" name="그룹 65"/>
          <p:cNvGrpSpPr>
            <a:grpSpLocks/>
          </p:cNvGrpSpPr>
          <p:nvPr/>
        </p:nvGrpSpPr>
        <p:grpSpPr bwMode="auto">
          <a:xfrm>
            <a:off x="4148138" y="4489450"/>
            <a:ext cx="1908175" cy="1809750"/>
            <a:chOff x="4552950" y="2532063"/>
            <a:chExt cx="1085850" cy="937150"/>
          </a:xfrm>
        </p:grpSpPr>
        <p:pic>
          <p:nvPicPr>
            <p:cNvPr id="99336" name="Picture 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8075" y="2532063"/>
              <a:ext cx="349250" cy="763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337" name="TextBox 67"/>
            <p:cNvSpPr txBox="1">
              <a:spLocks noChangeArrowheads="1"/>
            </p:cNvSpPr>
            <p:nvPr/>
          </p:nvSpPr>
          <p:spPr bwMode="auto">
            <a:xfrm>
              <a:off x="4552950" y="3238500"/>
              <a:ext cx="1085850" cy="230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>
                <a:spcBef>
                  <a:spcPct val="50000"/>
                </a:spcBef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Jr. SA (</a:t>
              </a:r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또는 </a:t>
              </a:r>
              <a:r>
                <a:rPr lang="en-US" altLang="ko-KR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AA)</a:t>
              </a:r>
            </a:p>
          </p:txBody>
        </p:sp>
      </p:grpSp>
      <p:pic>
        <p:nvPicPr>
          <p:cNvPr id="9933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475" y="2252663"/>
            <a:ext cx="102235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내용 개체 틀 13"/>
          <p:cNvSpPr txBox="1">
            <a:spLocks/>
          </p:cNvSpPr>
          <p:nvPr/>
        </p:nvSpPr>
        <p:spPr>
          <a:xfrm>
            <a:off x="6191250" y="901700"/>
            <a:ext cx="3452813" cy="46164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kern="0" dirty="0">
                <a:latin typeface="맑은 고딕" pitchFamily="50" charset="-127"/>
                <a:ea typeface="맑은 고딕" pitchFamily="50" charset="-127"/>
              </a:rPr>
              <a:t>업무 수행 유의 사항</a:t>
            </a: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기술적인 관점에서만 일을 수행하지 않는다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업무기능 관점을 충분히 고려한다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lvl="1" indent="-2286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  <a:defRPr/>
            </a:pP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DA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와 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TA</a:t>
            </a: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산출물이 연관성을 가질 수 있도록 크로스 체크를 수행한다</a:t>
            </a:r>
            <a:r>
              <a:rPr lang="en-US" altLang="ko-KR" sz="1200" b="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05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05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0" lvl="1" latinLnBrk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200" b="0" kern="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345150" lvl="1" indent="-342900" latinLnBrk="1">
              <a:spcBef>
                <a:spcPct val="20000"/>
              </a:spcBef>
              <a:buClr>
                <a:schemeClr val="accent2"/>
              </a:buClr>
              <a:buFont typeface="+mj-lt"/>
              <a:buAutoNum type="arabicParenR"/>
              <a:defRPr/>
            </a:pPr>
            <a:endParaRPr lang="en-US" altLang="ko-KR" sz="120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>
              <a:latin typeface="맑은 고딕" pitchFamily="50" charset="-127"/>
              <a:ea typeface="맑은 고딕" pitchFamily="50" charset="-127"/>
            </a:endParaRPr>
          </a:p>
          <a:p>
            <a:pPr marL="802350" lvl="2" indent="-342900" latinLnBrk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endParaRPr lang="en-US" altLang="ko-KR" sz="1200" b="0" kern="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9335" name="TextBox 67"/>
          <p:cNvSpPr txBox="1">
            <a:spLocks noChangeArrowheads="1"/>
          </p:cNvSpPr>
          <p:nvPr/>
        </p:nvSpPr>
        <p:spPr bwMode="auto">
          <a:xfrm>
            <a:off x="4364038" y="4105275"/>
            <a:ext cx="19081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spcBef>
                <a:spcPct val="50000"/>
              </a:spcBef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Application Architect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내용 개체 틀 2"/>
          <p:cNvSpPr>
            <a:spLocks noGrp="1"/>
          </p:cNvSpPr>
          <p:nvPr>
            <p:ph idx="1"/>
          </p:nvPr>
        </p:nvSpPr>
        <p:spPr bwMode="auto">
          <a:xfrm>
            <a:off x="1606550" y="2984500"/>
            <a:ext cx="6243638" cy="523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altLang="ko-KR" sz="2800" smtClean="0"/>
              <a:t>END OF DOCUMENT</a:t>
            </a:r>
            <a:endParaRPr lang="ko-KR" altLang="en-US" sz="280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heme/theme1.xml><?xml version="1.0" encoding="utf-8"?>
<a:theme xmlns:a="http://schemas.openxmlformats.org/drawingml/2006/main" name="간략_맑은고딕2">
  <a:themeElements>
    <a:clrScheme name="kt_가로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B2B2B2"/>
      </a:folHlink>
    </a:clrScheme>
    <a:fontScheme name="kt_가로">
      <a:majorFont>
        <a:latin typeface="휴먼모음T"/>
        <a:ea typeface="휴먼모음T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12700" cap="flat" cmpd="sng" algn="ctr">
          <a:solidFill>
            <a:schemeClr val="bg1">
              <a:lumMod val="65000"/>
            </a:schemeClr>
          </a:solidFill>
          <a:prstDash val="sysDash"/>
          <a:round/>
          <a:headEnd type="none" w="med" len="med"/>
          <a:tailEnd type="none" w="med" len="med"/>
        </a:ln>
        <a:effectLst/>
      </a:spPr>
      <a:bodyPr anchor="ctr"/>
      <a:lstStyle>
        <a:defPPr>
          <a:defRPr sz="900" b="0" dirty="0">
            <a:latin typeface="맑은 고딕" pitchFamily="50" charset="-127"/>
            <a:ea typeface="맑은 고딕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charset="-127"/>
          </a:defRPr>
        </a:defPPr>
      </a:lstStyle>
    </a:lnDef>
  </a:objectDefaults>
  <a:extraClrSchemeLst>
    <a:extraClrScheme>
      <a:clrScheme name="kt_가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t_가로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t_가로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t_가로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t_가로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t_가로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t_가로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t_가로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t_가로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간략_맑은고딕2</Template>
  <TotalTime>33590</TotalTime>
  <Words>12028</Words>
  <Application>Microsoft Office PowerPoint</Application>
  <PresentationFormat>A4 용지(210x297mm)</PresentationFormat>
  <Paragraphs>2146</Paragraphs>
  <Slides>66</Slides>
  <Notes>19</Notes>
  <HiddenSlides>0</HiddenSlides>
  <MMClips>0</MMClips>
  <ScaleCrop>false</ScaleCrop>
  <HeadingPairs>
    <vt:vector size="10" baseType="variant">
      <vt:variant>
        <vt:lpstr>사용한 글꼴</vt:lpstr>
      </vt:variant>
      <vt:variant>
        <vt:i4>25</vt:i4>
      </vt:variant>
      <vt:variant>
        <vt:lpstr>테마</vt:lpstr>
      </vt:variant>
      <vt:variant>
        <vt:i4>1</vt:i4>
      </vt:variant>
      <vt:variant>
        <vt:lpstr>연결</vt:lpstr>
      </vt:variant>
      <vt:variant>
        <vt:i4>2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66</vt:i4>
      </vt:variant>
    </vt:vector>
  </HeadingPairs>
  <TitlesOfParts>
    <vt:vector size="96" baseType="lpstr">
      <vt:lpstr>Arial</vt:lpstr>
      <vt:lpstr>굴림</vt:lpstr>
      <vt:lpstr>맑은 고딕</vt:lpstr>
      <vt:lpstr>돋움</vt:lpstr>
      <vt:lpstr>Tahoma</vt:lpstr>
      <vt:lpstr>가는각진제목체</vt:lpstr>
      <vt:lpstr>Times New Roman</vt:lpstr>
      <vt:lpstr>Book Antiqua</vt:lpstr>
      <vt:lpstr>휴먼모음T</vt:lpstr>
      <vt:lpstr>+mj-ea</vt:lpstr>
      <vt:lpstr>산돌고딕 M</vt:lpstr>
      <vt:lpstr>Wingdings</vt:lpstr>
      <vt:lpstr>HY울릉도B</vt:lpstr>
      <vt:lpstr>-윤고딕140</vt:lpstr>
      <vt:lpstr>HY헤드라인M</vt:lpstr>
      <vt:lpstr>산돌고딕B</vt:lpstr>
      <vt:lpstr>SimSun</vt:lpstr>
      <vt:lpstr>HY울릉도M</vt:lpstr>
      <vt:lpstr>Symbol</vt:lpstr>
      <vt:lpstr>Verdana</vt:lpstr>
      <vt:lpstr>HY견고딕</vt:lpstr>
      <vt:lpstr>CG Omega</vt:lpstr>
      <vt:lpstr>바탕</vt:lpstr>
      <vt:lpstr>Courier New</vt:lpstr>
      <vt:lpstr>(한)문화방송</vt:lpstr>
      <vt:lpstr>간략_맑은고딕2</vt:lpstr>
      <vt:lpstr>G:\2024-02-01 [아키텍처] 조직역량 관리\Temp\temp.mdl\100%0,0x3146,2550#ACTDGRM:\49A651BA0212\49AB6E3F038A\49AB6E3F0399</vt:lpstr>
      <vt:lpstr>D:\업무\사이트 지원\01.완료된 Project들\China TSP\자동화 Script\온라인\Behind\Guide\Modeling Guide for Nexcore Behind Type (Design Model) 0.01.mdl\68%0,0x4626,3750#INTDGRM:\44A9EC030227\47954A780160\47954A78021D\47954A7A0056\47954A7A0058\47954A7A00D6</vt:lpstr>
      <vt:lpstr>Microsoft Clip Gallery</vt:lpstr>
      <vt:lpstr>Microsoft Office PowerPoint 97-2003 프레젠테이션</vt:lpstr>
      <vt:lpstr>시스템 구축 프로젝트에서 AA(응용시스템 아키텍트) 업무 수행 방안</vt:lpstr>
      <vt:lpstr>Contents</vt:lpstr>
      <vt:lpstr>I. 개요 1. 추진 배경 &gt; 현황 및 개선방향</vt:lpstr>
      <vt:lpstr>I. 개요 1. 추진 배경 &gt; 개선방향 및 기대효과</vt:lpstr>
      <vt:lpstr>I. 개요  1. 추진 배경 &gt; EA 프레임워크에서 응용아키텍처 산출물</vt:lpstr>
      <vt:lpstr>I. 개요 2. AA 수행 업무 &gt; SA와 AA의 Activity 흐름도</vt:lpstr>
      <vt:lpstr>I. 개요 2. AA 수행 업무&gt; SA와 AA의 Activity 흐름도 설명</vt:lpstr>
      <vt:lpstr>I. 개요 2. AA 수행 업무 &gt; 업무 정의 &gt; AA 업무</vt:lpstr>
      <vt:lpstr>I. 개요 2. AA 수행 업무 &gt; 업무 정의 &gt; AA, SA 공통업무</vt:lpstr>
      <vt:lpstr>I. 개요 3. 전체 산출물 연관도</vt:lpstr>
      <vt:lpstr>I. 개요 4. AA와 Stakeholder와의 관계</vt:lpstr>
      <vt:lpstr>II. 수행 방안 1. 응용시스템 기능체계 수립 &gt; 개요 </vt:lpstr>
      <vt:lpstr>II. 수행 방안  1. 응용시스템 기능체계 수립 &gt; 1.1 전사 응용시스템 아키텍처 분석</vt:lpstr>
      <vt:lpstr>II. 수행 방안 1. 응용시스템 기능체계 수립 &gt; 1.1 전사 응용시스템 아키텍처 분석</vt:lpstr>
      <vt:lpstr>II. 수행 방안 1. 응용시스템 기능체계 수립 &gt; 1.2 응용시스템 기능분류 정의</vt:lpstr>
      <vt:lpstr>II. 수행 방안 1. 응용시스템 기능체계 수립 &gt; 참조 기술 요소 &gt; EAMS</vt:lpstr>
      <vt:lpstr>II. 수행 방안 1. 응용시스템 기능체계 수립 &gt; 참조 기술 요소 &gt; SRM의 활용</vt:lpstr>
      <vt:lpstr>II. 수행 방안 1. 응용시스템 기능체계 수립 &gt; 참조 기술 요소 &gt; SRM 활용 시나리오</vt:lpstr>
      <vt:lpstr>II. 수행 방안 2. 개발시스템 요구사항 이해</vt:lpstr>
      <vt:lpstr>II. 수행 방안 3. 응용시스템 대내외 연계정의 &gt; 개요</vt:lpstr>
      <vt:lpstr>II. 수행 방안 3. 응용시스템 대내외 연계정의 &gt; 3.1 연계기능 요건정의</vt:lpstr>
      <vt:lpstr>II. 수행 방안 3. 응용시스템 대내외 연계정의 &gt; 3.2 시스템 연계목록 작성</vt:lpstr>
      <vt:lpstr>II. 수행 방안 3. 응용시스템 대내외 연계정의 &gt; 참조 기술 요소</vt:lpstr>
      <vt:lpstr>II. 수행 방안 4. 요구사항 분석 모델 리딩 &gt; 개요</vt:lpstr>
      <vt:lpstr>II. 수행 방안 4. 요구사항 분석 모델 리딩 &gt; 4.1 공통 컴포넌트 후보 도출 </vt:lpstr>
      <vt:lpstr>II. 수행 방안 4. 요구사항 분석 모델 리딩 &gt; 4.2 분석 모델 표준 정의 및 가이드 작성 </vt:lpstr>
      <vt:lpstr>II. 수행 방안 4. 요구사항 분석 모델 리딩 &gt; 4.3 분석 산출물 인스펙션 및 관리 </vt:lpstr>
      <vt:lpstr>II. 수행 방안 4. 요구사항 분석 모델 리딩 &gt; 참조 기술 사항</vt:lpstr>
      <vt:lpstr>II. 수행 방안 5. 비즈니스 컴포넌트 정의 &gt; 개요 </vt:lpstr>
      <vt:lpstr>II. 수행 방안 5. 비즈니스 컴포넌트 정의 &gt; 5.1 비즈니스 컴포넌트 식별 및 정의 </vt:lpstr>
      <vt:lpstr>II. 수행 방안 5. 비즈니스 컴포넌트 정의 &gt; 5.2 아키텍처간 상호검증</vt:lpstr>
      <vt:lpstr>II. 수행 방안 5. 비즈니스 컴포넌트 정의 &gt; 참조 기술 사항</vt:lpstr>
      <vt:lpstr>II. 수행 방안 5. 비즈니스 컴포넌트 정의 &gt; 참조 기술 사항 (계속)</vt:lpstr>
      <vt:lpstr>II. 수행 방안 6. 설계 모델 리딩 &gt; 개요 </vt:lpstr>
      <vt:lpstr>II. 수행 방안 6. 설계 모델 리딩 &gt; 6.1 설계 모델 표준 정의 및 가이드 작성</vt:lpstr>
      <vt:lpstr>II. 수행 방안 6. 설계 모델 리딩 &gt; 6.2 공통 컴포넌트 설계  </vt:lpstr>
      <vt:lpstr>II. 수행 방안 6. 설계 모델 리딩 &gt; 6.3 설계 산출물 인스펙션 및 관리</vt:lpstr>
      <vt:lpstr>II. 수행 방안 7. 프로토타입 진행 </vt:lpstr>
      <vt:lpstr>II. 수행 방안 7. 프로토타입 진행 &gt; 7.1 프로토타입 준비</vt:lpstr>
      <vt:lpstr>II. 수행 방안 7. 프로토타입 진행 &gt; 7.2. 프로토타입 수행 및 수행결과 발표</vt:lpstr>
      <vt:lpstr>II. 수행 방안 8. 구현이슈 Follow-up &gt; 개요</vt:lpstr>
      <vt:lpstr>II. 수행 방안 8. 구현이슈 Follow-up &gt; AA의 역할</vt:lpstr>
      <vt:lpstr>II. 수행 방안 9. 인스펙션 &gt; 개요</vt:lpstr>
      <vt:lpstr>II. 수행 방안 9. 인스펙션 &gt; 수행 업무 </vt:lpstr>
      <vt:lpstr>II. 수행 방안 9. 인스펙션 &gt; 수행 절차 및 주체 </vt:lpstr>
      <vt:lpstr>II. 수행 방안 9. 인스펙션 &gt; 참조 기술 요소</vt:lpstr>
      <vt:lpstr>II. 수행 방안 10. 컴포넌트 취합/패키징 &gt; 개요</vt:lpstr>
      <vt:lpstr>II. 수행 방안 10. 컴포넌트 취합/패키징 &gt; 10.1 실행 컴포넌트 취합</vt:lpstr>
      <vt:lpstr>II. 수행 방안 10. 컴포넌트 취합/패키징 &gt; 참조 기술 사항</vt:lpstr>
      <vt:lpstr>II. 수행 방안 11. 통합테스트 &gt; 개요</vt:lpstr>
      <vt:lpstr>II. 수행 방안 12. 매뉴얼 작성 &gt; 개요</vt:lpstr>
      <vt:lpstr>II. 수행 방안 12. 매뉴얼 작성 &gt; 업무설명</vt:lpstr>
      <vt:lpstr>II. 수행 방안 13. 응용시스템 이행 &gt; 개요 </vt:lpstr>
      <vt:lpstr>II. 수행 방안 13. 응용시스템 이행 &gt; 업무설명 </vt:lpstr>
      <vt:lpstr>II. 수행 방안 14. EAMS 반영지원</vt:lpstr>
      <vt:lpstr>III. 소프트웨어 아키텍처로의 반영  1. 개요 </vt:lpstr>
      <vt:lpstr>III. 소프트웨어 아키텍처로의 반영  2. 수행 업무 &gt; 2.1 EA공통 및 응용1레벨의 반영 </vt:lpstr>
      <vt:lpstr>III. 소프트웨어 아키텍처로의 반영  2. 수행 업무 &gt; 2.1 EA공통 및 응용1레벨의 반영 &gt; 예시 </vt:lpstr>
      <vt:lpstr>III. 소프트웨어 아키텍처로의 반영  2. 수행 업무 &gt; 2.1 응용2레벨(응용시스템 관계)의 반영 </vt:lpstr>
      <vt:lpstr>III. 소프트웨어 아키텍처로의 반영  2. 수행 업무 &gt; 2.1 응용2레벨(응용시스템 관계)의 반영 &gt; 예시  </vt:lpstr>
      <vt:lpstr>III. 소프트웨어 아키텍처로의 반영  2. 수행 업무 &gt; 2.3 응용2레벨의 기능분할과 응용3레벨의 반영 </vt:lpstr>
      <vt:lpstr>III. 소프트웨어 아키텍처로의 반영  2. 수행 업무 &gt; 2.3 응용2레벨의 기능분할과 응용3레벨의 반영 &gt; 예시 </vt:lpstr>
      <vt:lpstr>III. 소프트웨어 아키텍처로의 반영  2. 수행 업무 &gt; 2.4 응용4레벨의 반영 </vt:lpstr>
      <vt:lpstr>III. 소프트웨어 아키텍처로의 반영  2. 수행 업무 &gt; 2.4 응용4레벨의 반영 &gt; 예시 </vt:lpstr>
      <vt:lpstr>IV. 기타  AA의 자세</vt:lpstr>
      <vt:lpstr>PowerPoint 프레젠테이션</vt:lpstr>
    </vt:vector>
  </TitlesOfParts>
  <Company>SK C&amp;C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Nexcore on TUXEDO 교육자료</dc:title>
  <dc:subject>Nexcore on TUXEDO 교육자료</dc:subject>
  <dc:creator>정현도</dc:creator>
  <cp:lastModifiedBy>장우승</cp:lastModifiedBy>
  <cp:revision>2456</cp:revision>
  <cp:lastPrinted>2001-01-15T06:39:36Z</cp:lastPrinted>
  <dcterms:created xsi:type="dcterms:W3CDTF">2007-10-24T23:40:04Z</dcterms:created>
  <dcterms:modified xsi:type="dcterms:W3CDTF">2024-05-25T04:11:38Z</dcterms:modified>
</cp:coreProperties>
</file>